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3333"/>
  </p:normalViewPr>
  <p:slideViewPr>
    <p:cSldViewPr snapToGrid="0" snapToObjects="1">
      <p:cViewPr varScale="1">
        <p:scale>
          <a:sx n="69" d="100"/>
          <a:sy n="69" d="100"/>
        </p:scale>
        <p:origin x="11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80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74868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BLACK HAT USA 2026 · CLOSING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4291608"/>
            <a:ext cx="16796004" cy="1903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015"/>
              </a:lnSpc>
              <a:buNone/>
            </a:pPr>
            <a:r>
              <a:rPr lang="en-US" sz="8850" b="1" kern="0" spc="8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</a:t>
            </a:r>
            <a:r>
              <a:rPr lang="en-US" sz="8850" b="1" kern="0" spc="89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BREAK IT</a:t>
            </a:r>
            <a:endParaRPr lang="en-US" sz="8850" dirty="0"/>
          </a:p>
        </p:txBody>
      </p:sp>
      <p:sp>
        <p:nvSpPr>
          <p:cNvPr id="6" name="Text 3"/>
          <p:cNvSpPr/>
          <p:nvPr/>
        </p:nvSpPr>
        <p:spPr>
          <a:xfrm>
            <a:off x="990600" y="6481167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…and, more importantly, how to fix it.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 · WRAP-UP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701826"/>
            <a:ext cx="9334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106638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JUST DID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4184824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fictional AI-first neobank —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Eiger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its assistant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Iggy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attacked it across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layers that stacked on top of each other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875833"/>
            <a:ext cx="16306800" cy="1389683"/>
          </a:xfrm>
          <a:prstGeom prst="roundRect">
            <a:avLst>
              <a:gd name="adj" fmla="val 5483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5342558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5061570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5061570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5061570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5018708"/>
            <a:ext cx="16973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attack-surface.txt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5599733"/>
            <a:ext cx="1620488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424"/>
              </a:lnSpc>
              <a:buNone/>
            </a:pP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chatbot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RAG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agent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MCP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multi-agent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production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589365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layer: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·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·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it. Flip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flag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run the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attack, watch it die.</a:t>
            </a:r>
            <a:endParaRPr lang="en-US" sz="217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7077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IDEA UNDER EVERY ATTACK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089895"/>
            <a:ext cx="16796004" cy="2506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CANNOT TELL WHERE ANY PART OF ITS CONTEXT CAME FROM.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5977830"/>
            <a:ext cx="16187738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prompt, your message, a retrieved document, a tool’s description, another agent’s output — by the time the model reads them, they are </a:t>
            </a:r>
            <a:r>
              <a:rPr lang="en-US" sz="22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undifferentiated stream of tokens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hardware boundary. No “this part is trusted.”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attack this course was, at root, an exploitation of that fact.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5276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COURSE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57574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THE MODEL &amp; ITS DATA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90600" y="3290069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480569"/>
            <a:ext cx="198663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· LAYER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529682" y="3480569"/>
            <a:ext cx="472249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YOU LANDED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521526" y="3480569"/>
            <a:ext cx="437973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THAT KILLED IT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3180591" y="3480569"/>
            <a:ext cx="4037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90600" y="3866331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0150" y="4085406"/>
            <a:ext cx="198663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L0 chatbot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320132" y="3866331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682" y="4085406"/>
            <a:ext cx="472249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injection → extract operator honeytoken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311976" y="3866331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21526" y="4085406"/>
            <a:ext cx="437973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hardening + input classifier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971041" y="3866331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180591" y="4085406"/>
            <a:ext cx="403705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SEC_SYSTEM_PROMPT_HARDENING SEC_INPUT_FILTER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90600" y="4860652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0150" y="5079727"/>
            <a:ext cx="198663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L0 chatbot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3320132" y="4860652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9682" y="5079727"/>
            <a:ext cx="472249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XSS via echoed field + prompt-canary leak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311976" y="4860652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21526" y="5079727"/>
            <a:ext cx="437973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HTML-escape </a:t>
            </a:r>
            <a:r>
              <a:rPr lang="en-US" sz="16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nonce-CSP (two guards)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971041" y="4860652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180591" y="5079727"/>
            <a:ext cx="403705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SEC_OUTPUT_ENCODING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90600" y="5854973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00150" y="6074048"/>
            <a:ext cx="198663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L1 RAG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3320132" y="5854973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9682" y="6074048"/>
            <a:ext cx="472249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poisoning → indirect injection into another user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311976" y="5854973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21526" y="6074048"/>
            <a:ext cx="437973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user chunks as data; access scope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2971041" y="5854973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180591" y="6074048"/>
            <a:ext cx="403705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SEC_RAG_PROVENANCE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990600" y="6849294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00150" y="7068369"/>
            <a:ext cx="198663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supply chain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3320132" y="6849294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9682" y="7068369"/>
            <a:ext cx="472249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Pickle-RCE model artifact; known-vuln dependency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8311976" y="6849294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21526" y="7068369"/>
            <a:ext cx="437973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safetensors-only + hash-pin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2971041" y="6849294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180591" y="7068369"/>
            <a:ext cx="403705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SEC_ARTIFACT_VERIFICATION</a:t>
            </a:r>
            <a:endParaRPr lang="en-US" sz="1425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5038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COURSE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55193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THE MODEL WITH HANDS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90600" y="3287688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478188"/>
            <a:ext cx="198663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· LAYER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529682" y="3478188"/>
            <a:ext cx="472249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YOU LANDED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521526" y="3478188"/>
            <a:ext cx="437973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THAT KILLED IT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3180591" y="3478188"/>
            <a:ext cx="40370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90600" y="3863950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0150" y="4083025"/>
            <a:ext cx="198663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L2 agent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320132" y="3863950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682" y="4083025"/>
            <a:ext cx="472249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 deputy — refund / email-change on an unowned account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311976" y="3863950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21526" y="4083025"/>
            <a:ext cx="437973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Per-action ownership authz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971041" y="3863950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180591" y="4083025"/>
            <a:ext cx="403705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SEC_TOOL_SCOPE_ENFORCEMENT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90600" y="4858271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0150" y="5077346"/>
            <a:ext cx="198663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L3 MCP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3320132" y="4858271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9682" y="5077346"/>
            <a:ext cx="472249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Tool-description poisoning · rug pull · cross-server token theft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311976" y="4858271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21526" y="5077346"/>
            <a:ext cx="437973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Hash-pin + quarantine descriptions; per-server token isolation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971041" y="4858271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180591" y="5077346"/>
            <a:ext cx="403705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SEC_MCP_DESC_PINNING SEC_MCP_TOKEN_SCOPING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90600" y="5852592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00150" y="6071667"/>
            <a:ext cx="198663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· L4 multi-agent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3320132" y="5852592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9682" y="6071667"/>
            <a:ext cx="4722499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</a:t>
            </a:r>
            <a:r>
              <a:rPr lang="en-US" sz="16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propagates </a:t>
            </a: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→ auto-approved fraudulent refund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311976" y="5852592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21526" y="6071667"/>
            <a:ext cx="4379736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/ verify agent messages; quarantine untrusted text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2971041" y="5852592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180591" y="6071667"/>
            <a:ext cx="4037050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SEC_INTER_AGENT_AUTH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990600" y="6851675"/>
            <a:ext cx="23295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00150" y="7070750"/>
            <a:ext cx="198663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L5 production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3320132" y="6851675"/>
            <a:ext cx="499184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9682" y="7070750"/>
            <a:ext cx="472249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obfuscation bypass (leetspeak / homoglyph)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8311976" y="6851675"/>
            <a:ext cx="465906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21526" y="7070750"/>
            <a:ext cx="4379736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Canonicalize input </a:t>
            </a:r>
            <a:r>
              <a:rPr lang="en-US" sz="16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r>
              <a:rPr lang="en-US" sz="16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blocklist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2971041" y="6851675"/>
            <a:ext cx="432635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180591" y="7070750"/>
            <a:ext cx="403705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SEC_GUARDRAILS</a:t>
            </a:r>
            <a:endParaRPr lang="en-US" sz="1425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71079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175891"/>
            <a:ext cx="16796004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72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LANDS ON OWASP LLM TOP 10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600" y="2791271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2981771"/>
            <a:ext cx="34568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3195" y="2981771"/>
            <a:ext cx="125009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CATEGORY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3381821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3572321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753645" y="3381821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63195" y="3572321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4074765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0150" y="4265265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753645" y="4074765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3195" y="4265265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 (+ LLM02, LLM07)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4767709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4958209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4753645" y="4767709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63195" y="4958209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LLM08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&amp; Embedding Weaknesses (+ LLM01 indirect)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90600" y="5460653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0150" y="5651153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4753645" y="5460653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3195" y="5651153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LLM04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Model Poisoning +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6153596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00150" y="6344096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753645" y="6153596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63195" y="6344096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Agency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990600" y="6846540"/>
            <a:ext cx="3763045" cy="692944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90600" y="6846540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00150" y="7037040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4753645" y="6846540"/>
            <a:ext cx="12543755" cy="692944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3645" y="6846540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63195" y="7037040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+ LLM01 </a:t>
            </a:r>
            <a:r>
              <a:rPr lang="en-US" sz="1875" dirty="0">
                <a:solidFill>
                  <a:srgbClr val="C8C8C8"/>
                </a:solidFill>
                <a:highlight>
                  <a:srgbClr val="FF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agentic, via tool metadata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990600" y="7539484"/>
            <a:ext cx="3763045" cy="692944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90600" y="7539484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00150" y="7729984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4753645" y="7539484"/>
            <a:ext cx="12543755" cy="692944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3645" y="7539484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63195" y="7729984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+ LLM06 </a:t>
            </a:r>
            <a:r>
              <a:rPr lang="en-US" sz="1875" dirty="0">
                <a:solidFill>
                  <a:srgbClr val="C8C8C8"/>
                </a:solidFill>
                <a:highlight>
                  <a:srgbClr val="FF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cascading, agentic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990600" y="8232428"/>
            <a:ext cx="376304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00150" y="8422928"/>
            <a:ext cx="345683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4753645" y="8232428"/>
            <a:ext cx="1254375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63195" y="8422928"/>
            <a:ext cx="1250096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defenses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the whole-stack picture</a:t>
            </a:r>
            <a:endParaRPr lang="en-US" sz="1875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975545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OLD BUG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380357"/>
            <a:ext cx="16796004" cy="134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M6 · M7 ARE ONE OLD BUG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90600" y="4102447"/>
            <a:ext cx="17811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 deputy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privileged program is tricked by a less-privileged party into misusing its authority.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7135118"/>
            <a:ext cx="5219700" cy="9525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4883497"/>
            <a:ext cx="521970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4883497"/>
            <a:ext cx="9525" cy="2261146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00775" y="4883497"/>
            <a:ext cx="9525" cy="2261146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43025" y="5264497"/>
            <a:ext cx="49663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 · DIRECT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3025" y="5583585"/>
            <a:ext cx="496633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43025" y="6124575"/>
            <a:ext cx="46502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 the agent to move money → it does. It has the privilege; you don’t.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4150" y="7135118"/>
            <a:ext cx="52197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4150" y="4883497"/>
            <a:ext cx="521970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4150" y="4883497"/>
            <a:ext cx="9525" cy="2261146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744325" y="4883497"/>
            <a:ext cx="9525" cy="2261146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86575" y="5264497"/>
            <a:ext cx="49663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METADATA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86575" y="5583585"/>
            <a:ext cx="496633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ASKS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86575" y="6124575"/>
            <a:ext cx="4650296" cy="705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poisoned </a:t>
            </a:r>
            <a:r>
              <a:rPr lang="en-US" sz="180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description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it for you — untrusted metadata read as instructions.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77700" y="7135118"/>
            <a:ext cx="52197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077700" y="4883497"/>
            <a:ext cx="521970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077700" y="4883497"/>
            <a:ext cx="9525" cy="2261146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7287875" y="4883497"/>
            <a:ext cx="9525" cy="2261146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430125" y="5264497"/>
            <a:ext cx="496633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 · PEER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0125" y="5583585"/>
            <a:ext cx="496633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0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PEER ASKS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2430125" y="6124575"/>
            <a:ext cx="4650296" cy="705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injected </a:t>
            </a:r>
            <a:r>
              <a:rPr lang="en-US" sz="180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text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it, laundered through four trusting agents.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7449443"/>
            <a:ext cx="179374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bug, three delivery mechanisms. Older than AI.</a:t>
            </a:r>
            <a:endParaRPr lang="en-US" sz="19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42220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DELIVERABLE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827014"/>
            <a:ext cx="16796004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072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DEFENSE PATTERNS THAT REPEATED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90600" y="3442395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632895"/>
            <a:ext cx="442035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98654" y="3632895"/>
            <a:ext cx="24277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YOU SAW 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62541" y="3632895"/>
            <a:ext cx="86906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4032945"/>
            <a:ext cx="46985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4242495"/>
            <a:ext cx="4420359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/ trust-tagging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5689104" y="4032945"/>
            <a:ext cx="276388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98654" y="4242495"/>
            <a:ext cx="242770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M3, M6, M7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8452991" y="4032945"/>
            <a:ext cx="884440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62541" y="4242495"/>
            <a:ext cx="8690641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context by origin; inhibit attacker-controllable text acting as instructions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90600" y="4738241"/>
            <a:ext cx="46985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0150" y="4947791"/>
            <a:ext cx="4420359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separation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5689104" y="4738241"/>
            <a:ext cx="276388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98654" y="4947791"/>
            <a:ext cx="242770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M1, M7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8452991" y="4738241"/>
            <a:ext cx="884440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62541" y="4947791"/>
            <a:ext cx="8690641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data in a labelled “data, not instructions” block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990600" y="5443538"/>
            <a:ext cx="46985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00150" y="5653088"/>
            <a:ext cx="4420359" cy="338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+ per-action authz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5689104" y="5443538"/>
            <a:ext cx="276388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8654" y="5653088"/>
            <a:ext cx="2427704" cy="338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M5, M6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8452991" y="5443538"/>
            <a:ext cx="884440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62541" y="5653088"/>
            <a:ext cx="8690641" cy="338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deputy checks </a:t>
            </a:r>
            <a:r>
              <a:rPr lang="en-US" sz="17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</a:t>
            </a: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sensitive action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990600" y="6153596"/>
            <a:ext cx="46985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00150" y="6363146"/>
            <a:ext cx="4420359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provenance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5689104" y="6153596"/>
            <a:ext cx="276388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8654" y="6363146"/>
            <a:ext cx="242770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8452991" y="6153596"/>
            <a:ext cx="884440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62541" y="6363146"/>
            <a:ext cx="8690641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inter-agent messages; re-establish trust at every hop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990600" y="6858893"/>
            <a:ext cx="46985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00150" y="7068443"/>
            <a:ext cx="4420359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before load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5689104" y="6858893"/>
            <a:ext cx="276388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98654" y="7068443"/>
            <a:ext cx="242770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8452991" y="6858893"/>
            <a:ext cx="884440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62541" y="7068443"/>
            <a:ext cx="8690641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Hash-pin artifacts; safetensors-only; never deserialize untrusted pickles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990600" y="7564189"/>
            <a:ext cx="4698504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00150" y="7773739"/>
            <a:ext cx="4420359" cy="338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Canonicalize before filter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5689104" y="7564189"/>
            <a:ext cx="276388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98654" y="7773739"/>
            <a:ext cx="2427704" cy="338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8452991" y="7564189"/>
            <a:ext cx="8844409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62541" y="7773739"/>
            <a:ext cx="8690641" cy="338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obfuscation </a:t>
            </a:r>
            <a:r>
              <a:rPr lang="en-US" sz="17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r>
              <a:rPr lang="en-US" sz="17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blocklist reads it</a:t>
            </a:r>
            <a:endParaRPr lang="en-US" sz="1725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6427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 RISK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269084"/>
            <a:ext cx="16796004" cy="151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82"/>
              </a:lnSpc>
              <a:buNone/>
            </a:pPr>
            <a:r>
              <a:rPr lang="en-US" sz="6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ARE NOT A CHECKBOX</a:t>
            </a:r>
            <a:endParaRPr lang="en-US" sz="6450" dirty="0"/>
          </a:p>
        </p:txBody>
      </p:sp>
      <p:sp>
        <p:nvSpPr>
          <p:cNvPr id="4" name="Text 2"/>
          <p:cNvSpPr/>
          <p:nvPr/>
        </p:nvSpPr>
        <p:spPr>
          <a:xfrm>
            <a:off x="990600" y="5124524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07306" y="5124524"/>
            <a:ext cx="16457369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shipped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guards (escape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CSP) — either alone stops the XSS. That is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purpose.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90600" y="5782642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07306" y="5782642"/>
            <a:ext cx="15668528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M8’s guardrail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homoglyphs. A blocklist matches the literal string; the model understands meaning.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90600" y="644076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07306" y="6440760"/>
            <a:ext cx="11609397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Flipping every flag to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exploits — it does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system “safe.”</a:t>
            </a:r>
            <a:endParaRPr lang="en-US" sz="217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365227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 THIS TO YOUR BOARD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984352"/>
            <a:ext cx="16796004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TURNED THE FLAGS ON” ≠ “WE’RE SAFE.”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5912123"/>
            <a:ext cx="172878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those two sentences is the </a:t>
            </a:r>
            <a:r>
              <a:rPr lang="en-US" sz="22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risk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documenting it is the job.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01009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414909"/>
            <a:ext cx="16796004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53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TRUTHS TO TAKE HOME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990600" y="3102620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3407420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3331220"/>
            <a:ext cx="59749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can’t tell trusted from untrusted.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08820" y="3764607"/>
            <a:ext cx="5974958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19"/>
              </a:lnSpc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must — in code, before the tokens arrive.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990600" y="4253657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4558457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4482257"/>
            <a:ext cx="454297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metadata is untrusted input.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08820" y="4915644"/>
            <a:ext cx="4542979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19"/>
              </a:lnSpc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almost nobody reads it.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90600" y="5404693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5709493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5633293"/>
            <a:ext cx="698775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is a layer, not the layer.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08820" y="6066681"/>
            <a:ext cx="698775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19"/>
              </a:lnSpc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models refuse the naive attack and fall for the indirect one.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90600" y="6555730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6860530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820" y="6784330"/>
            <a:ext cx="570074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the mechanism, never the words.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08820" y="7217718"/>
            <a:ext cx="5700742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19"/>
              </a:lnSpc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detection on events, not on what the model said.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990600" y="7706767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0600" y="8011567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508820" y="7935367"/>
            <a:ext cx="616158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multiplies everything.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08820" y="8368754"/>
            <a:ext cx="6161589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19"/>
              </a:lnSpc>
              <a:buNone/>
            </a:pPr>
            <a:r>
              <a:rPr lang="en-US" sz="172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the model can do, the more an injection is worth.</a:t>
            </a:r>
            <a:endParaRPr lang="en-US" sz="1725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MONDAY MORNING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679600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778"/>
              </a:lnSpc>
              <a:buNone/>
            </a:pPr>
            <a:r>
              <a:rPr lang="en-US" sz="5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CHECKLIST — MAP IT, THEN FIX THE DATA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990600" y="2862263"/>
            <a:ext cx="5295900" cy="2759348"/>
          </a:xfrm>
          <a:prstGeom prst="roundRect">
            <a:avLst>
              <a:gd name="adj" fmla="val 2762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3119438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6825" y="3486150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your layers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6825" y="3897585"/>
            <a:ext cx="4885754" cy="8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six do you actually run — chatbot? RAG? agent? MCP? multi-agent? Each layer you added is attack surface you own.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496050" y="2862263"/>
            <a:ext cx="5295900" cy="2759348"/>
          </a:xfrm>
          <a:prstGeom prst="roundRect">
            <a:avLst>
              <a:gd name="adj" fmla="val 2762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72275" y="3119438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72275" y="3486150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every render path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72275" y="3897585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Everywhere model output is rendered (web, email, docs), assume XSS until proven encoded.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001500" y="2862263"/>
            <a:ext cx="5295900" cy="2759348"/>
          </a:xfrm>
          <a:prstGeom prst="roundRect">
            <a:avLst>
              <a:gd name="adj" fmla="val 2762"/>
            </a:avLst>
          </a:prstGeom>
          <a:solidFill>
            <a:srgbClr val="FD7EF5">
              <a:alpha val="6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277725" y="3119438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77725" y="3486150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out of the system prompt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77725" y="3897585"/>
            <a:ext cx="5217795" cy="3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prompt as readable by anyone.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90600" y="5831160"/>
            <a:ext cx="5295900" cy="2479402"/>
          </a:xfrm>
          <a:prstGeom prst="roundRect">
            <a:avLst>
              <a:gd name="adj" fmla="val 30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66825" y="6088335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6825" y="6455048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model output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66825" y="6866483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encoding, plus a CSP anywhere it renders.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6496050" y="5831160"/>
            <a:ext cx="5295900" cy="2479402"/>
          </a:xfrm>
          <a:prstGeom prst="roundRect">
            <a:avLst>
              <a:gd name="adj" fmla="val 30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72275" y="6088335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72275" y="6455048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RAG chunks by provenance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72275" y="6866483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user-submitted content as data; enforce access scope.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001500" y="5831160"/>
            <a:ext cx="5295900" cy="2479402"/>
          </a:xfrm>
          <a:prstGeom prst="roundRect">
            <a:avLst>
              <a:gd name="adj" fmla="val 3073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277725" y="6088335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277725" y="6455048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model artifacts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277725" y="6866483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safetensors-only, hash-pin, ban untrusted pickle. Scan pinned deps for CVEs.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990600" y="8596313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six controls you flipped today — now against your own stack.</a:t>
            </a:r>
            <a:endParaRPr lang="en-US" sz="1875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MONDAY MORNING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679600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778"/>
              </a:lnSpc>
              <a:buNone/>
            </a:pPr>
            <a:r>
              <a:rPr lang="en-US" sz="5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CHECKLIST — THE AGENTIC HALF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990600" y="2862263"/>
            <a:ext cx="5295900" cy="2893219"/>
          </a:xfrm>
          <a:prstGeom prst="roundRect">
            <a:avLst>
              <a:gd name="adj" fmla="val 2634"/>
            </a:avLst>
          </a:prstGeom>
          <a:solidFill>
            <a:srgbClr val="FD7EF5">
              <a:alpha val="6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3119438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6825" y="3486150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for 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6825" y="3897585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Per-action ownership checks; human-in-the-loop for anything that moves money or data.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496050" y="2862263"/>
            <a:ext cx="5295900" cy="2893219"/>
          </a:xfrm>
          <a:prstGeom prst="roundRect">
            <a:avLst>
              <a:gd name="adj" fmla="val 2634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72275" y="3119438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72275" y="3486150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&amp; sanitize MCP descriptions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72275" y="3897585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credentials per server — no shared token vault.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001500" y="2862263"/>
            <a:ext cx="5295900" cy="2893219"/>
          </a:xfrm>
          <a:prstGeom prst="roundRect">
            <a:avLst>
              <a:gd name="adj" fmla="val 2634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277725" y="3119438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77725" y="3486150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inter-agent messages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77725" y="3897585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Re-establish trust at every hop; never trust a peer agent implicitly.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90600" y="5965031"/>
            <a:ext cx="5295900" cy="2893219"/>
          </a:xfrm>
          <a:prstGeom prst="roundRect">
            <a:avLst>
              <a:gd name="adj" fmla="val 2634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66825" y="6222206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6825" y="6588919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Canonicalize before guardrails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66825" y="7000354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your filter with leetspeak, unicode and homoglyphs.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6496050" y="5965031"/>
            <a:ext cx="5295900" cy="2893219"/>
          </a:xfrm>
          <a:prstGeom prst="roundRect">
            <a:avLst>
              <a:gd name="adj" fmla="val 2634"/>
            </a:avLst>
          </a:prstGeom>
          <a:solidFill>
            <a:srgbClr val="FD7EF5">
              <a:alpha val="6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72275" y="6222206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72275" y="6588919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an audit log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72275" y="7000354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security events; detect on mechanism, not on chat text.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2001500" y="5965031"/>
            <a:ext cx="5295900" cy="2893219"/>
          </a:xfrm>
          <a:prstGeom prst="roundRect">
            <a:avLst>
              <a:gd name="adj" fmla="val 2634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277725" y="6222206"/>
            <a:ext cx="521779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277725" y="6588919"/>
            <a:ext cx="52177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secure config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277725" y="7000354"/>
            <a:ext cx="4885754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document the residual risk. Flags on is a start, not a finish.</a:t>
            </a:r>
            <a:endParaRPr lang="en-US" sz="1575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63279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CON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68092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GOING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7023646"/>
            <a:ext cx="5219700" cy="9525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4310137"/>
            <a:ext cx="521970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4310137"/>
            <a:ext cx="9525" cy="2723034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00775" y="4310137"/>
            <a:ext cx="9525" cy="2723034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81125" y="4729237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 TO KEEP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1125" y="5048324"/>
            <a:ext cx="4882515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670"/>
              </a:lnSpc>
              <a:buNone/>
            </a:pPr>
            <a:r>
              <a:rPr lang="en-US" sz="31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STUDY GUIDE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381125" y="5606802"/>
            <a:ext cx="457181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module, real payloads, the exact guard code, glossary, OWASP map, payload cookbook.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534150" y="7023646"/>
            <a:ext cx="52197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4150" y="4310137"/>
            <a:ext cx="521970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4150" y="4310137"/>
            <a:ext cx="9525" cy="2723034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744325" y="4310137"/>
            <a:ext cx="9525" cy="2723034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24675" y="4729237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ONE-PAGE SETUP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24675" y="5048324"/>
            <a:ext cx="4882515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670"/>
              </a:lnSpc>
              <a:buNone/>
            </a:pPr>
            <a:r>
              <a:rPr lang="en-US" sz="31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EIGER LOCALLY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6924675" y="5606802"/>
            <a:ext cx="457181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flags and read the diffs at your own pace — the vulnerable-to-secure branch is one line per guard.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2077700" y="7023646"/>
            <a:ext cx="52197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077700" y="4310137"/>
            <a:ext cx="5219700" cy="38100"/>
          </a:xfrm>
          <a:prstGeom prst="rect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077700" y="4310137"/>
            <a:ext cx="9525" cy="2723034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287875" y="4310137"/>
            <a:ext cx="9525" cy="2723034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468225" y="4729237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THESE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68225" y="5048324"/>
            <a:ext cx="4882515" cy="4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670"/>
              </a:lnSpc>
              <a:buNone/>
            </a:pPr>
            <a:r>
              <a:rPr lang="en-US" sz="315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FRAMEWORKS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2468225" y="5606802"/>
            <a:ext cx="45718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 Top 10 · OWASP Agentic Security Initiative · MITRE ATLAS.</a:t>
            </a:r>
            <a:endParaRPr lang="en-US" sz="1875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4801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952824"/>
            <a:ext cx="16796004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BREAK THINGS RESPONSIBLY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979715"/>
            <a:ext cx="16678275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attacked one target across six layers and hardened every one. Now do it to systems that matter —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authorization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with the residual-risk honesty this course ended on.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6156052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07306" y="6156052"/>
            <a:ext cx="823621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Mookhey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Transilience AI · 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linkedin.com/in/kkmookhey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90600" y="675702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7306" y="6757020"/>
            <a:ext cx="12871118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 Pothamsetty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Founder &amp; CISO, Transilience AI · 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linkedin.com/in/venkatpothamsetty</a:t>
            </a:r>
            <a:endParaRPr lang="en-US" sz="21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98141" y="9498806"/>
            <a:ext cx="32991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801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BLACK HAT USA 2026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79986"/>
            <a:ext cx="179374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r>
              <a:rPr lang="en-US" sz="22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90600" y="6208886"/>
            <a:ext cx="157162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Go break things responsibly.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1427</Words>
  <Application>Microsoft Macintosh PowerPoint</Application>
  <PresentationFormat>Custom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2</cp:revision>
  <dcterms:created xsi:type="dcterms:W3CDTF">2026-08-02T23:01:43Z</dcterms:created>
  <dcterms:modified xsi:type="dcterms:W3CDTF">2026-08-20T02:53:28Z</dcterms:modified>
</cp:coreProperties>
</file>