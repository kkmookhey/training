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Two days ago most of the room had never landed a prompt injection; they have now cracked one target across six layers and hardened each one. This deck is the take-it-home: the mental model, the defense patterns, and a concrete Monday-morning checklist. Keep it to ~15 minutes; the value is the takeaways slide and the TODO, not a re-teach.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pedagogy one last time so it sticks: one coherent target, a growing attack surface, and the vulnerable-to-secure diff as the entire lesson. The thing they should carry out of the room is not 22 payloads but a way of seeing AI systems as a stack of trust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spine — file 01, A.3. If a participant remembers exactly one sentence in six months, make it this one. Every defense in the course is a variation on: we draw a trust boundary the model does not have, and enforce it in code before the tokens ever reach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1 ran keyless on the shared model — the plumbing lessons do not need a frontier model. Note M3 is the pivot: the victim never typed anything malicious; the attacker text arrived via retrieved context. And M4 is the reminder that loading a model can be RCE before a single token is generated.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2 was BYOK — you need a frontier model to reliably chain tool calls. Callback to the live gotcha: the same class of attack behaves differently by model. Frontier models refuse the naive direct attacks (M5/M7) but faithfully follow the indirect poison (M6). That split is itself a defensive insight: alignment is a layer, not the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 it maps your two days onto the framework their org already uses for reporting. Study-guide file 21 has the long form. Point out that the interesting modern risk is not a new category, it is the agentic combination: LLM06 excessive agency multiplies the blast radius of LLM01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it confused deputy collapses three modules into one durable idea and connects AI security to classic security they already know. The agent has authority, the attacker does not, the attacker persuades the deputy. The AI twist is only how the persuasion arrives — direct, via metadata, or via a trusted peer.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deliverable — six reusable controls, not eight one-off tricks. Every one is: draw a trust boundary and enforce it in code. If they internalize this table they can defend a stack the course never showed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 the course ends on (file 01, C-block). Guardrails give false comfort if you did not test them against obfuscation. The honest posture a real engagement produces is not secured — it is: these controls hold against these attacks, here is the residual gap. Make that the professional standard they take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one sit. The deliverable of a real AI red-team engagement is a documented residual-risk statement, not a green checkmark.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 one line each. Number 4 is the transferable engineering lesson from the whole lab design: the append-only audit log is how 22 people reliably graded a non-deterministic model, and it is how they should instrument their own AI systems for detection. Number 5 is the forward-looking one as everyone races to give models more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they will act on. Frame it as: the same six controls you flipped today, now against your own stack. Keep it concrete; the checklist maps one-to-one to the flags. Encourage them to run their own vulnerable-to-secure diff internally.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is where most orgs are weakest because agentic AI is new. The single highest-leverage item: human-in-the-loop on irreversible actions — it is the backstop when every model-side control fails. And push the audit-log point hard: it is the difference between we think we are fine and we can see when we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them at the offline study guide (they have it) and encourage running the lab locally after the con. Name the frameworks so their write-ups have a taxonomy.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Warm close. Invite them to stay in touch and to send you the cleverer attacks they build — the ones that out-attacked the grader. Thank them for two days of breaking things. Then the END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on the end slide while people come up with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gradFill rotWithShape="1">
            <a:gsLst>
              <a:gs pos="0">
                <a:srgbClr val="FD7EF5">
                  <a:alpha val="100000"/>
                </a:srgbClr>
              </a:gs>
              <a:gs pos="50000">
                <a:srgbClr val="FD7EF5">
                  <a:alpha val="100000"/>
                </a:srgbClr>
              </a:gs>
              <a:gs pos="50000">
                <a:srgbClr val="36CDFF">
                  <a:alpha val="100000"/>
                </a:srgbClr>
              </a:gs>
              <a:gs pos="100000">
                <a:srgbClr val="36CDFF">
                  <a:alpha val="100000"/>
                </a:srgbClr>
              </a:gs>
            </a:gsLst>
            <a:lin ang="0" scaled="0"/>
          </a:gradFill>
          <a:ln/>
        </p:spPr>
      </p:sp>
      <p:pic>
        <p:nvPicPr>
          <p:cNvPr id="3" name="Image 0" descr="preencoded.png">    </p:cNvPr>
          <p:cNvPicPr>
            <a:picLocks noChangeAspect="1"/>
          </p:cNvPicPr>
          <p:nvPr/>
        </p:nvPicPr>
        <p:blipFill>
          <a:blip r:embed="rId1"/>
          <a:stretch>
            <a:fillRect/>
          </a:stretch>
        </p:blipFill>
        <p:spPr>
          <a:xfrm>
            <a:off x="990600" y="762000"/>
            <a:ext cx="5005164" cy="1066800"/>
          </a:xfrm>
          <a:prstGeom prst="rect">
            <a:avLst/>
          </a:prstGeom>
        </p:spPr>
      </p:pic>
      <p:sp>
        <p:nvSpPr>
          <p:cNvPr id="4" name="Text 1"/>
          <p:cNvSpPr/>
          <p:nvPr/>
        </p:nvSpPr>
        <p:spPr>
          <a:xfrm>
            <a:off x="990600" y="3748683"/>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ADVERSARIAL AI · BLACK HAT USA 2026 · CLOSING</a:t>
            </a:r>
            <a:endParaRPr lang="en-US" sz="1650" dirty="0"/>
          </a:p>
        </p:txBody>
      </p:sp>
      <p:sp>
        <p:nvSpPr>
          <p:cNvPr id="5" name="Text 2"/>
          <p:cNvSpPr/>
          <p:nvPr/>
        </p:nvSpPr>
        <p:spPr>
          <a:xfrm>
            <a:off x="990600" y="4291608"/>
            <a:ext cx="16796004" cy="1903809"/>
          </a:xfrm>
          <a:prstGeom prst="rect">
            <a:avLst/>
          </a:prstGeom>
          <a:noFill/>
          <a:ln/>
        </p:spPr>
        <p:txBody>
          <a:bodyPr wrap="square" lIns="25400" tIns="25400" rIns="25400" bIns="25400" rtlCol="0" anchor="t">
            <a:normAutofit/>
          </a:bodyPr>
          <a:lstStyle/>
          <a:p>
            <a:pPr algn="l" indent="0" marL="0">
              <a:lnSpc>
                <a:spcPct val="72015"/>
              </a:lnSpc>
              <a:buNone/>
            </a:pPr>
            <a:r>
              <a:rPr lang="en-US" sz="8850" b="1" spc="89" kern="0" dirty="0">
                <a:solidFill>
                  <a:srgbClr val="FFFFFF"/>
                </a:solidFill>
                <a:latin typeface="Arial" pitchFamily="34" charset="0"/>
                <a:ea typeface="Arial" pitchFamily="34" charset="-122"/>
                <a:cs typeface="Arial" pitchFamily="34" charset="-120"/>
              </a:rPr>
              <a:t>YOU NOW KNOW </a:t>
            </a:r>
            <a:pPr algn="l" indent="0" marL="0">
              <a:lnSpc>
                <a:spcPct val="72015"/>
              </a:lnSpc>
              <a:buNone/>
            </a:pPr>
            <a:r>
              <a:rPr lang="en-US" sz="8850" b="1" spc="89" kern="0" dirty="0">
                <a:solidFill>
                  <a:srgbClr val="FD7EF5"/>
                </a:solidFill>
                <a:latin typeface="Arial" pitchFamily="34" charset="0"/>
                <a:ea typeface="Arial" pitchFamily="34" charset="-122"/>
                <a:cs typeface="Arial" pitchFamily="34" charset="-120"/>
              </a:rPr>
              <a:t>HOW TO BREAK IT</a:t>
            </a:r>
            <a:endParaRPr lang="en-US" sz="8850" dirty="0"/>
          </a:p>
        </p:txBody>
      </p:sp>
      <p:sp>
        <p:nvSpPr>
          <p:cNvPr id="6" name="Text 3"/>
          <p:cNvSpPr/>
          <p:nvPr/>
        </p:nvSpPr>
        <p:spPr>
          <a:xfrm>
            <a:off x="990600" y="6481167"/>
            <a:ext cx="14668500" cy="438150"/>
          </a:xfrm>
          <a:prstGeom prst="rect">
            <a:avLst/>
          </a:prstGeom>
          <a:noFill/>
          <a:ln/>
        </p:spPr>
        <p:txBody>
          <a:bodyPr wrap="square" lIns="25400" tIns="25400" rIns="25400" bIns="25400" rtlCol="0" anchor="t">
            <a:normAutofit/>
          </a:bodyPr>
          <a:lstStyle/>
          <a:p>
            <a:pPr algn="l" indent="0" marL="0">
              <a:lnSpc>
                <a:spcPct val="121739"/>
              </a:lnSpc>
              <a:buNone/>
            </a:pPr>
            <a:r>
              <a:rPr lang="en-US" sz="2250" dirty="0">
                <a:solidFill>
                  <a:srgbClr val="C8C8C8"/>
                </a:solidFill>
                <a:latin typeface="Arial" pitchFamily="34" charset="0"/>
                <a:ea typeface="Arial" pitchFamily="34" charset="-122"/>
                <a:cs typeface="Arial" pitchFamily="34" charset="-120"/>
              </a:rPr>
              <a:t>…and, more importantly, how to fix it.</a:t>
            </a:r>
            <a:endParaRPr lang="en-US" sz="2250" dirty="0"/>
          </a:p>
        </p:txBody>
      </p:sp>
      <p:pic>
        <p:nvPicPr>
          <p:cNvPr id="7" name="Image 1" descr="preencoded.png">    </p:cNvPr>
          <p:cNvPicPr>
            <a:picLocks noChangeAspect="1"/>
          </p:cNvPicPr>
          <p:nvPr/>
        </p:nvPicPr>
        <p:blipFill>
          <a:blip r:embed="rId2"/>
          <a:stretch>
            <a:fillRect/>
          </a:stretch>
        </p:blipFill>
        <p:spPr>
          <a:xfrm>
            <a:off x="990600" y="9315450"/>
            <a:ext cx="1666875" cy="476250"/>
          </a:xfrm>
          <a:prstGeom prst="rect">
            <a:avLst/>
          </a:prstGeom>
        </p:spPr>
      </p:pic>
      <p:sp>
        <p:nvSpPr>
          <p:cNvPr id="8" name="Text 4"/>
          <p:cNvSpPr/>
          <p:nvPr/>
        </p:nvSpPr>
        <p:spPr>
          <a:xfrm>
            <a:off x="11373240" y="9241185"/>
            <a:ext cx="5924160" cy="313358"/>
          </a:xfrm>
          <a:prstGeom prst="rect">
            <a:avLst/>
          </a:prstGeom>
          <a:noFill/>
          <a:ln/>
        </p:spPr>
        <p:txBody>
          <a:bodyPr wrap="square" lIns="25400" tIns="25400" rIns="25400" bIns="25400" rtlCol="0" anchor="t">
            <a:normAutofit/>
          </a:bodyPr>
          <a:lstStyle/>
          <a:p>
            <a:pPr algn="r" indent="0" marL="0">
              <a:lnSpc>
                <a:spcPct val="152105"/>
              </a:lnSpc>
              <a:buNone/>
            </a:pPr>
            <a:r>
              <a:rPr lang="en-US" sz="1275" spc="179" kern="0" dirty="0">
                <a:solidFill>
                  <a:srgbClr val="FFFFFF"/>
                </a:solidFill>
                <a:latin typeface="Courier New" pitchFamily="34" charset="0"/>
                <a:ea typeface="Courier New" pitchFamily="34" charset="-122"/>
                <a:cs typeface="Courier New" pitchFamily="34" charset="-120"/>
              </a:rPr>
              <a:t>ADVERSARIAL AI · RED-TEAMING THE AI SUPPLY CHAIN</a:t>
            </a:r>
            <a:endParaRPr lang="en-US" sz="1275" dirty="0"/>
          </a:p>
        </p:txBody>
      </p:sp>
      <p:sp>
        <p:nvSpPr>
          <p:cNvPr id="9" name="Text 5"/>
          <p:cNvSpPr/>
          <p:nvPr/>
        </p:nvSpPr>
        <p:spPr>
          <a:xfrm>
            <a:off x="11373240" y="9516442"/>
            <a:ext cx="5924160" cy="313358"/>
          </a:xfrm>
          <a:prstGeom prst="rect">
            <a:avLst/>
          </a:prstGeom>
          <a:noFill/>
          <a:ln/>
        </p:spPr>
        <p:txBody>
          <a:bodyPr wrap="square" lIns="25400" tIns="25400" rIns="25400" bIns="25400" rtlCol="0" anchor="t">
            <a:normAutofit/>
          </a:bodyPr>
          <a:lstStyle/>
          <a:p>
            <a:pPr algn="r" indent="0" marL="0">
              <a:lnSpc>
                <a:spcPct val="152105"/>
              </a:lnSpc>
              <a:buNone/>
            </a:pPr>
            <a:r>
              <a:rPr lang="en-US" sz="1275" spc="179" kern="0" dirty="0">
                <a:solidFill>
                  <a:srgbClr val="969696"/>
                </a:solidFill>
                <a:latin typeface="Courier New" pitchFamily="34" charset="0"/>
                <a:ea typeface="Courier New" pitchFamily="34" charset="-122"/>
                <a:cs typeface="Courier New" pitchFamily="34" charset="-120"/>
              </a:rPr>
              <a:t>DAY 2 · WRAP-UP</a:t>
            </a:r>
            <a:endParaRPr lang="en-US" sz="12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701826"/>
            <a:ext cx="93345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RECAP</a:t>
            </a:r>
            <a:endParaRPr lang="en-US" sz="1500" dirty="0"/>
          </a:p>
        </p:txBody>
      </p:sp>
      <p:sp>
        <p:nvSpPr>
          <p:cNvPr id="3" name="Text 1"/>
          <p:cNvSpPr/>
          <p:nvPr/>
        </p:nvSpPr>
        <p:spPr>
          <a:xfrm>
            <a:off x="990600" y="3106638"/>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WHAT YOU JUST DID</a:t>
            </a:r>
            <a:endParaRPr lang="en-US" sz="6600" dirty="0"/>
          </a:p>
        </p:txBody>
      </p:sp>
      <p:sp>
        <p:nvSpPr>
          <p:cNvPr id="4" name="Text 2"/>
          <p:cNvSpPr/>
          <p:nvPr/>
        </p:nvSpPr>
        <p:spPr>
          <a:xfrm>
            <a:off x="990600" y="4184824"/>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One fictional AI-first neobank — </a:t>
            </a:r>
            <a:pPr algn="l" indent="0" marL="0">
              <a:lnSpc>
                <a:spcPct val="125522"/>
              </a:lnSpc>
              <a:buNone/>
            </a:pPr>
            <a:r>
              <a:rPr lang="en-US" sz="2175" b="1" dirty="0">
                <a:solidFill>
                  <a:srgbClr val="C8C8C8"/>
                </a:solidFill>
                <a:latin typeface="Arial" pitchFamily="34" charset="0"/>
                <a:ea typeface="Arial" pitchFamily="34" charset="-122"/>
                <a:cs typeface="Arial" pitchFamily="34" charset="-120"/>
              </a:rPr>
              <a:t>Eiger </a:t>
            </a:r>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 and its assistant </a:t>
            </a:r>
            <a:pPr algn="l" indent="0" marL="0">
              <a:lnSpc>
                <a:spcPct val="125522"/>
              </a:lnSpc>
              <a:buNone/>
            </a:pPr>
            <a:r>
              <a:rPr lang="en-US" sz="2175" b="1" dirty="0">
                <a:solidFill>
                  <a:srgbClr val="C8C8C8"/>
                </a:solidFill>
                <a:latin typeface="Arial" pitchFamily="34" charset="0"/>
                <a:ea typeface="Arial" pitchFamily="34" charset="-122"/>
                <a:cs typeface="Arial" pitchFamily="34" charset="-120"/>
              </a:rPr>
              <a:t>Iggy</a:t>
            </a:r>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 You attacked it across </a:t>
            </a:r>
            <a:pPr algn="l" indent="0" marL="0">
              <a:lnSpc>
                <a:spcPct val="125522"/>
              </a:lnSpc>
              <a:buNone/>
            </a:pPr>
            <a:r>
              <a:rPr lang="en-US" sz="2175" b="1" dirty="0">
                <a:solidFill>
                  <a:srgbClr val="C8C8C8"/>
                </a:solidFill>
                <a:latin typeface="Arial" pitchFamily="34" charset="0"/>
                <a:ea typeface="Arial" pitchFamily="34" charset="-122"/>
                <a:cs typeface="Arial" pitchFamily="34" charset="-120"/>
              </a:rPr>
              <a:t>six layers that stacked on top of each other</a:t>
            </a:r>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a:t>
            </a:r>
            <a:endParaRPr lang="en-US" sz="2175" dirty="0"/>
          </a:p>
        </p:txBody>
      </p:sp>
      <p:sp>
        <p:nvSpPr>
          <p:cNvPr id="5" name="Shape 3"/>
          <p:cNvSpPr/>
          <p:nvPr/>
        </p:nvSpPr>
        <p:spPr>
          <a:xfrm>
            <a:off x="990600" y="4875833"/>
            <a:ext cx="16306800" cy="1389683"/>
          </a:xfrm>
          <a:prstGeom prst="roundRect">
            <a:avLst>
              <a:gd name="adj" fmla="val 5483"/>
            </a:avLst>
          </a:prstGeom>
          <a:solidFill>
            <a:srgbClr val="0B0B0B"/>
          </a:solidFill>
          <a:ln w="9525">
            <a:solidFill>
              <a:srgbClr val="FFFFFF">
                <a:alpha val="16000"/>
              </a:srgbClr>
            </a:solidFill>
            <a:prstDash val="solid"/>
          </a:ln>
        </p:spPr>
      </p:sp>
      <p:sp>
        <p:nvSpPr>
          <p:cNvPr id="6" name="Shape 4"/>
          <p:cNvSpPr/>
          <p:nvPr/>
        </p:nvSpPr>
        <p:spPr>
          <a:xfrm>
            <a:off x="1000125" y="5342558"/>
            <a:ext cx="16287750" cy="9525"/>
          </a:xfrm>
          <a:prstGeom prst="rect">
            <a:avLst/>
          </a:prstGeom>
          <a:solidFill>
            <a:srgbClr val="FFFFFF">
              <a:alpha val="12000"/>
            </a:srgbClr>
          </a:solidFill>
          <a:ln/>
        </p:spPr>
      </p:sp>
      <p:sp>
        <p:nvSpPr>
          <p:cNvPr id="7" name="Shape 5"/>
          <p:cNvSpPr/>
          <p:nvPr/>
        </p:nvSpPr>
        <p:spPr>
          <a:xfrm>
            <a:off x="1190625" y="5061570"/>
            <a:ext cx="104775" cy="104775"/>
          </a:xfrm>
          <a:prstGeom prst="ellipse">
            <a:avLst/>
          </a:prstGeom>
          <a:solidFill>
            <a:srgbClr val="FD7EF5"/>
          </a:solidFill>
          <a:ln/>
        </p:spPr>
      </p:sp>
      <p:sp>
        <p:nvSpPr>
          <p:cNvPr id="8" name="Shape 6"/>
          <p:cNvSpPr/>
          <p:nvPr/>
        </p:nvSpPr>
        <p:spPr>
          <a:xfrm>
            <a:off x="1381125" y="5061570"/>
            <a:ext cx="104775" cy="104775"/>
          </a:xfrm>
          <a:prstGeom prst="ellipse">
            <a:avLst/>
          </a:prstGeom>
          <a:solidFill>
            <a:srgbClr val="36CDFF"/>
          </a:solidFill>
          <a:ln/>
        </p:spPr>
      </p:sp>
      <p:sp>
        <p:nvSpPr>
          <p:cNvPr id="9" name="Shape 7"/>
          <p:cNvSpPr/>
          <p:nvPr/>
        </p:nvSpPr>
        <p:spPr>
          <a:xfrm>
            <a:off x="1571625" y="5061570"/>
            <a:ext cx="104775" cy="104775"/>
          </a:xfrm>
          <a:prstGeom prst="ellipse">
            <a:avLst/>
          </a:prstGeom>
          <a:solidFill>
            <a:srgbClr val="969696"/>
          </a:solidFill>
          <a:ln/>
        </p:spPr>
      </p:sp>
      <p:sp>
        <p:nvSpPr>
          <p:cNvPr id="10" name="Text 8"/>
          <p:cNvSpPr/>
          <p:nvPr/>
        </p:nvSpPr>
        <p:spPr>
          <a:xfrm>
            <a:off x="1876425" y="5018708"/>
            <a:ext cx="169735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attack-surface.txt</a:t>
            </a:r>
            <a:endParaRPr lang="en-US" sz="1125" dirty="0"/>
          </a:p>
        </p:txBody>
      </p:sp>
      <p:sp>
        <p:nvSpPr>
          <p:cNvPr id="11" name="Text 9"/>
          <p:cNvSpPr/>
          <p:nvPr/>
        </p:nvSpPr>
        <p:spPr>
          <a:xfrm>
            <a:off x="1285875" y="5599733"/>
            <a:ext cx="16204883" cy="446708"/>
          </a:xfrm>
          <a:prstGeom prst="rect">
            <a:avLst/>
          </a:prstGeom>
          <a:noFill/>
          <a:ln/>
        </p:spPr>
        <p:txBody>
          <a:bodyPr wrap="square" lIns="25400" tIns="25400" rIns="25400" bIns="25400" rtlCol="0" anchor="t">
            <a:normAutofit/>
          </a:bodyPr>
          <a:lstStyle/>
          <a:p>
            <a:pPr algn="l" indent="0" marL="0">
              <a:lnSpc>
                <a:spcPct val="145424"/>
              </a:lnSpc>
              <a:buNone/>
            </a:pPr>
            <a:r>
              <a:rPr lang="en-US" sz="1950" dirty="0">
                <a:solidFill>
                  <a:srgbClr val="36CDFF"/>
                </a:solidFill>
                <a:latin typeface="Courier New" pitchFamily="34" charset="0"/>
                <a:ea typeface="Courier New" pitchFamily="34" charset="-122"/>
                <a:cs typeface="Courier New" pitchFamily="34" charset="-120"/>
              </a:rPr>
              <a:t>L0 chatbot</a:t>
            </a:r>
            <a:pPr algn="l" indent="0" marL="0">
              <a:lnSpc>
                <a:spcPct val="145424"/>
              </a:lnSpc>
              <a:buNone/>
            </a:pPr>
            <a:r>
              <a:rPr lang="en-US" sz="1950" dirty="0">
                <a:solidFill>
                  <a:srgbClr val="C8C8C8"/>
                </a:solidFill>
                <a:latin typeface="Courier New" pitchFamily="34" charset="0"/>
                <a:ea typeface="Courier New" pitchFamily="34" charset="-122"/>
                <a:cs typeface="Courier New" pitchFamily="34" charset="-120"/>
              </a:rPr>
              <a:t>  →  </a:t>
            </a:r>
            <a:pPr algn="l" indent="0" marL="0">
              <a:lnSpc>
                <a:spcPct val="145424"/>
              </a:lnSpc>
              <a:buNone/>
            </a:pPr>
            <a:r>
              <a:rPr lang="en-US" sz="1950" dirty="0">
                <a:solidFill>
                  <a:srgbClr val="36CDFF"/>
                </a:solidFill>
                <a:latin typeface="Courier New" pitchFamily="34" charset="0"/>
                <a:ea typeface="Courier New" pitchFamily="34" charset="-122"/>
                <a:cs typeface="Courier New" pitchFamily="34" charset="-120"/>
              </a:rPr>
              <a:t>L1 RAG</a:t>
            </a:r>
            <a:pPr algn="l" indent="0" marL="0">
              <a:lnSpc>
                <a:spcPct val="145424"/>
              </a:lnSpc>
              <a:buNone/>
            </a:pPr>
            <a:r>
              <a:rPr lang="en-US" sz="1950" dirty="0">
                <a:solidFill>
                  <a:srgbClr val="C8C8C8"/>
                </a:solidFill>
                <a:latin typeface="Courier New" pitchFamily="34" charset="0"/>
                <a:ea typeface="Courier New" pitchFamily="34" charset="-122"/>
                <a:cs typeface="Courier New" pitchFamily="34" charset="-120"/>
              </a:rPr>
              <a:t>  →  </a:t>
            </a:r>
            <a:pPr algn="l" indent="0" marL="0">
              <a:lnSpc>
                <a:spcPct val="145424"/>
              </a:lnSpc>
              <a:buNone/>
            </a:pPr>
            <a:r>
              <a:rPr lang="en-US" sz="1950" dirty="0">
                <a:solidFill>
                  <a:srgbClr val="36CDFF"/>
                </a:solidFill>
                <a:latin typeface="Courier New" pitchFamily="34" charset="0"/>
                <a:ea typeface="Courier New" pitchFamily="34" charset="-122"/>
                <a:cs typeface="Courier New" pitchFamily="34" charset="-120"/>
              </a:rPr>
              <a:t>L2 agent</a:t>
            </a:r>
            <a:pPr algn="l" indent="0" marL="0">
              <a:lnSpc>
                <a:spcPct val="145424"/>
              </a:lnSpc>
              <a:buNone/>
            </a:pPr>
            <a:r>
              <a:rPr lang="en-US" sz="1950" dirty="0">
                <a:solidFill>
                  <a:srgbClr val="C8C8C8"/>
                </a:solidFill>
                <a:latin typeface="Courier New" pitchFamily="34" charset="0"/>
                <a:ea typeface="Courier New" pitchFamily="34" charset="-122"/>
                <a:cs typeface="Courier New" pitchFamily="34" charset="-120"/>
              </a:rPr>
              <a:t>  →  </a:t>
            </a:r>
            <a:pPr algn="l" indent="0" marL="0">
              <a:lnSpc>
                <a:spcPct val="145424"/>
              </a:lnSpc>
              <a:buNone/>
            </a:pPr>
            <a:r>
              <a:rPr lang="en-US" sz="1950" dirty="0">
                <a:solidFill>
                  <a:srgbClr val="FD7EF5"/>
                </a:solidFill>
                <a:latin typeface="Courier New" pitchFamily="34" charset="0"/>
                <a:ea typeface="Courier New" pitchFamily="34" charset="-122"/>
                <a:cs typeface="Courier New" pitchFamily="34" charset="-120"/>
              </a:rPr>
              <a:t>L3 MCP</a:t>
            </a:r>
            <a:pPr algn="l" indent="0" marL="0">
              <a:lnSpc>
                <a:spcPct val="145424"/>
              </a:lnSpc>
              <a:buNone/>
            </a:pPr>
            <a:r>
              <a:rPr lang="en-US" sz="1950" dirty="0">
                <a:solidFill>
                  <a:srgbClr val="C8C8C8"/>
                </a:solidFill>
                <a:latin typeface="Courier New" pitchFamily="34" charset="0"/>
                <a:ea typeface="Courier New" pitchFamily="34" charset="-122"/>
                <a:cs typeface="Courier New" pitchFamily="34" charset="-120"/>
              </a:rPr>
              <a:t>  →  </a:t>
            </a:r>
            <a:pPr algn="l" indent="0" marL="0">
              <a:lnSpc>
                <a:spcPct val="145424"/>
              </a:lnSpc>
              <a:buNone/>
            </a:pPr>
            <a:r>
              <a:rPr lang="en-US" sz="1950" dirty="0">
                <a:solidFill>
                  <a:srgbClr val="FD7EF5"/>
                </a:solidFill>
                <a:latin typeface="Courier New" pitchFamily="34" charset="0"/>
                <a:ea typeface="Courier New" pitchFamily="34" charset="-122"/>
                <a:cs typeface="Courier New" pitchFamily="34" charset="-120"/>
              </a:rPr>
              <a:t>L4 multi-agent</a:t>
            </a:r>
            <a:pPr algn="l" indent="0" marL="0">
              <a:lnSpc>
                <a:spcPct val="145424"/>
              </a:lnSpc>
              <a:buNone/>
            </a:pPr>
            <a:r>
              <a:rPr lang="en-US" sz="1950" dirty="0">
                <a:solidFill>
                  <a:srgbClr val="C8C8C8"/>
                </a:solidFill>
                <a:latin typeface="Courier New" pitchFamily="34" charset="0"/>
                <a:ea typeface="Courier New" pitchFamily="34" charset="-122"/>
                <a:cs typeface="Courier New" pitchFamily="34" charset="-120"/>
              </a:rPr>
              <a:t>  →  </a:t>
            </a:r>
            <a:pPr algn="l" indent="0" marL="0">
              <a:lnSpc>
                <a:spcPct val="145424"/>
              </a:lnSpc>
              <a:buNone/>
            </a:pPr>
            <a:r>
              <a:rPr lang="en-US" sz="1950" dirty="0">
                <a:solidFill>
                  <a:srgbClr val="36CDFF"/>
                </a:solidFill>
                <a:latin typeface="Courier New" pitchFamily="34" charset="0"/>
                <a:ea typeface="Courier New" pitchFamily="34" charset="-122"/>
                <a:cs typeface="Courier New" pitchFamily="34" charset="-120"/>
              </a:rPr>
              <a:t>L5 production</a:t>
            </a:r>
            <a:endParaRPr lang="en-US" sz="1950" dirty="0"/>
          </a:p>
        </p:txBody>
      </p:sp>
      <p:sp>
        <p:nvSpPr>
          <p:cNvPr id="12" name="Text 10"/>
          <p:cNvSpPr/>
          <p:nvPr/>
        </p:nvSpPr>
        <p:spPr>
          <a:xfrm>
            <a:off x="990600" y="6589365"/>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For every layer: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Build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it ·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Break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it ·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Secure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it. Flip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one flag</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run the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same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attack, watch it die.</a:t>
            </a:r>
            <a:endParaRPr lang="en-US" sz="2175" dirty="0"/>
          </a:p>
        </p:txBody>
      </p:sp>
      <p:pic>
        <p:nvPicPr>
          <p:cNvPr id="13"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4" name="Text 11"/>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CLOSING · ADVERSARIAL AI</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470770"/>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THE ONE IDEA UNDER EVERY ATTACK</a:t>
            </a:r>
            <a:endParaRPr lang="en-US" sz="1650" dirty="0"/>
          </a:p>
        </p:txBody>
      </p:sp>
      <p:sp>
        <p:nvSpPr>
          <p:cNvPr id="3" name="Text 1"/>
          <p:cNvSpPr/>
          <p:nvPr/>
        </p:nvSpPr>
        <p:spPr>
          <a:xfrm>
            <a:off x="990600" y="3089895"/>
            <a:ext cx="16796004" cy="2506935"/>
          </a:xfrm>
          <a:prstGeom prst="rect">
            <a:avLst/>
          </a:prstGeom>
          <a:noFill/>
          <a:ln/>
        </p:spPr>
        <p:txBody>
          <a:bodyPr wrap="square" lIns="25400" tIns="25400" rIns="25400" bIns="25400" rtlCol="0" anchor="t">
            <a:normAutofit/>
          </a:bodyPr>
          <a:lstStyle/>
          <a:p>
            <a:pPr algn="l" indent="0" marL="0">
              <a:lnSpc>
                <a:spcPct val="78190"/>
              </a:lnSpc>
              <a:buNone/>
            </a:pPr>
            <a:r>
              <a:rPr lang="en-US" sz="7200" dirty="0">
                <a:solidFill>
                  <a:srgbClr val="FFFFFF"/>
                </a:solidFill>
                <a:latin typeface="Arial" pitchFamily="34" charset="0"/>
                <a:ea typeface="Arial" pitchFamily="34" charset="-122"/>
                <a:cs typeface="Arial" pitchFamily="34" charset="-120"/>
              </a:rPr>
              <a:t>THE MODEL CANNOT TELL WHERE ANY PART OF ITS CONTEXT CAME FROM.</a:t>
            </a:r>
            <a:endParaRPr lang="en-US" sz="7200" dirty="0"/>
          </a:p>
        </p:txBody>
      </p:sp>
      <p:sp>
        <p:nvSpPr>
          <p:cNvPr id="4" name="Text 2"/>
          <p:cNvSpPr/>
          <p:nvPr/>
        </p:nvSpPr>
        <p:spPr>
          <a:xfrm>
            <a:off x="990600" y="5977830"/>
            <a:ext cx="16187738" cy="1285875"/>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System prompt, your message, a retrieved document, a tool’s description, another agent’s output — by the time the model reads them, they are </a:t>
            </a:r>
            <a:pPr algn="l" indent="0" marL="0">
              <a:lnSpc>
                <a:spcPct val="126087"/>
              </a:lnSpc>
              <a:buNone/>
            </a:pPr>
            <a:r>
              <a:rPr lang="en-US" sz="2250" b="1" dirty="0">
                <a:solidFill>
                  <a:srgbClr val="C8C8C8"/>
                </a:solidFill>
                <a:latin typeface="Arial" pitchFamily="34" charset="0"/>
                <a:ea typeface="Arial" pitchFamily="34" charset="-122"/>
                <a:cs typeface="Arial" pitchFamily="34" charset="-120"/>
              </a:rPr>
              <a:t>one undifferentiated stream of tokens</a:t>
            </a:r>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 No hardware boundary. No “this part is trusted.” </a:t>
            </a:r>
            <a:pPr algn="l" indent="0" marL="0">
              <a:lnSpc>
                <a:spcPct val="126087"/>
              </a:lnSpc>
              <a:buNone/>
            </a:pPr>
            <a:r>
              <a:rPr lang="en-US" sz="2250" dirty="0">
                <a:solidFill>
                  <a:srgbClr val="FFFFFF"/>
                </a:solidFill>
                <a:latin typeface="Arial" pitchFamily="34" charset="0"/>
                <a:ea typeface="Arial" pitchFamily="34" charset="-122"/>
                <a:cs typeface="Arial" pitchFamily="34" charset="-120"/>
              </a:rPr>
              <a:t>Every attack this course was, at root, an exploitation of that fact.</a:t>
            </a:r>
            <a:endParaRPr lang="en-US" sz="2250"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CLOSING · ADVERSARIAL AI</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852761"/>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WHOLE COURSE</a:t>
            </a:r>
            <a:endParaRPr lang="en-US" sz="1500" dirty="0"/>
          </a:p>
        </p:txBody>
      </p:sp>
      <p:sp>
        <p:nvSpPr>
          <p:cNvPr id="3" name="Text 1"/>
          <p:cNvSpPr/>
          <p:nvPr/>
        </p:nvSpPr>
        <p:spPr>
          <a:xfrm>
            <a:off x="990600" y="2257574"/>
            <a:ext cx="17937480" cy="689595"/>
          </a:xfrm>
          <a:prstGeom prst="rect">
            <a:avLst/>
          </a:prstGeom>
          <a:noFill/>
          <a:ln/>
        </p:spPr>
        <p:txBody>
          <a:bodyPr wrap="square" lIns="25400" tIns="25400" rIns="25400" bIns="25400" rtlCol="0" anchor="t">
            <a:normAutofit/>
          </a:bodyPr>
          <a:lstStyle/>
          <a:p>
            <a:pPr algn="l" indent="0" marL="0">
              <a:lnSpc>
                <a:spcPct val="78171"/>
              </a:lnSpc>
              <a:buNone/>
            </a:pPr>
            <a:r>
              <a:rPr lang="en-US" sz="5700" b="1" dirty="0">
                <a:solidFill>
                  <a:srgbClr val="FFFFFF"/>
                </a:solidFill>
                <a:latin typeface="Arial" pitchFamily="34" charset="0"/>
                <a:ea typeface="Arial" pitchFamily="34" charset="-122"/>
                <a:cs typeface="Arial" pitchFamily="34" charset="-120"/>
              </a:rPr>
              <a:t>DAY 1 — THE MODEL &amp; ITS DATA</a:t>
            </a:r>
            <a:endParaRPr lang="en-US" sz="5700" dirty="0"/>
          </a:p>
        </p:txBody>
      </p:sp>
      <p:sp>
        <p:nvSpPr>
          <p:cNvPr id="4" name="Shape 2"/>
          <p:cNvSpPr/>
          <p:nvPr/>
        </p:nvSpPr>
        <p:spPr>
          <a:xfrm>
            <a:off x="990600" y="3290069"/>
            <a:ext cx="16306800" cy="19050"/>
          </a:xfrm>
          <a:prstGeom prst="rect">
            <a:avLst/>
          </a:prstGeom>
          <a:solidFill>
            <a:srgbClr val="FFFFFF">
              <a:alpha val="20000"/>
            </a:srgbClr>
          </a:solidFill>
          <a:ln/>
        </p:spPr>
      </p:sp>
      <p:sp>
        <p:nvSpPr>
          <p:cNvPr id="5" name="Text 3"/>
          <p:cNvSpPr/>
          <p:nvPr/>
        </p:nvSpPr>
        <p:spPr>
          <a:xfrm>
            <a:off x="1200150" y="3480569"/>
            <a:ext cx="1986632" cy="252413"/>
          </a:xfrm>
          <a:prstGeom prst="rect">
            <a:avLst/>
          </a:prstGeom>
          <a:noFill/>
          <a:ln/>
        </p:spPr>
        <p:txBody>
          <a:bodyPr wrap="square" lIns="25400" tIns="25400" rIns="25400" bIns="25400" rtlCol="0" anchor="t">
            <a:normAutofit/>
          </a:bodyPr>
          <a:lstStyle/>
          <a:p>
            <a:pPr algn="l" indent="0" marL="0">
              <a:buNone/>
            </a:pPr>
            <a:r>
              <a:rPr lang="en-US" sz="1275" spc="127" kern="0" dirty="0">
                <a:solidFill>
                  <a:srgbClr val="36CDFF"/>
                </a:solidFill>
                <a:latin typeface="Courier New" pitchFamily="34" charset="0"/>
                <a:ea typeface="Courier New" pitchFamily="34" charset="-122"/>
                <a:cs typeface="Courier New" pitchFamily="34" charset="-120"/>
              </a:rPr>
              <a:t>MODULE · LAYER</a:t>
            </a:r>
            <a:endParaRPr lang="en-US" sz="1275" dirty="0"/>
          </a:p>
        </p:txBody>
      </p:sp>
      <p:sp>
        <p:nvSpPr>
          <p:cNvPr id="6" name="Text 4"/>
          <p:cNvSpPr/>
          <p:nvPr/>
        </p:nvSpPr>
        <p:spPr>
          <a:xfrm>
            <a:off x="3529682" y="3480569"/>
            <a:ext cx="4722499" cy="252413"/>
          </a:xfrm>
          <a:prstGeom prst="rect">
            <a:avLst/>
          </a:prstGeom>
          <a:noFill/>
          <a:ln/>
        </p:spPr>
        <p:txBody>
          <a:bodyPr wrap="square" lIns="25400" tIns="25400" rIns="25400" bIns="25400" rtlCol="0" anchor="t">
            <a:normAutofit/>
          </a:bodyPr>
          <a:lstStyle/>
          <a:p>
            <a:pPr algn="l" indent="0" marL="0">
              <a:buNone/>
            </a:pPr>
            <a:r>
              <a:rPr lang="en-US" sz="1275" spc="127" kern="0" dirty="0">
                <a:solidFill>
                  <a:srgbClr val="FD7EF5"/>
                </a:solidFill>
                <a:latin typeface="Courier New" pitchFamily="34" charset="0"/>
                <a:ea typeface="Courier New" pitchFamily="34" charset="-122"/>
                <a:cs typeface="Courier New" pitchFamily="34" charset="-120"/>
              </a:rPr>
              <a:t>ATTACK YOU LANDED</a:t>
            </a:r>
            <a:endParaRPr lang="en-US" sz="1275" dirty="0"/>
          </a:p>
        </p:txBody>
      </p:sp>
      <p:sp>
        <p:nvSpPr>
          <p:cNvPr id="7" name="Text 5"/>
          <p:cNvSpPr/>
          <p:nvPr/>
        </p:nvSpPr>
        <p:spPr>
          <a:xfrm>
            <a:off x="8521526" y="3480569"/>
            <a:ext cx="4379736" cy="252413"/>
          </a:xfrm>
          <a:prstGeom prst="rect">
            <a:avLst/>
          </a:prstGeom>
          <a:noFill/>
          <a:ln/>
        </p:spPr>
        <p:txBody>
          <a:bodyPr wrap="square" lIns="25400" tIns="25400" rIns="25400" bIns="25400" rtlCol="0" anchor="t">
            <a:normAutofit/>
          </a:bodyPr>
          <a:lstStyle/>
          <a:p>
            <a:pPr algn="l" indent="0" marL="0">
              <a:buNone/>
            </a:pPr>
            <a:r>
              <a:rPr lang="en-US" sz="1275" spc="127" kern="0" dirty="0">
                <a:solidFill>
                  <a:srgbClr val="36CDFF"/>
                </a:solidFill>
                <a:latin typeface="Courier New" pitchFamily="34" charset="0"/>
                <a:ea typeface="Courier New" pitchFamily="34" charset="-122"/>
                <a:cs typeface="Courier New" pitchFamily="34" charset="-120"/>
              </a:rPr>
              <a:t>GUARD THAT KILLED IT</a:t>
            </a:r>
            <a:endParaRPr lang="en-US" sz="1275" dirty="0"/>
          </a:p>
        </p:txBody>
      </p:sp>
      <p:sp>
        <p:nvSpPr>
          <p:cNvPr id="8" name="Text 6"/>
          <p:cNvSpPr/>
          <p:nvPr/>
        </p:nvSpPr>
        <p:spPr>
          <a:xfrm>
            <a:off x="13180591" y="3480569"/>
            <a:ext cx="4037050" cy="252413"/>
          </a:xfrm>
          <a:prstGeom prst="rect">
            <a:avLst/>
          </a:prstGeom>
          <a:noFill/>
          <a:ln/>
        </p:spPr>
        <p:txBody>
          <a:bodyPr wrap="square" lIns="25400" tIns="25400" rIns="25400" bIns="25400" rtlCol="0" anchor="t">
            <a:normAutofit/>
          </a:bodyPr>
          <a:lstStyle/>
          <a:p>
            <a:pPr algn="l" indent="0" marL="0">
              <a:buNone/>
            </a:pPr>
            <a:r>
              <a:rPr lang="en-US" sz="1275" spc="127" kern="0" dirty="0">
                <a:solidFill>
                  <a:srgbClr val="969696"/>
                </a:solidFill>
                <a:latin typeface="Courier New" pitchFamily="34" charset="0"/>
                <a:ea typeface="Courier New" pitchFamily="34" charset="-122"/>
                <a:cs typeface="Courier New" pitchFamily="34" charset="-120"/>
              </a:rPr>
              <a:t>FLAG</a:t>
            </a:r>
            <a:endParaRPr lang="en-US" sz="1275" dirty="0"/>
          </a:p>
        </p:txBody>
      </p:sp>
      <p:sp>
        <p:nvSpPr>
          <p:cNvPr id="9" name="Shape 7"/>
          <p:cNvSpPr/>
          <p:nvPr/>
        </p:nvSpPr>
        <p:spPr>
          <a:xfrm>
            <a:off x="990600" y="3866331"/>
            <a:ext cx="2329532" cy="9525"/>
          </a:xfrm>
          <a:prstGeom prst="rect">
            <a:avLst/>
          </a:prstGeom>
          <a:solidFill>
            <a:srgbClr val="FFFFFF">
              <a:alpha val="13000"/>
            </a:srgbClr>
          </a:solidFill>
          <a:ln/>
        </p:spPr>
      </p:sp>
      <p:sp>
        <p:nvSpPr>
          <p:cNvPr id="10" name="Text 8"/>
          <p:cNvSpPr/>
          <p:nvPr/>
        </p:nvSpPr>
        <p:spPr>
          <a:xfrm>
            <a:off x="1200150" y="4085406"/>
            <a:ext cx="1986632"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b="1" dirty="0">
                <a:solidFill>
                  <a:srgbClr val="FFFFFF"/>
                </a:solidFill>
                <a:latin typeface="Arial" pitchFamily="34" charset="0"/>
                <a:ea typeface="Arial" pitchFamily="34" charset="-122"/>
                <a:cs typeface="Arial" pitchFamily="34" charset="-120"/>
              </a:rPr>
              <a:t>M1 · L0 chatbot</a:t>
            </a:r>
            <a:endParaRPr lang="en-US" sz="1650" dirty="0"/>
          </a:p>
        </p:txBody>
      </p:sp>
      <p:sp>
        <p:nvSpPr>
          <p:cNvPr id="11" name="Shape 9"/>
          <p:cNvSpPr/>
          <p:nvPr/>
        </p:nvSpPr>
        <p:spPr>
          <a:xfrm>
            <a:off x="3320132" y="3866331"/>
            <a:ext cx="4991844" cy="9525"/>
          </a:xfrm>
          <a:prstGeom prst="rect">
            <a:avLst/>
          </a:prstGeom>
          <a:solidFill>
            <a:srgbClr val="FFFFFF">
              <a:alpha val="13000"/>
            </a:srgbClr>
          </a:solidFill>
          <a:ln/>
        </p:spPr>
      </p:sp>
      <p:sp>
        <p:nvSpPr>
          <p:cNvPr id="12" name="Text 10"/>
          <p:cNvSpPr/>
          <p:nvPr/>
        </p:nvSpPr>
        <p:spPr>
          <a:xfrm>
            <a:off x="3529682" y="4085406"/>
            <a:ext cx="4722499"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Direct injection → extract operator honeytoken</a:t>
            </a:r>
            <a:endParaRPr lang="en-US" sz="1650" dirty="0"/>
          </a:p>
        </p:txBody>
      </p:sp>
      <p:sp>
        <p:nvSpPr>
          <p:cNvPr id="13" name="Shape 11"/>
          <p:cNvSpPr/>
          <p:nvPr/>
        </p:nvSpPr>
        <p:spPr>
          <a:xfrm>
            <a:off x="8311976" y="3866331"/>
            <a:ext cx="4659064" cy="9525"/>
          </a:xfrm>
          <a:prstGeom prst="rect">
            <a:avLst/>
          </a:prstGeom>
          <a:solidFill>
            <a:srgbClr val="FFFFFF">
              <a:alpha val="13000"/>
            </a:srgbClr>
          </a:solidFill>
          <a:ln/>
        </p:spPr>
      </p:sp>
      <p:sp>
        <p:nvSpPr>
          <p:cNvPr id="14" name="Text 12"/>
          <p:cNvSpPr/>
          <p:nvPr/>
        </p:nvSpPr>
        <p:spPr>
          <a:xfrm>
            <a:off x="8521526" y="4085406"/>
            <a:ext cx="4379736"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Prompt hardening + input classifier</a:t>
            </a:r>
            <a:endParaRPr lang="en-US" sz="1650" dirty="0"/>
          </a:p>
        </p:txBody>
      </p:sp>
      <p:sp>
        <p:nvSpPr>
          <p:cNvPr id="15" name="Shape 13"/>
          <p:cNvSpPr/>
          <p:nvPr/>
        </p:nvSpPr>
        <p:spPr>
          <a:xfrm>
            <a:off x="12971041" y="3866331"/>
            <a:ext cx="4326359" cy="9525"/>
          </a:xfrm>
          <a:prstGeom prst="rect">
            <a:avLst/>
          </a:prstGeom>
          <a:solidFill>
            <a:srgbClr val="FFFFFF">
              <a:alpha val="13000"/>
            </a:srgbClr>
          </a:solidFill>
          <a:ln/>
        </p:spPr>
      </p:sp>
      <p:sp>
        <p:nvSpPr>
          <p:cNvPr id="16" name="Text 14"/>
          <p:cNvSpPr/>
          <p:nvPr/>
        </p:nvSpPr>
        <p:spPr>
          <a:xfrm>
            <a:off x="13180591" y="4085406"/>
            <a:ext cx="4037050" cy="603796"/>
          </a:xfrm>
          <a:prstGeom prst="rect">
            <a:avLst/>
          </a:prstGeom>
          <a:noFill/>
          <a:ln/>
        </p:spPr>
        <p:txBody>
          <a:bodyPr wrap="square" lIns="25400" tIns="25400" rIns="25400" bIns="25400" rtlCol="0" anchor="t">
            <a:normAutofit/>
          </a:bodyPr>
          <a:lstStyle/>
          <a:p>
            <a:pPr algn="l" indent="0" marL="0">
              <a:lnSpc>
                <a:spcPct val="118800"/>
              </a:lnSpc>
              <a:buNone/>
            </a:pPr>
            <a:r>
              <a:rPr lang="en-US" sz="1425" dirty="0">
                <a:solidFill>
                  <a:srgbClr val="C8C8C8"/>
                </a:solidFill>
                <a:latin typeface="Courier New" pitchFamily="34" charset="0"/>
                <a:ea typeface="Courier New" pitchFamily="34" charset="-122"/>
                <a:cs typeface="Courier New" pitchFamily="34" charset="-120"/>
              </a:rPr>
              <a:t>SEC_SYSTEM_PROMPT_HARDENING SEC_INPUT_FILTER</a:t>
            </a:r>
            <a:endParaRPr lang="en-US" sz="1425" dirty="0"/>
          </a:p>
        </p:txBody>
      </p:sp>
      <p:sp>
        <p:nvSpPr>
          <p:cNvPr id="17" name="Shape 15"/>
          <p:cNvSpPr/>
          <p:nvPr/>
        </p:nvSpPr>
        <p:spPr>
          <a:xfrm>
            <a:off x="990600" y="4860652"/>
            <a:ext cx="2329532" cy="9525"/>
          </a:xfrm>
          <a:prstGeom prst="rect">
            <a:avLst/>
          </a:prstGeom>
          <a:solidFill>
            <a:srgbClr val="FFFFFF">
              <a:alpha val="13000"/>
            </a:srgbClr>
          </a:solidFill>
          <a:ln/>
        </p:spPr>
      </p:sp>
      <p:sp>
        <p:nvSpPr>
          <p:cNvPr id="18" name="Text 16"/>
          <p:cNvSpPr/>
          <p:nvPr/>
        </p:nvSpPr>
        <p:spPr>
          <a:xfrm>
            <a:off x="1200150" y="5079727"/>
            <a:ext cx="1986632"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b="1" dirty="0">
                <a:solidFill>
                  <a:srgbClr val="FFFFFF"/>
                </a:solidFill>
                <a:latin typeface="Arial" pitchFamily="34" charset="0"/>
                <a:ea typeface="Arial" pitchFamily="34" charset="-122"/>
                <a:cs typeface="Arial" pitchFamily="34" charset="-120"/>
              </a:rPr>
              <a:t>M2 · L0 chatbot</a:t>
            </a:r>
            <a:endParaRPr lang="en-US" sz="1650" dirty="0"/>
          </a:p>
        </p:txBody>
      </p:sp>
      <p:sp>
        <p:nvSpPr>
          <p:cNvPr id="19" name="Shape 17"/>
          <p:cNvSpPr/>
          <p:nvPr/>
        </p:nvSpPr>
        <p:spPr>
          <a:xfrm>
            <a:off x="3320132" y="4860652"/>
            <a:ext cx="4991844" cy="9525"/>
          </a:xfrm>
          <a:prstGeom prst="rect">
            <a:avLst/>
          </a:prstGeom>
          <a:solidFill>
            <a:srgbClr val="FFFFFF">
              <a:alpha val="13000"/>
            </a:srgbClr>
          </a:solidFill>
          <a:ln/>
        </p:spPr>
      </p:sp>
      <p:sp>
        <p:nvSpPr>
          <p:cNvPr id="20" name="Text 18"/>
          <p:cNvSpPr/>
          <p:nvPr/>
        </p:nvSpPr>
        <p:spPr>
          <a:xfrm>
            <a:off x="3529682" y="5079727"/>
            <a:ext cx="4722499"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Stored XSS via echoed field + prompt-canary leak</a:t>
            </a:r>
            <a:endParaRPr lang="en-US" sz="1650" dirty="0"/>
          </a:p>
        </p:txBody>
      </p:sp>
      <p:sp>
        <p:nvSpPr>
          <p:cNvPr id="21" name="Shape 19"/>
          <p:cNvSpPr/>
          <p:nvPr/>
        </p:nvSpPr>
        <p:spPr>
          <a:xfrm>
            <a:off x="8311976" y="4860652"/>
            <a:ext cx="4659064" cy="9525"/>
          </a:xfrm>
          <a:prstGeom prst="rect">
            <a:avLst/>
          </a:prstGeom>
          <a:solidFill>
            <a:srgbClr val="FFFFFF">
              <a:alpha val="13000"/>
            </a:srgbClr>
          </a:solidFill>
          <a:ln/>
        </p:spPr>
      </p:sp>
      <p:sp>
        <p:nvSpPr>
          <p:cNvPr id="22" name="Text 20"/>
          <p:cNvSpPr/>
          <p:nvPr/>
        </p:nvSpPr>
        <p:spPr>
          <a:xfrm>
            <a:off x="8521526" y="5079727"/>
            <a:ext cx="4379736"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HTML-escape </a:t>
            </a:r>
            <a:pPr algn="l" indent="0" marL="0">
              <a:lnSpc>
                <a:spcPct val="118800"/>
              </a:lnSpc>
              <a:buNone/>
            </a:pPr>
            <a:r>
              <a:rPr lang="en-US" sz="1650" b="1" dirty="0">
                <a:solidFill>
                  <a:srgbClr val="C8C8C8"/>
                </a:solidFill>
                <a:latin typeface="Arial" pitchFamily="34" charset="0"/>
                <a:ea typeface="Arial" pitchFamily="34" charset="-122"/>
                <a:cs typeface="Arial" pitchFamily="34" charset="-120"/>
              </a:rPr>
              <a:t>+ </a:t>
            </a:r>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nonce-CSP (two guards)</a:t>
            </a:r>
            <a:endParaRPr lang="en-US" sz="1650" dirty="0"/>
          </a:p>
        </p:txBody>
      </p:sp>
      <p:sp>
        <p:nvSpPr>
          <p:cNvPr id="23" name="Shape 21"/>
          <p:cNvSpPr/>
          <p:nvPr/>
        </p:nvSpPr>
        <p:spPr>
          <a:xfrm>
            <a:off x="12971041" y="4860652"/>
            <a:ext cx="4326359" cy="9525"/>
          </a:xfrm>
          <a:prstGeom prst="rect">
            <a:avLst/>
          </a:prstGeom>
          <a:solidFill>
            <a:srgbClr val="FFFFFF">
              <a:alpha val="13000"/>
            </a:srgbClr>
          </a:solidFill>
          <a:ln/>
        </p:spPr>
      </p:sp>
      <p:sp>
        <p:nvSpPr>
          <p:cNvPr id="24" name="Text 22"/>
          <p:cNvSpPr/>
          <p:nvPr/>
        </p:nvSpPr>
        <p:spPr>
          <a:xfrm>
            <a:off x="13180591" y="5079727"/>
            <a:ext cx="4037050" cy="603796"/>
          </a:xfrm>
          <a:prstGeom prst="rect">
            <a:avLst/>
          </a:prstGeom>
          <a:noFill/>
          <a:ln/>
        </p:spPr>
        <p:txBody>
          <a:bodyPr wrap="square" lIns="25400" tIns="25400" rIns="25400" bIns="25400" rtlCol="0" anchor="t">
            <a:normAutofit/>
          </a:bodyPr>
          <a:lstStyle/>
          <a:p>
            <a:pPr algn="l" indent="0" marL="0">
              <a:lnSpc>
                <a:spcPct val="118800"/>
              </a:lnSpc>
              <a:buNone/>
            </a:pPr>
            <a:r>
              <a:rPr lang="en-US" sz="1425" dirty="0">
                <a:solidFill>
                  <a:srgbClr val="C8C8C8"/>
                </a:solidFill>
                <a:latin typeface="Courier New" pitchFamily="34" charset="0"/>
                <a:ea typeface="Courier New" pitchFamily="34" charset="-122"/>
                <a:cs typeface="Courier New" pitchFamily="34" charset="-120"/>
              </a:rPr>
              <a:t>SEC_OUTPUT_ENCODING</a:t>
            </a:r>
            <a:endParaRPr lang="en-US" sz="1425" dirty="0"/>
          </a:p>
        </p:txBody>
      </p:sp>
      <p:sp>
        <p:nvSpPr>
          <p:cNvPr id="25" name="Shape 23"/>
          <p:cNvSpPr/>
          <p:nvPr/>
        </p:nvSpPr>
        <p:spPr>
          <a:xfrm>
            <a:off x="990600" y="5854973"/>
            <a:ext cx="2329532" cy="9525"/>
          </a:xfrm>
          <a:prstGeom prst="rect">
            <a:avLst/>
          </a:prstGeom>
          <a:solidFill>
            <a:srgbClr val="FFFFFF">
              <a:alpha val="13000"/>
            </a:srgbClr>
          </a:solidFill>
          <a:ln/>
        </p:spPr>
      </p:sp>
      <p:sp>
        <p:nvSpPr>
          <p:cNvPr id="26" name="Text 24"/>
          <p:cNvSpPr/>
          <p:nvPr/>
        </p:nvSpPr>
        <p:spPr>
          <a:xfrm>
            <a:off x="1200150" y="6074048"/>
            <a:ext cx="1986632"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b="1" dirty="0">
                <a:solidFill>
                  <a:srgbClr val="FFFFFF"/>
                </a:solidFill>
                <a:latin typeface="Arial" pitchFamily="34" charset="0"/>
                <a:ea typeface="Arial" pitchFamily="34" charset="-122"/>
                <a:cs typeface="Arial" pitchFamily="34" charset="-120"/>
              </a:rPr>
              <a:t>M3 · L1 RAG</a:t>
            </a:r>
            <a:endParaRPr lang="en-US" sz="1650" dirty="0"/>
          </a:p>
        </p:txBody>
      </p:sp>
      <p:sp>
        <p:nvSpPr>
          <p:cNvPr id="27" name="Shape 25"/>
          <p:cNvSpPr/>
          <p:nvPr/>
        </p:nvSpPr>
        <p:spPr>
          <a:xfrm>
            <a:off x="3320132" y="5854973"/>
            <a:ext cx="4991844" cy="9525"/>
          </a:xfrm>
          <a:prstGeom prst="rect">
            <a:avLst/>
          </a:prstGeom>
          <a:solidFill>
            <a:srgbClr val="FFFFFF">
              <a:alpha val="13000"/>
            </a:srgbClr>
          </a:solidFill>
          <a:ln/>
        </p:spPr>
      </p:sp>
      <p:sp>
        <p:nvSpPr>
          <p:cNvPr id="28" name="Text 26"/>
          <p:cNvSpPr/>
          <p:nvPr/>
        </p:nvSpPr>
        <p:spPr>
          <a:xfrm>
            <a:off x="3529682" y="6074048"/>
            <a:ext cx="4722499"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KB poisoning → indirect injection into another user</a:t>
            </a:r>
            <a:endParaRPr lang="en-US" sz="1650" dirty="0"/>
          </a:p>
        </p:txBody>
      </p:sp>
      <p:sp>
        <p:nvSpPr>
          <p:cNvPr id="29" name="Shape 27"/>
          <p:cNvSpPr/>
          <p:nvPr/>
        </p:nvSpPr>
        <p:spPr>
          <a:xfrm>
            <a:off x="8311976" y="5854973"/>
            <a:ext cx="4659064" cy="9525"/>
          </a:xfrm>
          <a:prstGeom prst="rect">
            <a:avLst/>
          </a:prstGeom>
          <a:solidFill>
            <a:srgbClr val="FFFFFF">
              <a:alpha val="13000"/>
            </a:srgbClr>
          </a:solidFill>
          <a:ln/>
        </p:spPr>
      </p:sp>
      <p:sp>
        <p:nvSpPr>
          <p:cNvPr id="30" name="Text 28"/>
          <p:cNvSpPr/>
          <p:nvPr/>
        </p:nvSpPr>
        <p:spPr>
          <a:xfrm>
            <a:off x="8521526" y="6074048"/>
            <a:ext cx="4379736"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Quarantine user chunks as data; access scope</a:t>
            </a:r>
            <a:endParaRPr lang="en-US" sz="1650" dirty="0"/>
          </a:p>
        </p:txBody>
      </p:sp>
      <p:sp>
        <p:nvSpPr>
          <p:cNvPr id="31" name="Shape 29"/>
          <p:cNvSpPr/>
          <p:nvPr/>
        </p:nvSpPr>
        <p:spPr>
          <a:xfrm>
            <a:off x="12971041" y="5854973"/>
            <a:ext cx="4326359" cy="9525"/>
          </a:xfrm>
          <a:prstGeom prst="rect">
            <a:avLst/>
          </a:prstGeom>
          <a:solidFill>
            <a:srgbClr val="FFFFFF">
              <a:alpha val="13000"/>
            </a:srgbClr>
          </a:solidFill>
          <a:ln/>
        </p:spPr>
      </p:sp>
      <p:sp>
        <p:nvSpPr>
          <p:cNvPr id="32" name="Text 30"/>
          <p:cNvSpPr/>
          <p:nvPr/>
        </p:nvSpPr>
        <p:spPr>
          <a:xfrm>
            <a:off x="13180591" y="6074048"/>
            <a:ext cx="4037050" cy="603796"/>
          </a:xfrm>
          <a:prstGeom prst="rect">
            <a:avLst/>
          </a:prstGeom>
          <a:noFill/>
          <a:ln/>
        </p:spPr>
        <p:txBody>
          <a:bodyPr wrap="square" lIns="25400" tIns="25400" rIns="25400" bIns="25400" rtlCol="0" anchor="t">
            <a:normAutofit/>
          </a:bodyPr>
          <a:lstStyle/>
          <a:p>
            <a:pPr algn="l" indent="0" marL="0">
              <a:lnSpc>
                <a:spcPct val="118800"/>
              </a:lnSpc>
              <a:buNone/>
            </a:pPr>
            <a:r>
              <a:rPr lang="en-US" sz="1425" dirty="0">
                <a:solidFill>
                  <a:srgbClr val="C8C8C8"/>
                </a:solidFill>
                <a:latin typeface="Courier New" pitchFamily="34" charset="0"/>
                <a:ea typeface="Courier New" pitchFamily="34" charset="-122"/>
                <a:cs typeface="Courier New" pitchFamily="34" charset="-120"/>
              </a:rPr>
              <a:t>SEC_RAG_PROVENANCE</a:t>
            </a:r>
            <a:endParaRPr lang="en-US" sz="1425" dirty="0"/>
          </a:p>
        </p:txBody>
      </p:sp>
      <p:sp>
        <p:nvSpPr>
          <p:cNvPr id="33" name="Shape 31"/>
          <p:cNvSpPr/>
          <p:nvPr/>
        </p:nvSpPr>
        <p:spPr>
          <a:xfrm>
            <a:off x="990600" y="6849294"/>
            <a:ext cx="2329532" cy="9525"/>
          </a:xfrm>
          <a:prstGeom prst="rect">
            <a:avLst/>
          </a:prstGeom>
          <a:solidFill>
            <a:srgbClr val="FFFFFF">
              <a:alpha val="13000"/>
            </a:srgbClr>
          </a:solidFill>
          <a:ln/>
        </p:spPr>
      </p:sp>
      <p:sp>
        <p:nvSpPr>
          <p:cNvPr id="34" name="Text 32"/>
          <p:cNvSpPr/>
          <p:nvPr/>
        </p:nvSpPr>
        <p:spPr>
          <a:xfrm>
            <a:off x="1200150" y="7068369"/>
            <a:ext cx="1986632"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b="1" dirty="0">
                <a:solidFill>
                  <a:srgbClr val="FFFFFF"/>
                </a:solidFill>
                <a:latin typeface="Arial" pitchFamily="34" charset="0"/>
                <a:ea typeface="Arial" pitchFamily="34" charset="-122"/>
                <a:cs typeface="Arial" pitchFamily="34" charset="-120"/>
              </a:rPr>
              <a:t>M4 · supply chain</a:t>
            </a:r>
            <a:endParaRPr lang="en-US" sz="1650" dirty="0"/>
          </a:p>
        </p:txBody>
      </p:sp>
      <p:sp>
        <p:nvSpPr>
          <p:cNvPr id="35" name="Shape 33"/>
          <p:cNvSpPr/>
          <p:nvPr/>
        </p:nvSpPr>
        <p:spPr>
          <a:xfrm>
            <a:off x="3320132" y="6849294"/>
            <a:ext cx="4991844" cy="9525"/>
          </a:xfrm>
          <a:prstGeom prst="rect">
            <a:avLst/>
          </a:prstGeom>
          <a:solidFill>
            <a:srgbClr val="FFFFFF">
              <a:alpha val="13000"/>
            </a:srgbClr>
          </a:solidFill>
          <a:ln/>
        </p:spPr>
      </p:sp>
      <p:sp>
        <p:nvSpPr>
          <p:cNvPr id="36" name="Text 34"/>
          <p:cNvSpPr/>
          <p:nvPr/>
        </p:nvSpPr>
        <p:spPr>
          <a:xfrm>
            <a:off x="3529682" y="7068369"/>
            <a:ext cx="4722499"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Pickle-RCE model artifact; known-vuln dependency</a:t>
            </a:r>
            <a:endParaRPr lang="en-US" sz="1650" dirty="0"/>
          </a:p>
        </p:txBody>
      </p:sp>
      <p:sp>
        <p:nvSpPr>
          <p:cNvPr id="37" name="Shape 35"/>
          <p:cNvSpPr/>
          <p:nvPr/>
        </p:nvSpPr>
        <p:spPr>
          <a:xfrm>
            <a:off x="8311976" y="6849294"/>
            <a:ext cx="4659064" cy="9525"/>
          </a:xfrm>
          <a:prstGeom prst="rect">
            <a:avLst/>
          </a:prstGeom>
          <a:solidFill>
            <a:srgbClr val="FFFFFF">
              <a:alpha val="13000"/>
            </a:srgbClr>
          </a:solidFill>
          <a:ln/>
        </p:spPr>
      </p:sp>
      <p:sp>
        <p:nvSpPr>
          <p:cNvPr id="38" name="Text 36"/>
          <p:cNvSpPr/>
          <p:nvPr/>
        </p:nvSpPr>
        <p:spPr>
          <a:xfrm>
            <a:off x="8521526" y="7068369"/>
            <a:ext cx="4379736"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safetensors-only + hash-pin</a:t>
            </a:r>
            <a:endParaRPr lang="en-US" sz="1650" dirty="0"/>
          </a:p>
        </p:txBody>
      </p:sp>
      <p:sp>
        <p:nvSpPr>
          <p:cNvPr id="39" name="Shape 37"/>
          <p:cNvSpPr/>
          <p:nvPr/>
        </p:nvSpPr>
        <p:spPr>
          <a:xfrm>
            <a:off x="12971041" y="6849294"/>
            <a:ext cx="4326359" cy="9525"/>
          </a:xfrm>
          <a:prstGeom prst="rect">
            <a:avLst/>
          </a:prstGeom>
          <a:solidFill>
            <a:srgbClr val="FFFFFF">
              <a:alpha val="13000"/>
            </a:srgbClr>
          </a:solidFill>
          <a:ln/>
        </p:spPr>
      </p:sp>
      <p:sp>
        <p:nvSpPr>
          <p:cNvPr id="40" name="Text 38"/>
          <p:cNvSpPr/>
          <p:nvPr/>
        </p:nvSpPr>
        <p:spPr>
          <a:xfrm>
            <a:off x="13180591" y="7068369"/>
            <a:ext cx="4037050" cy="603796"/>
          </a:xfrm>
          <a:prstGeom prst="rect">
            <a:avLst/>
          </a:prstGeom>
          <a:noFill/>
          <a:ln/>
        </p:spPr>
        <p:txBody>
          <a:bodyPr wrap="square" lIns="25400" tIns="25400" rIns="25400" bIns="25400" rtlCol="0" anchor="t">
            <a:normAutofit/>
          </a:bodyPr>
          <a:lstStyle/>
          <a:p>
            <a:pPr algn="l" indent="0" marL="0">
              <a:lnSpc>
                <a:spcPct val="118800"/>
              </a:lnSpc>
              <a:buNone/>
            </a:pPr>
            <a:r>
              <a:rPr lang="en-US" sz="1425" dirty="0">
                <a:solidFill>
                  <a:srgbClr val="C8C8C8"/>
                </a:solidFill>
                <a:latin typeface="Courier New" pitchFamily="34" charset="0"/>
                <a:ea typeface="Courier New" pitchFamily="34" charset="-122"/>
                <a:cs typeface="Courier New" pitchFamily="34" charset="-120"/>
              </a:rPr>
              <a:t>SEC_ARTIFACT_VERIFICATION</a:t>
            </a:r>
            <a:endParaRPr lang="en-US" sz="1425" dirty="0"/>
          </a:p>
        </p:txBody>
      </p:sp>
      <p:pic>
        <p:nvPicPr>
          <p:cNvPr id="41"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42" name="Text 39"/>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CLOSING · ADVERSARIAL AI</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85038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WHOLE COURSE</a:t>
            </a:r>
            <a:endParaRPr lang="en-US" sz="1500" dirty="0"/>
          </a:p>
        </p:txBody>
      </p:sp>
      <p:sp>
        <p:nvSpPr>
          <p:cNvPr id="3" name="Text 1"/>
          <p:cNvSpPr/>
          <p:nvPr/>
        </p:nvSpPr>
        <p:spPr>
          <a:xfrm>
            <a:off x="990600" y="2255193"/>
            <a:ext cx="17937480" cy="689595"/>
          </a:xfrm>
          <a:prstGeom prst="rect">
            <a:avLst/>
          </a:prstGeom>
          <a:noFill/>
          <a:ln/>
        </p:spPr>
        <p:txBody>
          <a:bodyPr wrap="square" lIns="25400" tIns="25400" rIns="25400" bIns="25400" rtlCol="0" anchor="t">
            <a:normAutofit/>
          </a:bodyPr>
          <a:lstStyle/>
          <a:p>
            <a:pPr algn="l" indent="0" marL="0">
              <a:lnSpc>
                <a:spcPct val="78171"/>
              </a:lnSpc>
              <a:buNone/>
            </a:pPr>
            <a:r>
              <a:rPr lang="en-US" sz="5700" b="1" dirty="0">
                <a:solidFill>
                  <a:srgbClr val="FFFFFF"/>
                </a:solidFill>
                <a:latin typeface="Arial" pitchFamily="34" charset="0"/>
                <a:ea typeface="Arial" pitchFamily="34" charset="-122"/>
                <a:cs typeface="Arial" pitchFamily="34" charset="-120"/>
              </a:rPr>
              <a:t>DAY 2 — THE MODEL WITH HANDS</a:t>
            </a:r>
            <a:endParaRPr lang="en-US" sz="5700" dirty="0"/>
          </a:p>
        </p:txBody>
      </p:sp>
      <p:sp>
        <p:nvSpPr>
          <p:cNvPr id="4" name="Shape 2"/>
          <p:cNvSpPr/>
          <p:nvPr/>
        </p:nvSpPr>
        <p:spPr>
          <a:xfrm>
            <a:off x="990600" y="3287688"/>
            <a:ext cx="16306800" cy="19050"/>
          </a:xfrm>
          <a:prstGeom prst="rect">
            <a:avLst/>
          </a:prstGeom>
          <a:solidFill>
            <a:srgbClr val="FFFFFF">
              <a:alpha val="20000"/>
            </a:srgbClr>
          </a:solidFill>
          <a:ln/>
        </p:spPr>
      </p:sp>
      <p:sp>
        <p:nvSpPr>
          <p:cNvPr id="5" name="Text 3"/>
          <p:cNvSpPr/>
          <p:nvPr/>
        </p:nvSpPr>
        <p:spPr>
          <a:xfrm>
            <a:off x="1200150" y="3478188"/>
            <a:ext cx="1986632" cy="252413"/>
          </a:xfrm>
          <a:prstGeom prst="rect">
            <a:avLst/>
          </a:prstGeom>
          <a:noFill/>
          <a:ln/>
        </p:spPr>
        <p:txBody>
          <a:bodyPr wrap="square" lIns="25400" tIns="25400" rIns="25400" bIns="25400" rtlCol="0" anchor="t">
            <a:normAutofit/>
          </a:bodyPr>
          <a:lstStyle/>
          <a:p>
            <a:pPr algn="l" indent="0" marL="0">
              <a:buNone/>
            </a:pPr>
            <a:r>
              <a:rPr lang="en-US" sz="1275" spc="127" kern="0" dirty="0">
                <a:solidFill>
                  <a:srgbClr val="FD7EF5"/>
                </a:solidFill>
                <a:latin typeface="Courier New" pitchFamily="34" charset="0"/>
                <a:ea typeface="Courier New" pitchFamily="34" charset="-122"/>
                <a:cs typeface="Courier New" pitchFamily="34" charset="-120"/>
              </a:rPr>
              <a:t>MODULE · LAYER</a:t>
            </a:r>
            <a:endParaRPr lang="en-US" sz="1275" dirty="0"/>
          </a:p>
        </p:txBody>
      </p:sp>
      <p:sp>
        <p:nvSpPr>
          <p:cNvPr id="6" name="Text 4"/>
          <p:cNvSpPr/>
          <p:nvPr/>
        </p:nvSpPr>
        <p:spPr>
          <a:xfrm>
            <a:off x="3529682" y="3478188"/>
            <a:ext cx="4722499" cy="252413"/>
          </a:xfrm>
          <a:prstGeom prst="rect">
            <a:avLst/>
          </a:prstGeom>
          <a:noFill/>
          <a:ln/>
        </p:spPr>
        <p:txBody>
          <a:bodyPr wrap="square" lIns="25400" tIns="25400" rIns="25400" bIns="25400" rtlCol="0" anchor="t">
            <a:normAutofit/>
          </a:bodyPr>
          <a:lstStyle/>
          <a:p>
            <a:pPr algn="l" indent="0" marL="0">
              <a:buNone/>
            </a:pPr>
            <a:r>
              <a:rPr lang="en-US" sz="1275" spc="127" kern="0" dirty="0">
                <a:solidFill>
                  <a:srgbClr val="FD7EF5"/>
                </a:solidFill>
                <a:latin typeface="Courier New" pitchFamily="34" charset="0"/>
                <a:ea typeface="Courier New" pitchFamily="34" charset="-122"/>
                <a:cs typeface="Courier New" pitchFamily="34" charset="-120"/>
              </a:rPr>
              <a:t>ATTACK YOU LANDED</a:t>
            </a:r>
            <a:endParaRPr lang="en-US" sz="1275" dirty="0"/>
          </a:p>
        </p:txBody>
      </p:sp>
      <p:sp>
        <p:nvSpPr>
          <p:cNvPr id="7" name="Text 5"/>
          <p:cNvSpPr/>
          <p:nvPr/>
        </p:nvSpPr>
        <p:spPr>
          <a:xfrm>
            <a:off x="8521526" y="3478188"/>
            <a:ext cx="4379736" cy="252413"/>
          </a:xfrm>
          <a:prstGeom prst="rect">
            <a:avLst/>
          </a:prstGeom>
          <a:noFill/>
          <a:ln/>
        </p:spPr>
        <p:txBody>
          <a:bodyPr wrap="square" lIns="25400" tIns="25400" rIns="25400" bIns="25400" rtlCol="0" anchor="t">
            <a:normAutofit/>
          </a:bodyPr>
          <a:lstStyle/>
          <a:p>
            <a:pPr algn="l" indent="0" marL="0">
              <a:buNone/>
            </a:pPr>
            <a:r>
              <a:rPr lang="en-US" sz="1275" spc="127" kern="0" dirty="0">
                <a:solidFill>
                  <a:srgbClr val="36CDFF"/>
                </a:solidFill>
                <a:latin typeface="Courier New" pitchFamily="34" charset="0"/>
                <a:ea typeface="Courier New" pitchFamily="34" charset="-122"/>
                <a:cs typeface="Courier New" pitchFamily="34" charset="-120"/>
              </a:rPr>
              <a:t>GUARD THAT KILLED IT</a:t>
            </a:r>
            <a:endParaRPr lang="en-US" sz="1275" dirty="0"/>
          </a:p>
        </p:txBody>
      </p:sp>
      <p:sp>
        <p:nvSpPr>
          <p:cNvPr id="8" name="Text 6"/>
          <p:cNvSpPr/>
          <p:nvPr/>
        </p:nvSpPr>
        <p:spPr>
          <a:xfrm>
            <a:off x="13180591" y="3478188"/>
            <a:ext cx="4037050" cy="252413"/>
          </a:xfrm>
          <a:prstGeom prst="rect">
            <a:avLst/>
          </a:prstGeom>
          <a:noFill/>
          <a:ln/>
        </p:spPr>
        <p:txBody>
          <a:bodyPr wrap="square" lIns="25400" tIns="25400" rIns="25400" bIns="25400" rtlCol="0" anchor="t">
            <a:normAutofit/>
          </a:bodyPr>
          <a:lstStyle/>
          <a:p>
            <a:pPr algn="l" indent="0" marL="0">
              <a:buNone/>
            </a:pPr>
            <a:r>
              <a:rPr lang="en-US" sz="1275" spc="127" kern="0" dirty="0">
                <a:solidFill>
                  <a:srgbClr val="969696"/>
                </a:solidFill>
                <a:latin typeface="Courier New" pitchFamily="34" charset="0"/>
                <a:ea typeface="Courier New" pitchFamily="34" charset="-122"/>
                <a:cs typeface="Courier New" pitchFamily="34" charset="-120"/>
              </a:rPr>
              <a:t>FLAG</a:t>
            </a:r>
            <a:endParaRPr lang="en-US" sz="1275" dirty="0"/>
          </a:p>
        </p:txBody>
      </p:sp>
      <p:sp>
        <p:nvSpPr>
          <p:cNvPr id="9" name="Shape 7"/>
          <p:cNvSpPr/>
          <p:nvPr/>
        </p:nvSpPr>
        <p:spPr>
          <a:xfrm>
            <a:off x="990600" y="3863950"/>
            <a:ext cx="2329532" cy="9525"/>
          </a:xfrm>
          <a:prstGeom prst="rect">
            <a:avLst/>
          </a:prstGeom>
          <a:solidFill>
            <a:srgbClr val="FFFFFF">
              <a:alpha val="13000"/>
            </a:srgbClr>
          </a:solidFill>
          <a:ln/>
        </p:spPr>
      </p:sp>
      <p:sp>
        <p:nvSpPr>
          <p:cNvPr id="10" name="Text 8"/>
          <p:cNvSpPr/>
          <p:nvPr/>
        </p:nvSpPr>
        <p:spPr>
          <a:xfrm>
            <a:off x="1200150" y="4083025"/>
            <a:ext cx="1986632"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b="1" dirty="0">
                <a:solidFill>
                  <a:srgbClr val="FFFFFF"/>
                </a:solidFill>
                <a:latin typeface="Arial" pitchFamily="34" charset="0"/>
                <a:ea typeface="Arial" pitchFamily="34" charset="-122"/>
                <a:cs typeface="Arial" pitchFamily="34" charset="-120"/>
              </a:rPr>
              <a:t>M5 · L2 agent</a:t>
            </a:r>
            <a:endParaRPr lang="en-US" sz="1650" dirty="0"/>
          </a:p>
        </p:txBody>
      </p:sp>
      <p:sp>
        <p:nvSpPr>
          <p:cNvPr id="11" name="Shape 9"/>
          <p:cNvSpPr/>
          <p:nvPr/>
        </p:nvSpPr>
        <p:spPr>
          <a:xfrm>
            <a:off x="3320132" y="3863950"/>
            <a:ext cx="4991844" cy="9525"/>
          </a:xfrm>
          <a:prstGeom prst="rect">
            <a:avLst/>
          </a:prstGeom>
          <a:solidFill>
            <a:srgbClr val="FFFFFF">
              <a:alpha val="13000"/>
            </a:srgbClr>
          </a:solidFill>
          <a:ln/>
        </p:spPr>
      </p:sp>
      <p:sp>
        <p:nvSpPr>
          <p:cNvPr id="12" name="Text 10"/>
          <p:cNvSpPr/>
          <p:nvPr/>
        </p:nvSpPr>
        <p:spPr>
          <a:xfrm>
            <a:off x="3529682" y="4083025"/>
            <a:ext cx="4722499"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Confused deputy — refund / email-change on an unowned account</a:t>
            </a:r>
            <a:endParaRPr lang="en-US" sz="1650" dirty="0"/>
          </a:p>
        </p:txBody>
      </p:sp>
      <p:sp>
        <p:nvSpPr>
          <p:cNvPr id="13" name="Shape 11"/>
          <p:cNvSpPr/>
          <p:nvPr/>
        </p:nvSpPr>
        <p:spPr>
          <a:xfrm>
            <a:off x="8311976" y="3863950"/>
            <a:ext cx="4659064" cy="9525"/>
          </a:xfrm>
          <a:prstGeom prst="rect">
            <a:avLst/>
          </a:prstGeom>
          <a:solidFill>
            <a:srgbClr val="FFFFFF">
              <a:alpha val="13000"/>
            </a:srgbClr>
          </a:solidFill>
          <a:ln/>
        </p:spPr>
      </p:sp>
      <p:sp>
        <p:nvSpPr>
          <p:cNvPr id="14" name="Text 12"/>
          <p:cNvSpPr/>
          <p:nvPr/>
        </p:nvSpPr>
        <p:spPr>
          <a:xfrm>
            <a:off x="8521526" y="4083025"/>
            <a:ext cx="4379736"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Per-action ownership authz</a:t>
            </a:r>
            <a:endParaRPr lang="en-US" sz="1650" dirty="0"/>
          </a:p>
        </p:txBody>
      </p:sp>
      <p:sp>
        <p:nvSpPr>
          <p:cNvPr id="15" name="Shape 13"/>
          <p:cNvSpPr/>
          <p:nvPr/>
        </p:nvSpPr>
        <p:spPr>
          <a:xfrm>
            <a:off x="12971041" y="3863950"/>
            <a:ext cx="4326359" cy="9525"/>
          </a:xfrm>
          <a:prstGeom prst="rect">
            <a:avLst/>
          </a:prstGeom>
          <a:solidFill>
            <a:srgbClr val="FFFFFF">
              <a:alpha val="13000"/>
            </a:srgbClr>
          </a:solidFill>
          <a:ln/>
        </p:spPr>
      </p:sp>
      <p:sp>
        <p:nvSpPr>
          <p:cNvPr id="16" name="Text 14"/>
          <p:cNvSpPr/>
          <p:nvPr/>
        </p:nvSpPr>
        <p:spPr>
          <a:xfrm>
            <a:off x="13180591" y="4083025"/>
            <a:ext cx="4037050" cy="603796"/>
          </a:xfrm>
          <a:prstGeom prst="rect">
            <a:avLst/>
          </a:prstGeom>
          <a:noFill/>
          <a:ln/>
        </p:spPr>
        <p:txBody>
          <a:bodyPr wrap="square" lIns="25400" tIns="25400" rIns="25400" bIns="25400" rtlCol="0" anchor="t">
            <a:normAutofit/>
          </a:bodyPr>
          <a:lstStyle/>
          <a:p>
            <a:pPr algn="l" indent="0" marL="0">
              <a:lnSpc>
                <a:spcPct val="118800"/>
              </a:lnSpc>
              <a:buNone/>
            </a:pPr>
            <a:r>
              <a:rPr lang="en-US" sz="1425" dirty="0">
                <a:solidFill>
                  <a:srgbClr val="C8C8C8"/>
                </a:solidFill>
                <a:latin typeface="Courier New" pitchFamily="34" charset="0"/>
                <a:ea typeface="Courier New" pitchFamily="34" charset="-122"/>
                <a:cs typeface="Courier New" pitchFamily="34" charset="-120"/>
              </a:rPr>
              <a:t>SEC_TOOL_SCOPE_ENFORCEMENT</a:t>
            </a:r>
            <a:endParaRPr lang="en-US" sz="1425" dirty="0"/>
          </a:p>
        </p:txBody>
      </p:sp>
      <p:sp>
        <p:nvSpPr>
          <p:cNvPr id="17" name="Shape 15"/>
          <p:cNvSpPr/>
          <p:nvPr/>
        </p:nvSpPr>
        <p:spPr>
          <a:xfrm>
            <a:off x="990600" y="4858271"/>
            <a:ext cx="2329532" cy="9525"/>
          </a:xfrm>
          <a:prstGeom prst="rect">
            <a:avLst/>
          </a:prstGeom>
          <a:solidFill>
            <a:srgbClr val="FFFFFF">
              <a:alpha val="13000"/>
            </a:srgbClr>
          </a:solidFill>
          <a:ln/>
        </p:spPr>
      </p:sp>
      <p:sp>
        <p:nvSpPr>
          <p:cNvPr id="18" name="Text 16"/>
          <p:cNvSpPr/>
          <p:nvPr/>
        </p:nvSpPr>
        <p:spPr>
          <a:xfrm>
            <a:off x="1200150" y="5077346"/>
            <a:ext cx="1986632"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b="1" dirty="0">
                <a:solidFill>
                  <a:srgbClr val="FFFFFF"/>
                </a:solidFill>
                <a:latin typeface="Arial" pitchFamily="34" charset="0"/>
                <a:ea typeface="Arial" pitchFamily="34" charset="-122"/>
                <a:cs typeface="Arial" pitchFamily="34" charset="-120"/>
              </a:rPr>
              <a:t>M6 · L3 MCP</a:t>
            </a:r>
            <a:endParaRPr lang="en-US" sz="1650" dirty="0"/>
          </a:p>
        </p:txBody>
      </p:sp>
      <p:sp>
        <p:nvSpPr>
          <p:cNvPr id="19" name="Shape 17"/>
          <p:cNvSpPr/>
          <p:nvPr/>
        </p:nvSpPr>
        <p:spPr>
          <a:xfrm>
            <a:off x="3320132" y="4858271"/>
            <a:ext cx="4991844" cy="9525"/>
          </a:xfrm>
          <a:prstGeom prst="rect">
            <a:avLst/>
          </a:prstGeom>
          <a:solidFill>
            <a:srgbClr val="FFFFFF">
              <a:alpha val="13000"/>
            </a:srgbClr>
          </a:solidFill>
          <a:ln/>
        </p:spPr>
      </p:sp>
      <p:sp>
        <p:nvSpPr>
          <p:cNvPr id="20" name="Text 18"/>
          <p:cNvSpPr/>
          <p:nvPr/>
        </p:nvSpPr>
        <p:spPr>
          <a:xfrm>
            <a:off x="3529682" y="5077346"/>
            <a:ext cx="4722499"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Tool-description poisoning · rug pull · cross-server token theft</a:t>
            </a:r>
            <a:endParaRPr lang="en-US" sz="1650" dirty="0"/>
          </a:p>
        </p:txBody>
      </p:sp>
      <p:sp>
        <p:nvSpPr>
          <p:cNvPr id="21" name="Shape 19"/>
          <p:cNvSpPr/>
          <p:nvPr/>
        </p:nvSpPr>
        <p:spPr>
          <a:xfrm>
            <a:off x="8311976" y="4858271"/>
            <a:ext cx="4659064" cy="9525"/>
          </a:xfrm>
          <a:prstGeom prst="rect">
            <a:avLst/>
          </a:prstGeom>
          <a:solidFill>
            <a:srgbClr val="FFFFFF">
              <a:alpha val="13000"/>
            </a:srgbClr>
          </a:solidFill>
          <a:ln/>
        </p:spPr>
      </p:sp>
      <p:sp>
        <p:nvSpPr>
          <p:cNvPr id="22" name="Text 20"/>
          <p:cNvSpPr/>
          <p:nvPr/>
        </p:nvSpPr>
        <p:spPr>
          <a:xfrm>
            <a:off x="8521526" y="5077346"/>
            <a:ext cx="4379736"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Hash-pin + quarantine descriptions; per-server token isolation</a:t>
            </a:r>
            <a:endParaRPr lang="en-US" sz="1650" dirty="0"/>
          </a:p>
        </p:txBody>
      </p:sp>
      <p:sp>
        <p:nvSpPr>
          <p:cNvPr id="23" name="Shape 21"/>
          <p:cNvSpPr/>
          <p:nvPr/>
        </p:nvSpPr>
        <p:spPr>
          <a:xfrm>
            <a:off x="12971041" y="4858271"/>
            <a:ext cx="4326359" cy="9525"/>
          </a:xfrm>
          <a:prstGeom prst="rect">
            <a:avLst/>
          </a:prstGeom>
          <a:solidFill>
            <a:srgbClr val="FFFFFF">
              <a:alpha val="13000"/>
            </a:srgbClr>
          </a:solidFill>
          <a:ln/>
        </p:spPr>
      </p:sp>
      <p:sp>
        <p:nvSpPr>
          <p:cNvPr id="24" name="Text 22"/>
          <p:cNvSpPr/>
          <p:nvPr/>
        </p:nvSpPr>
        <p:spPr>
          <a:xfrm>
            <a:off x="13180591" y="5077346"/>
            <a:ext cx="4037050" cy="603796"/>
          </a:xfrm>
          <a:prstGeom prst="rect">
            <a:avLst/>
          </a:prstGeom>
          <a:noFill/>
          <a:ln/>
        </p:spPr>
        <p:txBody>
          <a:bodyPr wrap="square" lIns="25400" tIns="25400" rIns="25400" bIns="25400" rtlCol="0" anchor="t">
            <a:normAutofit/>
          </a:bodyPr>
          <a:lstStyle/>
          <a:p>
            <a:pPr algn="l" indent="0" marL="0">
              <a:lnSpc>
                <a:spcPct val="118800"/>
              </a:lnSpc>
              <a:buNone/>
            </a:pPr>
            <a:r>
              <a:rPr lang="en-US" sz="1425" dirty="0">
                <a:solidFill>
                  <a:srgbClr val="C8C8C8"/>
                </a:solidFill>
                <a:latin typeface="Courier New" pitchFamily="34" charset="0"/>
                <a:ea typeface="Courier New" pitchFamily="34" charset="-122"/>
                <a:cs typeface="Courier New" pitchFamily="34" charset="-120"/>
              </a:rPr>
              <a:t>SEC_MCP_DESC_PINNING SEC_MCP_TOKEN_SCOPING</a:t>
            </a:r>
            <a:endParaRPr lang="en-US" sz="1425" dirty="0"/>
          </a:p>
        </p:txBody>
      </p:sp>
      <p:sp>
        <p:nvSpPr>
          <p:cNvPr id="25" name="Shape 23"/>
          <p:cNvSpPr/>
          <p:nvPr/>
        </p:nvSpPr>
        <p:spPr>
          <a:xfrm>
            <a:off x="990600" y="5852592"/>
            <a:ext cx="2329532" cy="9525"/>
          </a:xfrm>
          <a:prstGeom prst="rect">
            <a:avLst/>
          </a:prstGeom>
          <a:solidFill>
            <a:srgbClr val="FFFFFF">
              <a:alpha val="13000"/>
            </a:srgbClr>
          </a:solidFill>
          <a:ln/>
        </p:spPr>
      </p:sp>
      <p:sp>
        <p:nvSpPr>
          <p:cNvPr id="26" name="Text 24"/>
          <p:cNvSpPr/>
          <p:nvPr/>
        </p:nvSpPr>
        <p:spPr>
          <a:xfrm>
            <a:off x="1200150" y="6071667"/>
            <a:ext cx="1986632" cy="608558"/>
          </a:xfrm>
          <a:prstGeom prst="rect">
            <a:avLst/>
          </a:prstGeom>
          <a:noFill/>
          <a:ln/>
        </p:spPr>
        <p:txBody>
          <a:bodyPr wrap="square" lIns="25400" tIns="25400" rIns="25400" bIns="25400" rtlCol="0" anchor="t">
            <a:normAutofit/>
          </a:bodyPr>
          <a:lstStyle/>
          <a:p>
            <a:pPr algn="l" indent="0" marL="0">
              <a:lnSpc>
                <a:spcPct val="118800"/>
              </a:lnSpc>
              <a:buNone/>
            </a:pPr>
            <a:r>
              <a:rPr lang="en-US" sz="1650" b="1" dirty="0">
                <a:solidFill>
                  <a:srgbClr val="FFFFFF"/>
                </a:solidFill>
                <a:latin typeface="Arial" pitchFamily="34" charset="0"/>
                <a:ea typeface="Arial" pitchFamily="34" charset="-122"/>
                <a:cs typeface="Arial" pitchFamily="34" charset="-120"/>
              </a:rPr>
              <a:t>M7 · L4 multi-agent</a:t>
            </a:r>
            <a:endParaRPr lang="en-US" sz="1650" dirty="0"/>
          </a:p>
        </p:txBody>
      </p:sp>
      <p:sp>
        <p:nvSpPr>
          <p:cNvPr id="27" name="Shape 25"/>
          <p:cNvSpPr/>
          <p:nvPr/>
        </p:nvSpPr>
        <p:spPr>
          <a:xfrm>
            <a:off x="3320132" y="5852592"/>
            <a:ext cx="4991844" cy="9525"/>
          </a:xfrm>
          <a:prstGeom prst="rect">
            <a:avLst/>
          </a:prstGeom>
          <a:solidFill>
            <a:srgbClr val="FFFFFF">
              <a:alpha val="13000"/>
            </a:srgbClr>
          </a:solidFill>
          <a:ln/>
        </p:spPr>
      </p:sp>
      <p:sp>
        <p:nvSpPr>
          <p:cNvPr id="28" name="Text 26"/>
          <p:cNvSpPr/>
          <p:nvPr/>
        </p:nvSpPr>
        <p:spPr>
          <a:xfrm>
            <a:off x="3529682" y="6071667"/>
            <a:ext cx="4722499" cy="608558"/>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Injection </a:t>
            </a:r>
            <a:pPr algn="l" indent="0" marL="0">
              <a:lnSpc>
                <a:spcPct val="118800"/>
              </a:lnSpc>
              <a:buNone/>
            </a:pPr>
            <a:r>
              <a:rPr lang="en-US" sz="1650" b="1" dirty="0">
                <a:solidFill>
                  <a:srgbClr val="C8C8C8"/>
                </a:solidFill>
                <a:latin typeface="Arial" pitchFamily="34" charset="0"/>
                <a:ea typeface="Arial" pitchFamily="34" charset="-122"/>
                <a:cs typeface="Arial" pitchFamily="34" charset="-120"/>
              </a:rPr>
              <a:t>propagates </a:t>
            </a:r>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the pipeline → auto-approved fraudulent refund</a:t>
            </a:r>
            <a:endParaRPr lang="en-US" sz="1650" dirty="0"/>
          </a:p>
        </p:txBody>
      </p:sp>
      <p:sp>
        <p:nvSpPr>
          <p:cNvPr id="29" name="Shape 27"/>
          <p:cNvSpPr/>
          <p:nvPr/>
        </p:nvSpPr>
        <p:spPr>
          <a:xfrm>
            <a:off x="8311976" y="5852592"/>
            <a:ext cx="4659064" cy="9525"/>
          </a:xfrm>
          <a:prstGeom prst="rect">
            <a:avLst/>
          </a:prstGeom>
          <a:solidFill>
            <a:srgbClr val="FFFFFF">
              <a:alpha val="13000"/>
            </a:srgbClr>
          </a:solidFill>
          <a:ln/>
        </p:spPr>
      </p:sp>
      <p:sp>
        <p:nvSpPr>
          <p:cNvPr id="30" name="Text 28"/>
          <p:cNvSpPr/>
          <p:nvPr/>
        </p:nvSpPr>
        <p:spPr>
          <a:xfrm>
            <a:off x="8521526" y="6071667"/>
            <a:ext cx="4379736" cy="608558"/>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Sign / verify agent messages; quarantine untrusted text</a:t>
            </a:r>
            <a:endParaRPr lang="en-US" sz="1650" dirty="0"/>
          </a:p>
        </p:txBody>
      </p:sp>
      <p:sp>
        <p:nvSpPr>
          <p:cNvPr id="31" name="Shape 29"/>
          <p:cNvSpPr/>
          <p:nvPr/>
        </p:nvSpPr>
        <p:spPr>
          <a:xfrm>
            <a:off x="12971041" y="5852592"/>
            <a:ext cx="4326359" cy="9525"/>
          </a:xfrm>
          <a:prstGeom prst="rect">
            <a:avLst/>
          </a:prstGeom>
          <a:solidFill>
            <a:srgbClr val="FFFFFF">
              <a:alpha val="13000"/>
            </a:srgbClr>
          </a:solidFill>
          <a:ln/>
        </p:spPr>
      </p:sp>
      <p:sp>
        <p:nvSpPr>
          <p:cNvPr id="32" name="Text 30"/>
          <p:cNvSpPr/>
          <p:nvPr/>
        </p:nvSpPr>
        <p:spPr>
          <a:xfrm>
            <a:off x="13180591" y="6071667"/>
            <a:ext cx="4037050" cy="608558"/>
          </a:xfrm>
          <a:prstGeom prst="rect">
            <a:avLst/>
          </a:prstGeom>
          <a:noFill/>
          <a:ln/>
        </p:spPr>
        <p:txBody>
          <a:bodyPr wrap="square" lIns="25400" tIns="25400" rIns="25400" bIns="25400" rtlCol="0" anchor="t">
            <a:normAutofit/>
          </a:bodyPr>
          <a:lstStyle/>
          <a:p>
            <a:pPr algn="l" indent="0" marL="0">
              <a:lnSpc>
                <a:spcPct val="118800"/>
              </a:lnSpc>
              <a:buNone/>
            </a:pPr>
            <a:r>
              <a:rPr lang="en-US" sz="1425" dirty="0">
                <a:solidFill>
                  <a:srgbClr val="C8C8C8"/>
                </a:solidFill>
                <a:latin typeface="Courier New" pitchFamily="34" charset="0"/>
                <a:ea typeface="Courier New" pitchFamily="34" charset="-122"/>
                <a:cs typeface="Courier New" pitchFamily="34" charset="-120"/>
              </a:rPr>
              <a:t>SEC_INTER_AGENT_AUTH</a:t>
            </a:r>
            <a:endParaRPr lang="en-US" sz="1425" dirty="0"/>
          </a:p>
        </p:txBody>
      </p:sp>
      <p:sp>
        <p:nvSpPr>
          <p:cNvPr id="33" name="Shape 31"/>
          <p:cNvSpPr/>
          <p:nvPr/>
        </p:nvSpPr>
        <p:spPr>
          <a:xfrm>
            <a:off x="990600" y="6851675"/>
            <a:ext cx="2329532" cy="9525"/>
          </a:xfrm>
          <a:prstGeom prst="rect">
            <a:avLst/>
          </a:prstGeom>
          <a:solidFill>
            <a:srgbClr val="FFFFFF">
              <a:alpha val="13000"/>
            </a:srgbClr>
          </a:solidFill>
          <a:ln/>
        </p:spPr>
      </p:sp>
      <p:sp>
        <p:nvSpPr>
          <p:cNvPr id="34" name="Text 32"/>
          <p:cNvSpPr/>
          <p:nvPr/>
        </p:nvSpPr>
        <p:spPr>
          <a:xfrm>
            <a:off x="1200150" y="7070750"/>
            <a:ext cx="1986632"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b="1" dirty="0">
                <a:solidFill>
                  <a:srgbClr val="FFFFFF"/>
                </a:solidFill>
                <a:latin typeface="Arial" pitchFamily="34" charset="0"/>
                <a:ea typeface="Arial" pitchFamily="34" charset="-122"/>
                <a:cs typeface="Arial" pitchFamily="34" charset="-120"/>
              </a:rPr>
              <a:t>M8 · L5 production</a:t>
            </a:r>
            <a:endParaRPr lang="en-US" sz="1650" dirty="0"/>
          </a:p>
        </p:txBody>
      </p:sp>
      <p:sp>
        <p:nvSpPr>
          <p:cNvPr id="35" name="Shape 33"/>
          <p:cNvSpPr/>
          <p:nvPr/>
        </p:nvSpPr>
        <p:spPr>
          <a:xfrm>
            <a:off x="3320132" y="6851675"/>
            <a:ext cx="4991844" cy="9525"/>
          </a:xfrm>
          <a:prstGeom prst="rect">
            <a:avLst/>
          </a:prstGeom>
          <a:solidFill>
            <a:srgbClr val="FFFFFF">
              <a:alpha val="13000"/>
            </a:srgbClr>
          </a:solidFill>
          <a:ln/>
        </p:spPr>
      </p:sp>
      <p:sp>
        <p:nvSpPr>
          <p:cNvPr id="36" name="Text 34"/>
          <p:cNvSpPr/>
          <p:nvPr/>
        </p:nvSpPr>
        <p:spPr>
          <a:xfrm>
            <a:off x="3529682" y="7070750"/>
            <a:ext cx="4722499"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Guardrail obfuscation bypass (leetspeak / homoglyph)</a:t>
            </a:r>
            <a:endParaRPr lang="en-US" sz="1650" dirty="0"/>
          </a:p>
        </p:txBody>
      </p:sp>
      <p:sp>
        <p:nvSpPr>
          <p:cNvPr id="37" name="Shape 35"/>
          <p:cNvSpPr/>
          <p:nvPr/>
        </p:nvSpPr>
        <p:spPr>
          <a:xfrm>
            <a:off x="8311976" y="6851675"/>
            <a:ext cx="4659064" cy="9525"/>
          </a:xfrm>
          <a:prstGeom prst="rect">
            <a:avLst/>
          </a:prstGeom>
          <a:solidFill>
            <a:srgbClr val="FFFFFF">
              <a:alpha val="13000"/>
            </a:srgbClr>
          </a:solidFill>
          <a:ln/>
        </p:spPr>
      </p:sp>
      <p:sp>
        <p:nvSpPr>
          <p:cNvPr id="38" name="Text 36"/>
          <p:cNvSpPr/>
          <p:nvPr/>
        </p:nvSpPr>
        <p:spPr>
          <a:xfrm>
            <a:off x="8521526" y="7070750"/>
            <a:ext cx="4379736" cy="603796"/>
          </a:xfrm>
          <a:prstGeom prst="rect">
            <a:avLst/>
          </a:prstGeom>
          <a:noFill/>
          <a:ln/>
        </p:spPr>
        <p:txBody>
          <a:bodyPr wrap="square" lIns="25400" tIns="25400" rIns="25400" bIns="25400" rtlCol="0" anchor="t">
            <a:normAutofit/>
          </a:bodyPr>
          <a:lstStyle/>
          <a:p>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Canonicalize input </a:t>
            </a:r>
            <a:pPr algn="l" indent="0" marL="0">
              <a:lnSpc>
                <a:spcPct val="118800"/>
              </a:lnSpc>
              <a:buNone/>
            </a:pPr>
            <a:r>
              <a:rPr lang="en-US" sz="1650" b="1" dirty="0">
                <a:solidFill>
                  <a:srgbClr val="C8C8C8"/>
                </a:solidFill>
                <a:latin typeface="Arial" pitchFamily="34" charset="0"/>
                <a:ea typeface="Arial" pitchFamily="34" charset="-122"/>
                <a:cs typeface="Arial" pitchFamily="34" charset="-120"/>
              </a:rPr>
              <a:t>before </a:t>
            </a:r>
            <a:pPr algn="l" indent="0" marL="0">
              <a:lnSpc>
                <a:spcPct val="118800"/>
              </a:lnSpc>
              <a:buNone/>
            </a:pPr>
            <a:r>
              <a:rPr lang="en-US" sz="1650" dirty="0">
                <a:solidFill>
                  <a:srgbClr val="C8C8C8"/>
                </a:solidFill>
                <a:latin typeface="Arial" pitchFamily="34" charset="0"/>
                <a:ea typeface="Arial" pitchFamily="34" charset="-122"/>
                <a:cs typeface="Arial" pitchFamily="34" charset="-120"/>
              </a:rPr>
              <a:t>the blocklist</a:t>
            </a:r>
            <a:endParaRPr lang="en-US" sz="1650" dirty="0"/>
          </a:p>
        </p:txBody>
      </p:sp>
      <p:sp>
        <p:nvSpPr>
          <p:cNvPr id="39" name="Shape 37"/>
          <p:cNvSpPr/>
          <p:nvPr/>
        </p:nvSpPr>
        <p:spPr>
          <a:xfrm>
            <a:off x="12971041" y="6851675"/>
            <a:ext cx="4326359" cy="9525"/>
          </a:xfrm>
          <a:prstGeom prst="rect">
            <a:avLst/>
          </a:prstGeom>
          <a:solidFill>
            <a:srgbClr val="FFFFFF">
              <a:alpha val="13000"/>
            </a:srgbClr>
          </a:solidFill>
          <a:ln/>
        </p:spPr>
      </p:sp>
      <p:sp>
        <p:nvSpPr>
          <p:cNvPr id="40" name="Text 38"/>
          <p:cNvSpPr/>
          <p:nvPr/>
        </p:nvSpPr>
        <p:spPr>
          <a:xfrm>
            <a:off x="13180591" y="7070750"/>
            <a:ext cx="4037050" cy="603796"/>
          </a:xfrm>
          <a:prstGeom prst="rect">
            <a:avLst/>
          </a:prstGeom>
          <a:noFill/>
          <a:ln/>
        </p:spPr>
        <p:txBody>
          <a:bodyPr wrap="square" lIns="25400" tIns="25400" rIns="25400" bIns="25400" rtlCol="0" anchor="t">
            <a:normAutofit/>
          </a:bodyPr>
          <a:lstStyle/>
          <a:p>
            <a:pPr algn="l" indent="0" marL="0">
              <a:lnSpc>
                <a:spcPct val="118800"/>
              </a:lnSpc>
              <a:buNone/>
            </a:pPr>
            <a:r>
              <a:rPr lang="en-US" sz="1425" dirty="0">
                <a:solidFill>
                  <a:srgbClr val="C8C8C8"/>
                </a:solidFill>
                <a:latin typeface="Courier New" pitchFamily="34" charset="0"/>
                <a:ea typeface="Courier New" pitchFamily="34" charset="-122"/>
                <a:cs typeface="Courier New" pitchFamily="34" charset="-120"/>
              </a:rPr>
              <a:t>SEC_GUARDRAILS</a:t>
            </a:r>
            <a:endParaRPr lang="en-US" sz="1425" dirty="0"/>
          </a:p>
        </p:txBody>
      </p:sp>
      <p:pic>
        <p:nvPicPr>
          <p:cNvPr id="41"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42" name="Text 39"/>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CLOSING · ADVERSARIAL AI</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771079"/>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FRAMEWORKS</a:t>
            </a:r>
            <a:endParaRPr lang="en-US" sz="1500" dirty="0"/>
          </a:p>
        </p:txBody>
      </p:sp>
      <p:sp>
        <p:nvSpPr>
          <p:cNvPr id="3" name="Text 1"/>
          <p:cNvSpPr/>
          <p:nvPr/>
        </p:nvSpPr>
        <p:spPr>
          <a:xfrm>
            <a:off x="990600" y="1175891"/>
            <a:ext cx="16796004" cy="1272480"/>
          </a:xfrm>
          <a:prstGeom prst="rect">
            <a:avLst/>
          </a:prstGeom>
          <a:noFill/>
          <a:ln/>
        </p:spPr>
        <p:txBody>
          <a:bodyPr wrap="square" lIns="25400" tIns="25400" rIns="25400" bIns="25400" rtlCol="0" anchor="t">
            <a:normAutofit/>
          </a:bodyPr>
          <a:lstStyle/>
          <a:p>
            <a:pPr algn="l" indent="0" marL="0">
              <a:lnSpc>
                <a:spcPct val="78072"/>
              </a:lnSpc>
              <a:buNone/>
            </a:pPr>
            <a:r>
              <a:rPr lang="en-US" sz="5400" b="1" dirty="0">
                <a:solidFill>
                  <a:srgbClr val="FFFFFF"/>
                </a:solidFill>
                <a:latin typeface="Arial" pitchFamily="34" charset="0"/>
                <a:ea typeface="Arial" pitchFamily="34" charset="-122"/>
                <a:cs typeface="Arial" pitchFamily="34" charset="-120"/>
              </a:rPr>
              <a:t>WHERE IT LANDS ON OWASP LLM TOP 10</a:t>
            </a:r>
            <a:endParaRPr lang="en-US" sz="5400" dirty="0"/>
          </a:p>
        </p:txBody>
      </p:sp>
      <p:sp>
        <p:nvSpPr>
          <p:cNvPr id="4" name="Shape 2"/>
          <p:cNvSpPr/>
          <p:nvPr/>
        </p:nvSpPr>
        <p:spPr>
          <a:xfrm>
            <a:off x="990600" y="2791271"/>
            <a:ext cx="16306800" cy="19050"/>
          </a:xfrm>
          <a:prstGeom prst="rect">
            <a:avLst/>
          </a:prstGeom>
          <a:solidFill>
            <a:srgbClr val="FFFFFF">
              <a:alpha val="20000"/>
            </a:srgbClr>
          </a:solidFill>
          <a:ln/>
        </p:spPr>
      </p:sp>
      <p:sp>
        <p:nvSpPr>
          <p:cNvPr id="5" name="Text 3"/>
          <p:cNvSpPr/>
          <p:nvPr/>
        </p:nvSpPr>
        <p:spPr>
          <a:xfrm>
            <a:off x="1200150" y="2981771"/>
            <a:ext cx="3456836"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36CDFF"/>
                </a:solidFill>
                <a:latin typeface="Courier New" pitchFamily="34" charset="0"/>
                <a:ea typeface="Courier New" pitchFamily="34" charset="-122"/>
                <a:cs typeface="Courier New" pitchFamily="34" charset="-120"/>
              </a:rPr>
              <a:t>MODULE</a:t>
            </a:r>
            <a:endParaRPr lang="en-US" sz="1350" dirty="0"/>
          </a:p>
        </p:txBody>
      </p:sp>
      <p:sp>
        <p:nvSpPr>
          <p:cNvPr id="6" name="Text 4"/>
          <p:cNvSpPr/>
          <p:nvPr/>
        </p:nvSpPr>
        <p:spPr>
          <a:xfrm>
            <a:off x="4963195" y="2981771"/>
            <a:ext cx="12500968"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FD7EF5"/>
                </a:solidFill>
                <a:latin typeface="Courier New" pitchFamily="34" charset="0"/>
                <a:ea typeface="Courier New" pitchFamily="34" charset="-122"/>
                <a:cs typeface="Courier New" pitchFamily="34" charset="-120"/>
              </a:rPr>
              <a:t>OWASP CATEGORY</a:t>
            </a:r>
            <a:endParaRPr lang="en-US" sz="1350" dirty="0"/>
          </a:p>
        </p:txBody>
      </p:sp>
      <p:sp>
        <p:nvSpPr>
          <p:cNvPr id="7" name="Shape 5"/>
          <p:cNvSpPr/>
          <p:nvPr/>
        </p:nvSpPr>
        <p:spPr>
          <a:xfrm>
            <a:off x="990600" y="3381821"/>
            <a:ext cx="3763045" cy="9525"/>
          </a:xfrm>
          <a:prstGeom prst="rect">
            <a:avLst/>
          </a:prstGeom>
          <a:solidFill>
            <a:srgbClr val="FFFFFF">
              <a:alpha val="13000"/>
            </a:srgbClr>
          </a:solidFill>
          <a:ln/>
        </p:spPr>
      </p:sp>
      <p:sp>
        <p:nvSpPr>
          <p:cNvPr id="8" name="Text 6"/>
          <p:cNvSpPr/>
          <p:nvPr/>
        </p:nvSpPr>
        <p:spPr>
          <a:xfrm>
            <a:off x="1200150" y="3572321"/>
            <a:ext cx="3456836"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M1</a:t>
            </a:r>
            <a:endParaRPr lang="en-US" sz="1875" dirty="0"/>
          </a:p>
        </p:txBody>
      </p:sp>
      <p:sp>
        <p:nvSpPr>
          <p:cNvPr id="9" name="Shape 7"/>
          <p:cNvSpPr/>
          <p:nvPr/>
        </p:nvSpPr>
        <p:spPr>
          <a:xfrm>
            <a:off x="4753645" y="3381821"/>
            <a:ext cx="12543755" cy="9525"/>
          </a:xfrm>
          <a:prstGeom prst="rect">
            <a:avLst/>
          </a:prstGeom>
          <a:solidFill>
            <a:srgbClr val="FFFFFF">
              <a:alpha val="13000"/>
            </a:srgbClr>
          </a:solidFill>
          <a:ln/>
        </p:spPr>
      </p:sp>
      <p:sp>
        <p:nvSpPr>
          <p:cNvPr id="10" name="Text 8"/>
          <p:cNvSpPr/>
          <p:nvPr/>
        </p:nvSpPr>
        <p:spPr>
          <a:xfrm>
            <a:off x="4963195" y="3572321"/>
            <a:ext cx="12500968"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LLM01 </a:t>
            </a:r>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Prompt Injection</a:t>
            </a:r>
            <a:endParaRPr lang="en-US" sz="1875" dirty="0"/>
          </a:p>
        </p:txBody>
      </p:sp>
      <p:sp>
        <p:nvSpPr>
          <p:cNvPr id="11" name="Shape 9"/>
          <p:cNvSpPr/>
          <p:nvPr/>
        </p:nvSpPr>
        <p:spPr>
          <a:xfrm>
            <a:off x="990600" y="4074765"/>
            <a:ext cx="3763045" cy="9525"/>
          </a:xfrm>
          <a:prstGeom prst="rect">
            <a:avLst/>
          </a:prstGeom>
          <a:solidFill>
            <a:srgbClr val="FFFFFF">
              <a:alpha val="13000"/>
            </a:srgbClr>
          </a:solidFill>
          <a:ln/>
        </p:spPr>
      </p:sp>
      <p:sp>
        <p:nvSpPr>
          <p:cNvPr id="12" name="Text 10"/>
          <p:cNvSpPr/>
          <p:nvPr/>
        </p:nvSpPr>
        <p:spPr>
          <a:xfrm>
            <a:off x="1200150" y="4265265"/>
            <a:ext cx="3456836"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M2</a:t>
            </a:r>
            <a:endParaRPr lang="en-US" sz="1875" dirty="0"/>
          </a:p>
        </p:txBody>
      </p:sp>
      <p:sp>
        <p:nvSpPr>
          <p:cNvPr id="13" name="Shape 11"/>
          <p:cNvSpPr/>
          <p:nvPr/>
        </p:nvSpPr>
        <p:spPr>
          <a:xfrm>
            <a:off x="4753645" y="4074765"/>
            <a:ext cx="12543755" cy="9525"/>
          </a:xfrm>
          <a:prstGeom prst="rect">
            <a:avLst/>
          </a:prstGeom>
          <a:solidFill>
            <a:srgbClr val="FFFFFF">
              <a:alpha val="13000"/>
            </a:srgbClr>
          </a:solidFill>
          <a:ln/>
        </p:spPr>
      </p:sp>
      <p:sp>
        <p:nvSpPr>
          <p:cNvPr id="14" name="Text 12"/>
          <p:cNvSpPr/>
          <p:nvPr/>
        </p:nvSpPr>
        <p:spPr>
          <a:xfrm>
            <a:off x="4963195" y="4265265"/>
            <a:ext cx="12500968"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LLM05 </a:t>
            </a:r>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Improper Output Handling (+ LLM02, LLM07)</a:t>
            </a:r>
            <a:endParaRPr lang="en-US" sz="1875" dirty="0"/>
          </a:p>
        </p:txBody>
      </p:sp>
      <p:sp>
        <p:nvSpPr>
          <p:cNvPr id="15" name="Shape 13"/>
          <p:cNvSpPr/>
          <p:nvPr/>
        </p:nvSpPr>
        <p:spPr>
          <a:xfrm>
            <a:off x="990600" y="4767709"/>
            <a:ext cx="3763045" cy="9525"/>
          </a:xfrm>
          <a:prstGeom prst="rect">
            <a:avLst/>
          </a:prstGeom>
          <a:solidFill>
            <a:srgbClr val="FFFFFF">
              <a:alpha val="13000"/>
            </a:srgbClr>
          </a:solidFill>
          <a:ln/>
        </p:spPr>
      </p:sp>
      <p:sp>
        <p:nvSpPr>
          <p:cNvPr id="16" name="Text 14"/>
          <p:cNvSpPr/>
          <p:nvPr/>
        </p:nvSpPr>
        <p:spPr>
          <a:xfrm>
            <a:off x="1200150" y="4958209"/>
            <a:ext cx="3456836"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M3</a:t>
            </a:r>
            <a:endParaRPr lang="en-US" sz="1875" dirty="0"/>
          </a:p>
        </p:txBody>
      </p:sp>
      <p:sp>
        <p:nvSpPr>
          <p:cNvPr id="17" name="Shape 15"/>
          <p:cNvSpPr/>
          <p:nvPr/>
        </p:nvSpPr>
        <p:spPr>
          <a:xfrm>
            <a:off x="4753645" y="4767709"/>
            <a:ext cx="12543755" cy="9525"/>
          </a:xfrm>
          <a:prstGeom prst="rect">
            <a:avLst/>
          </a:prstGeom>
          <a:solidFill>
            <a:srgbClr val="FFFFFF">
              <a:alpha val="13000"/>
            </a:srgbClr>
          </a:solidFill>
          <a:ln/>
        </p:spPr>
      </p:sp>
      <p:sp>
        <p:nvSpPr>
          <p:cNvPr id="18" name="Text 16"/>
          <p:cNvSpPr/>
          <p:nvPr/>
        </p:nvSpPr>
        <p:spPr>
          <a:xfrm>
            <a:off x="4963195" y="4958209"/>
            <a:ext cx="12500968"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LLM08 </a:t>
            </a:r>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Vector &amp; Embedding Weaknesses (+ LLM01 indirect)</a:t>
            </a:r>
            <a:endParaRPr lang="en-US" sz="1875" dirty="0"/>
          </a:p>
        </p:txBody>
      </p:sp>
      <p:sp>
        <p:nvSpPr>
          <p:cNvPr id="19" name="Shape 17"/>
          <p:cNvSpPr/>
          <p:nvPr/>
        </p:nvSpPr>
        <p:spPr>
          <a:xfrm>
            <a:off x="990600" y="5460653"/>
            <a:ext cx="3763045" cy="9525"/>
          </a:xfrm>
          <a:prstGeom prst="rect">
            <a:avLst/>
          </a:prstGeom>
          <a:solidFill>
            <a:srgbClr val="FFFFFF">
              <a:alpha val="13000"/>
            </a:srgbClr>
          </a:solidFill>
          <a:ln/>
        </p:spPr>
      </p:sp>
      <p:sp>
        <p:nvSpPr>
          <p:cNvPr id="20" name="Text 18"/>
          <p:cNvSpPr/>
          <p:nvPr/>
        </p:nvSpPr>
        <p:spPr>
          <a:xfrm>
            <a:off x="1200150" y="5651153"/>
            <a:ext cx="3456836"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M4</a:t>
            </a:r>
            <a:endParaRPr lang="en-US" sz="1875" dirty="0"/>
          </a:p>
        </p:txBody>
      </p:sp>
      <p:sp>
        <p:nvSpPr>
          <p:cNvPr id="21" name="Shape 19"/>
          <p:cNvSpPr/>
          <p:nvPr/>
        </p:nvSpPr>
        <p:spPr>
          <a:xfrm>
            <a:off x="4753645" y="5460653"/>
            <a:ext cx="12543755" cy="9525"/>
          </a:xfrm>
          <a:prstGeom prst="rect">
            <a:avLst/>
          </a:prstGeom>
          <a:solidFill>
            <a:srgbClr val="FFFFFF">
              <a:alpha val="13000"/>
            </a:srgbClr>
          </a:solidFill>
          <a:ln/>
        </p:spPr>
      </p:sp>
      <p:sp>
        <p:nvSpPr>
          <p:cNvPr id="22" name="Text 20"/>
          <p:cNvSpPr/>
          <p:nvPr/>
        </p:nvSpPr>
        <p:spPr>
          <a:xfrm>
            <a:off x="4963195" y="5651153"/>
            <a:ext cx="12500968"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LLM04 </a:t>
            </a:r>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Data &amp; Model Poisoning + </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LLM03 </a:t>
            </a:r>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Supply Chain</a:t>
            </a:r>
            <a:endParaRPr lang="en-US" sz="1875" dirty="0"/>
          </a:p>
        </p:txBody>
      </p:sp>
      <p:sp>
        <p:nvSpPr>
          <p:cNvPr id="23" name="Shape 21"/>
          <p:cNvSpPr/>
          <p:nvPr/>
        </p:nvSpPr>
        <p:spPr>
          <a:xfrm>
            <a:off x="990600" y="6153596"/>
            <a:ext cx="3763045" cy="9525"/>
          </a:xfrm>
          <a:prstGeom prst="rect">
            <a:avLst/>
          </a:prstGeom>
          <a:solidFill>
            <a:srgbClr val="FFFFFF">
              <a:alpha val="13000"/>
            </a:srgbClr>
          </a:solidFill>
          <a:ln/>
        </p:spPr>
      </p:sp>
      <p:sp>
        <p:nvSpPr>
          <p:cNvPr id="24" name="Text 22"/>
          <p:cNvSpPr/>
          <p:nvPr/>
        </p:nvSpPr>
        <p:spPr>
          <a:xfrm>
            <a:off x="1200150" y="6344096"/>
            <a:ext cx="3456836"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M5</a:t>
            </a:r>
            <a:endParaRPr lang="en-US" sz="1875" dirty="0"/>
          </a:p>
        </p:txBody>
      </p:sp>
      <p:sp>
        <p:nvSpPr>
          <p:cNvPr id="25" name="Shape 23"/>
          <p:cNvSpPr/>
          <p:nvPr/>
        </p:nvSpPr>
        <p:spPr>
          <a:xfrm>
            <a:off x="4753645" y="6153596"/>
            <a:ext cx="12543755" cy="9525"/>
          </a:xfrm>
          <a:prstGeom prst="rect">
            <a:avLst/>
          </a:prstGeom>
          <a:solidFill>
            <a:srgbClr val="FFFFFF">
              <a:alpha val="13000"/>
            </a:srgbClr>
          </a:solidFill>
          <a:ln/>
        </p:spPr>
      </p:sp>
      <p:sp>
        <p:nvSpPr>
          <p:cNvPr id="26" name="Text 24"/>
          <p:cNvSpPr/>
          <p:nvPr/>
        </p:nvSpPr>
        <p:spPr>
          <a:xfrm>
            <a:off x="4963195" y="6344096"/>
            <a:ext cx="12500968"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LLM06 </a:t>
            </a:r>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Excessive Agency</a:t>
            </a:r>
            <a:endParaRPr lang="en-US" sz="1875" dirty="0"/>
          </a:p>
        </p:txBody>
      </p:sp>
      <p:sp>
        <p:nvSpPr>
          <p:cNvPr id="27" name="Shape 25"/>
          <p:cNvSpPr/>
          <p:nvPr/>
        </p:nvSpPr>
        <p:spPr>
          <a:xfrm>
            <a:off x="990600" y="6846540"/>
            <a:ext cx="3763045" cy="692944"/>
          </a:xfrm>
          <a:prstGeom prst="rect">
            <a:avLst/>
          </a:prstGeom>
          <a:solidFill>
            <a:srgbClr val="FD7EF5">
              <a:alpha val="7000"/>
            </a:srgbClr>
          </a:solidFill>
          <a:ln/>
        </p:spPr>
      </p:sp>
      <p:sp>
        <p:nvSpPr>
          <p:cNvPr id="28" name="Shape 26"/>
          <p:cNvSpPr/>
          <p:nvPr/>
        </p:nvSpPr>
        <p:spPr>
          <a:xfrm>
            <a:off x="990600" y="6846540"/>
            <a:ext cx="3763045" cy="9525"/>
          </a:xfrm>
          <a:prstGeom prst="rect">
            <a:avLst/>
          </a:prstGeom>
          <a:solidFill>
            <a:srgbClr val="FFFFFF">
              <a:alpha val="13000"/>
            </a:srgbClr>
          </a:solidFill>
          <a:ln/>
        </p:spPr>
      </p:sp>
      <p:sp>
        <p:nvSpPr>
          <p:cNvPr id="29" name="Text 27"/>
          <p:cNvSpPr/>
          <p:nvPr/>
        </p:nvSpPr>
        <p:spPr>
          <a:xfrm>
            <a:off x="1200150" y="7037040"/>
            <a:ext cx="3456836"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M6</a:t>
            </a:r>
            <a:endParaRPr lang="en-US" sz="1875" dirty="0"/>
          </a:p>
        </p:txBody>
      </p:sp>
      <p:sp>
        <p:nvSpPr>
          <p:cNvPr id="30" name="Shape 28"/>
          <p:cNvSpPr/>
          <p:nvPr/>
        </p:nvSpPr>
        <p:spPr>
          <a:xfrm>
            <a:off x="4753645" y="6846540"/>
            <a:ext cx="12543755" cy="692944"/>
          </a:xfrm>
          <a:prstGeom prst="rect">
            <a:avLst/>
          </a:prstGeom>
          <a:solidFill>
            <a:srgbClr val="FD7EF5">
              <a:alpha val="7000"/>
            </a:srgbClr>
          </a:solidFill>
          <a:ln/>
        </p:spPr>
      </p:sp>
      <p:sp>
        <p:nvSpPr>
          <p:cNvPr id="31" name="Shape 29"/>
          <p:cNvSpPr/>
          <p:nvPr/>
        </p:nvSpPr>
        <p:spPr>
          <a:xfrm>
            <a:off x="4753645" y="6846540"/>
            <a:ext cx="12543755" cy="9525"/>
          </a:xfrm>
          <a:prstGeom prst="rect">
            <a:avLst/>
          </a:prstGeom>
          <a:solidFill>
            <a:srgbClr val="FFFFFF">
              <a:alpha val="13000"/>
            </a:srgbClr>
          </a:solidFill>
          <a:ln/>
        </p:spPr>
      </p:sp>
      <p:sp>
        <p:nvSpPr>
          <p:cNvPr id="32" name="Text 30"/>
          <p:cNvSpPr/>
          <p:nvPr/>
        </p:nvSpPr>
        <p:spPr>
          <a:xfrm>
            <a:off x="4963195" y="7037040"/>
            <a:ext cx="12500968"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LLM06 + LLM01 </a:t>
            </a:r>
            <a:pPr algn="l" indent="0" marL="0">
              <a:lnSpc>
                <a:spcPct val="116379"/>
              </a:lnSpc>
              <a:buNone/>
            </a:pPr>
            <a:r>
              <a:rPr lang="en-US" sz="1875" dirty="0">
                <a:solidFill>
                  <a:srgbClr val="C8C8C8"/>
                </a:solidFill>
                <a:highlight>
                  <a:srgbClr val="FFF6FE"/>
                </a:highlight>
                <a:latin typeface="Arial" pitchFamily="34" charset="0"/>
                <a:ea typeface="Arial" pitchFamily="34" charset="-122"/>
                <a:cs typeface="Arial" pitchFamily="34" charset="-120"/>
              </a:rPr>
              <a:t>— agentic, via tool metadata</a:t>
            </a:r>
            <a:endParaRPr lang="en-US" sz="1875" dirty="0"/>
          </a:p>
        </p:txBody>
      </p:sp>
      <p:sp>
        <p:nvSpPr>
          <p:cNvPr id="33" name="Shape 31"/>
          <p:cNvSpPr/>
          <p:nvPr/>
        </p:nvSpPr>
        <p:spPr>
          <a:xfrm>
            <a:off x="990600" y="7539484"/>
            <a:ext cx="3763045" cy="692944"/>
          </a:xfrm>
          <a:prstGeom prst="rect">
            <a:avLst/>
          </a:prstGeom>
          <a:solidFill>
            <a:srgbClr val="FD7EF5">
              <a:alpha val="7000"/>
            </a:srgbClr>
          </a:solidFill>
          <a:ln/>
        </p:spPr>
      </p:sp>
      <p:sp>
        <p:nvSpPr>
          <p:cNvPr id="34" name="Shape 32"/>
          <p:cNvSpPr/>
          <p:nvPr/>
        </p:nvSpPr>
        <p:spPr>
          <a:xfrm>
            <a:off x="990600" y="7539484"/>
            <a:ext cx="3763045" cy="9525"/>
          </a:xfrm>
          <a:prstGeom prst="rect">
            <a:avLst/>
          </a:prstGeom>
          <a:solidFill>
            <a:srgbClr val="FFFFFF">
              <a:alpha val="13000"/>
            </a:srgbClr>
          </a:solidFill>
          <a:ln/>
        </p:spPr>
      </p:sp>
      <p:sp>
        <p:nvSpPr>
          <p:cNvPr id="35" name="Text 33"/>
          <p:cNvSpPr/>
          <p:nvPr/>
        </p:nvSpPr>
        <p:spPr>
          <a:xfrm>
            <a:off x="1200150" y="7729984"/>
            <a:ext cx="3456836"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M7</a:t>
            </a:r>
            <a:endParaRPr lang="en-US" sz="1875" dirty="0"/>
          </a:p>
        </p:txBody>
      </p:sp>
      <p:sp>
        <p:nvSpPr>
          <p:cNvPr id="36" name="Shape 34"/>
          <p:cNvSpPr/>
          <p:nvPr/>
        </p:nvSpPr>
        <p:spPr>
          <a:xfrm>
            <a:off x="4753645" y="7539484"/>
            <a:ext cx="12543755" cy="692944"/>
          </a:xfrm>
          <a:prstGeom prst="rect">
            <a:avLst/>
          </a:prstGeom>
          <a:solidFill>
            <a:srgbClr val="FD7EF5">
              <a:alpha val="7000"/>
            </a:srgbClr>
          </a:solidFill>
          <a:ln/>
        </p:spPr>
      </p:sp>
      <p:sp>
        <p:nvSpPr>
          <p:cNvPr id="37" name="Shape 35"/>
          <p:cNvSpPr/>
          <p:nvPr/>
        </p:nvSpPr>
        <p:spPr>
          <a:xfrm>
            <a:off x="4753645" y="7539484"/>
            <a:ext cx="12543755" cy="9525"/>
          </a:xfrm>
          <a:prstGeom prst="rect">
            <a:avLst/>
          </a:prstGeom>
          <a:solidFill>
            <a:srgbClr val="FFFFFF">
              <a:alpha val="13000"/>
            </a:srgbClr>
          </a:solidFill>
          <a:ln/>
        </p:spPr>
      </p:sp>
      <p:sp>
        <p:nvSpPr>
          <p:cNvPr id="38" name="Text 36"/>
          <p:cNvSpPr/>
          <p:nvPr/>
        </p:nvSpPr>
        <p:spPr>
          <a:xfrm>
            <a:off x="4963195" y="7729984"/>
            <a:ext cx="12500968"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LLM01 + LLM06 </a:t>
            </a:r>
            <a:pPr algn="l" indent="0" marL="0">
              <a:lnSpc>
                <a:spcPct val="116379"/>
              </a:lnSpc>
              <a:buNone/>
            </a:pPr>
            <a:r>
              <a:rPr lang="en-US" sz="1875" dirty="0">
                <a:solidFill>
                  <a:srgbClr val="C8C8C8"/>
                </a:solidFill>
                <a:highlight>
                  <a:srgbClr val="FFF6FE"/>
                </a:highlight>
                <a:latin typeface="Arial" pitchFamily="34" charset="0"/>
                <a:ea typeface="Arial" pitchFamily="34" charset="-122"/>
                <a:cs typeface="Arial" pitchFamily="34" charset="-120"/>
              </a:rPr>
              <a:t>— cascading, agentic</a:t>
            </a:r>
            <a:endParaRPr lang="en-US" sz="1875" dirty="0"/>
          </a:p>
        </p:txBody>
      </p:sp>
      <p:sp>
        <p:nvSpPr>
          <p:cNvPr id="39" name="Shape 37"/>
          <p:cNvSpPr/>
          <p:nvPr/>
        </p:nvSpPr>
        <p:spPr>
          <a:xfrm>
            <a:off x="990600" y="8232428"/>
            <a:ext cx="3763045" cy="9525"/>
          </a:xfrm>
          <a:prstGeom prst="rect">
            <a:avLst/>
          </a:prstGeom>
          <a:solidFill>
            <a:srgbClr val="FFFFFF">
              <a:alpha val="13000"/>
            </a:srgbClr>
          </a:solidFill>
          <a:ln/>
        </p:spPr>
      </p:sp>
      <p:sp>
        <p:nvSpPr>
          <p:cNvPr id="40" name="Text 38"/>
          <p:cNvSpPr/>
          <p:nvPr/>
        </p:nvSpPr>
        <p:spPr>
          <a:xfrm>
            <a:off x="1200150" y="8422928"/>
            <a:ext cx="3456836"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M8</a:t>
            </a:r>
            <a:endParaRPr lang="en-US" sz="1875" dirty="0"/>
          </a:p>
        </p:txBody>
      </p:sp>
      <p:sp>
        <p:nvSpPr>
          <p:cNvPr id="41" name="Shape 39"/>
          <p:cNvSpPr/>
          <p:nvPr/>
        </p:nvSpPr>
        <p:spPr>
          <a:xfrm>
            <a:off x="4753645" y="8232428"/>
            <a:ext cx="12543755" cy="9525"/>
          </a:xfrm>
          <a:prstGeom prst="rect">
            <a:avLst/>
          </a:prstGeom>
          <a:solidFill>
            <a:srgbClr val="FFFFFF">
              <a:alpha val="13000"/>
            </a:srgbClr>
          </a:solidFill>
          <a:ln/>
        </p:spPr>
      </p:sp>
      <p:sp>
        <p:nvSpPr>
          <p:cNvPr id="42" name="Text 40"/>
          <p:cNvSpPr/>
          <p:nvPr/>
        </p:nvSpPr>
        <p:spPr>
          <a:xfrm>
            <a:off x="4963195" y="8422928"/>
            <a:ext cx="12500968"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LLM01 defenses </a:t>
            </a:r>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 the whole-stack picture</a:t>
            </a:r>
            <a:endParaRPr lang="en-US" sz="1875" dirty="0"/>
          </a:p>
        </p:txBody>
      </p:sp>
      <p:pic>
        <p:nvPicPr>
          <p:cNvPr id="43"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44" name="Text 41"/>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CLOSING · ADVERSARIAL AI</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975545"/>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ONE OLD BUG</a:t>
            </a:r>
            <a:endParaRPr lang="en-US" sz="1500" dirty="0"/>
          </a:p>
        </p:txBody>
      </p:sp>
      <p:sp>
        <p:nvSpPr>
          <p:cNvPr id="3" name="Text 1"/>
          <p:cNvSpPr/>
          <p:nvPr/>
        </p:nvSpPr>
        <p:spPr>
          <a:xfrm>
            <a:off x="990600" y="2380357"/>
            <a:ext cx="16796004" cy="1341090"/>
          </a:xfrm>
          <a:prstGeom prst="rect">
            <a:avLst/>
          </a:prstGeom>
          <a:noFill/>
          <a:ln/>
        </p:spPr>
        <p:txBody>
          <a:bodyPr wrap="square" lIns="25400" tIns="25400" rIns="25400" bIns="25400" rtlCol="0" anchor="t">
            <a:normAutofit/>
          </a:bodyPr>
          <a:lstStyle/>
          <a:p>
            <a:pPr algn="l" indent="0" marL="0">
              <a:lnSpc>
                <a:spcPct val="78171"/>
              </a:lnSpc>
              <a:buNone/>
            </a:pPr>
            <a:r>
              <a:rPr lang="en-US" sz="5700" b="1" dirty="0">
                <a:solidFill>
                  <a:srgbClr val="FFFFFF"/>
                </a:solidFill>
                <a:latin typeface="Arial" pitchFamily="34" charset="0"/>
                <a:ea typeface="Arial" pitchFamily="34" charset="-122"/>
                <a:cs typeface="Arial" pitchFamily="34" charset="-120"/>
              </a:rPr>
              <a:t>M5 · M6 · M7 ARE ONE OLD BUG</a:t>
            </a:r>
            <a:endParaRPr lang="en-US" sz="5700" dirty="0"/>
          </a:p>
        </p:txBody>
      </p:sp>
      <p:sp>
        <p:nvSpPr>
          <p:cNvPr id="4" name="Text 2"/>
          <p:cNvSpPr/>
          <p:nvPr/>
        </p:nvSpPr>
        <p:spPr>
          <a:xfrm>
            <a:off x="990600" y="4102447"/>
            <a:ext cx="17811750" cy="457200"/>
          </a:xfrm>
          <a:prstGeom prst="rect">
            <a:avLst/>
          </a:prstGeom>
          <a:noFill/>
          <a:ln/>
        </p:spPr>
        <p:txBody>
          <a:bodyPr wrap="square" lIns="25400" tIns="25400" rIns="25400" bIns="25400" rtlCol="0" anchor="t">
            <a:normAutofit/>
          </a:bodyPr>
          <a:lstStyle/>
          <a:p>
            <a:pPr algn="l" indent="0" marL="0">
              <a:lnSpc>
                <a:spcPct val="126087"/>
              </a:lnSpc>
              <a:buNone/>
            </a:pPr>
            <a:r>
              <a:rPr lang="en-US" sz="2250" b="1" dirty="0">
                <a:solidFill>
                  <a:srgbClr val="C8C8C8"/>
                </a:solidFill>
                <a:latin typeface="Arial" pitchFamily="34" charset="0"/>
                <a:ea typeface="Arial" pitchFamily="34" charset="-122"/>
                <a:cs typeface="Arial" pitchFamily="34" charset="-120"/>
              </a:rPr>
              <a:t>Confused deputy </a:t>
            </a:r>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 a privileged program is tricked by a less-privileged party into misusing its authority.</a:t>
            </a:r>
            <a:endParaRPr lang="en-US" sz="2250" dirty="0"/>
          </a:p>
        </p:txBody>
      </p:sp>
      <p:sp>
        <p:nvSpPr>
          <p:cNvPr id="5" name="Shape 3"/>
          <p:cNvSpPr/>
          <p:nvPr/>
        </p:nvSpPr>
        <p:spPr>
          <a:xfrm>
            <a:off x="990600" y="7135118"/>
            <a:ext cx="5219700" cy="9525"/>
          </a:xfrm>
          <a:prstGeom prst="rect">
            <a:avLst/>
          </a:prstGeom>
          <a:solidFill>
            <a:srgbClr val="36CDFF">
              <a:alpha val="45000"/>
            </a:srgbClr>
          </a:solidFill>
          <a:ln/>
        </p:spPr>
      </p:sp>
      <p:sp>
        <p:nvSpPr>
          <p:cNvPr id="6" name="Shape 4"/>
          <p:cNvSpPr/>
          <p:nvPr/>
        </p:nvSpPr>
        <p:spPr>
          <a:xfrm>
            <a:off x="990600" y="4883497"/>
            <a:ext cx="5219700" cy="38100"/>
          </a:xfrm>
          <a:prstGeom prst="rect">
            <a:avLst/>
          </a:prstGeom>
          <a:solidFill>
            <a:srgbClr val="36CDFF"/>
          </a:solidFill>
          <a:ln/>
        </p:spPr>
      </p:sp>
      <p:sp>
        <p:nvSpPr>
          <p:cNvPr id="7" name="Shape 5"/>
          <p:cNvSpPr/>
          <p:nvPr/>
        </p:nvSpPr>
        <p:spPr>
          <a:xfrm>
            <a:off x="990600" y="4883497"/>
            <a:ext cx="9525" cy="2261146"/>
          </a:xfrm>
          <a:prstGeom prst="rect">
            <a:avLst/>
          </a:prstGeom>
          <a:solidFill>
            <a:srgbClr val="36CDFF">
              <a:alpha val="45000"/>
            </a:srgbClr>
          </a:solidFill>
          <a:ln/>
        </p:spPr>
      </p:sp>
      <p:sp>
        <p:nvSpPr>
          <p:cNvPr id="8" name="Shape 6"/>
          <p:cNvSpPr/>
          <p:nvPr/>
        </p:nvSpPr>
        <p:spPr>
          <a:xfrm>
            <a:off x="6200775" y="4883497"/>
            <a:ext cx="9525" cy="2261146"/>
          </a:xfrm>
          <a:prstGeom prst="rect">
            <a:avLst/>
          </a:prstGeom>
          <a:solidFill>
            <a:srgbClr val="36CDFF">
              <a:alpha val="45000"/>
            </a:srgbClr>
          </a:solidFill>
          <a:ln/>
        </p:spPr>
      </p:sp>
      <p:sp>
        <p:nvSpPr>
          <p:cNvPr id="9" name="Text 7"/>
          <p:cNvSpPr/>
          <p:nvPr/>
        </p:nvSpPr>
        <p:spPr>
          <a:xfrm>
            <a:off x="1343025" y="5264497"/>
            <a:ext cx="4966335" cy="242888"/>
          </a:xfrm>
          <a:prstGeom prst="rect">
            <a:avLst/>
          </a:prstGeom>
          <a:noFill/>
          <a:ln/>
        </p:spPr>
        <p:txBody>
          <a:bodyPr wrap="square" lIns="25400" tIns="25400" rIns="25400" bIns="25400" rtlCol="0" anchor="t">
            <a:normAutofit/>
          </a:bodyPr>
          <a:lstStyle/>
          <a:p>
            <a:pPr algn="l" indent="0" marL="0">
              <a:buNone/>
            </a:pPr>
            <a:r>
              <a:rPr lang="en-US" sz="1200" spc="168" kern="0" dirty="0">
                <a:solidFill>
                  <a:srgbClr val="36CDFF"/>
                </a:solidFill>
                <a:latin typeface="Courier New" pitchFamily="34" charset="0"/>
                <a:ea typeface="Courier New" pitchFamily="34" charset="-122"/>
                <a:cs typeface="Courier New" pitchFamily="34" charset="-120"/>
              </a:rPr>
              <a:t>M5 · DIRECT</a:t>
            </a:r>
            <a:endParaRPr lang="en-US" sz="1200" dirty="0"/>
          </a:p>
        </p:txBody>
      </p:sp>
      <p:sp>
        <p:nvSpPr>
          <p:cNvPr id="10" name="Text 8"/>
          <p:cNvSpPr/>
          <p:nvPr/>
        </p:nvSpPr>
        <p:spPr>
          <a:xfrm>
            <a:off x="1343025" y="5583585"/>
            <a:ext cx="4966335" cy="388590"/>
          </a:xfrm>
          <a:prstGeom prst="rect">
            <a:avLst/>
          </a:prstGeom>
          <a:noFill/>
          <a:ln/>
        </p:spPr>
        <p:txBody>
          <a:bodyPr wrap="square" lIns="25400" tIns="25400" rIns="25400" bIns="25400" rtlCol="0" anchor="t">
            <a:normAutofit/>
          </a:bodyPr>
          <a:lstStyle/>
          <a:p>
            <a:pPr algn="l" indent="0" marL="0">
              <a:lnSpc>
                <a:spcPct val="80000"/>
              </a:lnSpc>
              <a:buNone/>
            </a:pPr>
            <a:r>
              <a:rPr lang="en-US" sz="3000" dirty="0">
                <a:solidFill>
                  <a:srgbClr val="36CDFF"/>
                </a:solidFill>
                <a:latin typeface="Arial" pitchFamily="34" charset="0"/>
                <a:ea typeface="Arial" pitchFamily="34" charset="-122"/>
                <a:cs typeface="Arial" pitchFamily="34" charset="-120"/>
              </a:rPr>
              <a:t>YOU ASK</a:t>
            </a:r>
            <a:endParaRPr lang="en-US" sz="3000" dirty="0"/>
          </a:p>
        </p:txBody>
      </p:sp>
      <p:sp>
        <p:nvSpPr>
          <p:cNvPr id="11" name="Text 9"/>
          <p:cNvSpPr/>
          <p:nvPr/>
        </p:nvSpPr>
        <p:spPr>
          <a:xfrm>
            <a:off x="1343025" y="6124575"/>
            <a:ext cx="4650296" cy="700980"/>
          </a:xfrm>
          <a:prstGeom prst="rect">
            <a:avLst/>
          </a:prstGeom>
          <a:noFill/>
          <a:ln/>
        </p:spPr>
        <p:txBody>
          <a:bodyPr wrap="square" lIns="25400" tIns="25400" rIns="25400" bIns="25400" rtlCol="0" anchor="t">
            <a:normAutofit/>
          </a:bodyPr>
          <a:lstStyle/>
          <a:p>
            <a:pPr algn="l" indent="0" marL="0">
              <a:lnSpc>
                <a:spcPct val="126545"/>
              </a:lnSpc>
              <a:buNone/>
            </a:pPr>
            <a:r>
              <a:rPr lang="en-US" sz="1800" dirty="0">
                <a:solidFill>
                  <a:srgbClr val="C8C8C8"/>
                </a:solidFill>
                <a:latin typeface="Arial" pitchFamily="34" charset="0"/>
                <a:ea typeface="Arial" pitchFamily="34" charset="-122"/>
                <a:cs typeface="Arial" pitchFamily="34" charset="-120"/>
              </a:rPr>
              <a:t>You ask the agent to move money → it does. It has the privilege; you don’t.</a:t>
            </a:r>
            <a:endParaRPr lang="en-US" sz="1800" dirty="0"/>
          </a:p>
        </p:txBody>
      </p:sp>
      <p:sp>
        <p:nvSpPr>
          <p:cNvPr id="12" name="Shape 10"/>
          <p:cNvSpPr/>
          <p:nvPr/>
        </p:nvSpPr>
        <p:spPr>
          <a:xfrm>
            <a:off x="6534150" y="7135118"/>
            <a:ext cx="5219700" cy="9525"/>
          </a:xfrm>
          <a:prstGeom prst="rect">
            <a:avLst/>
          </a:prstGeom>
          <a:solidFill>
            <a:srgbClr val="FD7EF5">
              <a:alpha val="45000"/>
            </a:srgbClr>
          </a:solidFill>
          <a:ln/>
        </p:spPr>
      </p:sp>
      <p:sp>
        <p:nvSpPr>
          <p:cNvPr id="13" name="Shape 11"/>
          <p:cNvSpPr/>
          <p:nvPr/>
        </p:nvSpPr>
        <p:spPr>
          <a:xfrm>
            <a:off x="6534150" y="4883497"/>
            <a:ext cx="5219700" cy="38100"/>
          </a:xfrm>
          <a:prstGeom prst="rect">
            <a:avLst/>
          </a:prstGeom>
          <a:solidFill>
            <a:srgbClr val="FD7EF5"/>
          </a:solidFill>
          <a:ln/>
        </p:spPr>
      </p:sp>
      <p:sp>
        <p:nvSpPr>
          <p:cNvPr id="14" name="Shape 12"/>
          <p:cNvSpPr/>
          <p:nvPr/>
        </p:nvSpPr>
        <p:spPr>
          <a:xfrm>
            <a:off x="6534150" y="4883497"/>
            <a:ext cx="9525" cy="2261146"/>
          </a:xfrm>
          <a:prstGeom prst="rect">
            <a:avLst/>
          </a:prstGeom>
          <a:solidFill>
            <a:srgbClr val="FD7EF5">
              <a:alpha val="45000"/>
            </a:srgbClr>
          </a:solidFill>
          <a:ln/>
        </p:spPr>
      </p:sp>
      <p:sp>
        <p:nvSpPr>
          <p:cNvPr id="15" name="Shape 13"/>
          <p:cNvSpPr/>
          <p:nvPr/>
        </p:nvSpPr>
        <p:spPr>
          <a:xfrm>
            <a:off x="11744325" y="4883497"/>
            <a:ext cx="9525" cy="2261146"/>
          </a:xfrm>
          <a:prstGeom prst="rect">
            <a:avLst/>
          </a:prstGeom>
          <a:solidFill>
            <a:srgbClr val="FD7EF5">
              <a:alpha val="45000"/>
            </a:srgbClr>
          </a:solidFill>
          <a:ln/>
        </p:spPr>
      </p:sp>
      <p:sp>
        <p:nvSpPr>
          <p:cNvPr id="16" name="Text 14"/>
          <p:cNvSpPr/>
          <p:nvPr/>
        </p:nvSpPr>
        <p:spPr>
          <a:xfrm>
            <a:off x="6886575" y="5264497"/>
            <a:ext cx="4966335" cy="242888"/>
          </a:xfrm>
          <a:prstGeom prst="rect">
            <a:avLst/>
          </a:prstGeom>
          <a:noFill/>
          <a:ln/>
        </p:spPr>
        <p:txBody>
          <a:bodyPr wrap="square" lIns="25400" tIns="25400" rIns="25400" bIns="25400" rtlCol="0" anchor="t">
            <a:normAutofit/>
          </a:bodyPr>
          <a:lstStyle/>
          <a:p>
            <a:pPr algn="l" indent="0" marL="0">
              <a:buNone/>
            </a:pPr>
            <a:r>
              <a:rPr lang="en-US" sz="1200" spc="168" kern="0" dirty="0">
                <a:solidFill>
                  <a:srgbClr val="FD7EF5"/>
                </a:solidFill>
                <a:latin typeface="Courier New" pitchFamily="34" charset="0"/>
                <a:ea typeface="Courier New" pitchFamily="34" charset="-122"/>
                <a:cs typeface="Courier New" pitchFamily="34" charset="-120"/>
              </a:rPr>
              <a:t>M6 · METADATA</a:t>
            </a:r>
            <a:endParaRPr lang="en-US" sz="1200" dirty="0"/>
          </a:p>
        </p:txBody>
      </p:sp>
      <p:sp>
        <p:nvSpPr>
          <p:cNvPr id="17" name="Text 15"/>
          <p:cNvSpPr/>
          <p:nvPr/>
        </p:nvSpPr>
        <p:spPr>
          <a:xfrm>
            <a:off x="6886575" y="5583585"/>
            <a:ext cx="4966335" cy="388590"/>
          </a:xfrm>
          <a:prstGeom prst="rect">
            <a:avLst/>
          </a:prstGeom>
          <a:noFill/>
          <a:ln/>
        </p:spPr>
        <p:txBody>
          <a:bodyPr wrap="square" lIns="25400" tIns="25400" rIns="25400" bIns="25400" rtlCol="0" anchor="t">
            <a:normAutofit/>
          </a:bodyPr>
          <a:lstStyle/>
          <a:p>
            <a:pPr algn="l" indent="0" marL="0">
              <a:lnSpc>
                <a:spcPct val="80000"/>
              </a:lnSpc>
              <a:buNone/>
            </a:pPr>
            <a:r>
              <a:rPr lang="en-US" sz="3000" dirty="0">
                <a:solidFill>
                  <a:srgbClr val="FD7EF5"/>
                </a:solidFill>
                <a:latin typeface="Arial" pitchFamily="34" charset="0"/>
                <a:ea typeface="Arial" pitchFamily="34" charset="-122"/>
                <a:cs typeface="Arial" pitchFamily="34" charset="-120"/>
              </a:rPr>
              <a:t>A TOOL ASKS</a:t>
            </a:r>
            <a:endParaRPr lang="en-US" sz="3000" dirty="0"/>
          </a:p>
        </p:txBody>
      </p:sp>
      <p:sp>
        <p:nvSpPr>
          <p:cNvPr id="18" name="Text 16"/>
          <p:cNvSpPr/>
          <p:nvPr/>
        </p:nvSpPr>
        <p:spPr>
          <a:xfrm>
            <a:off x="6886575" y="6124575"/>
            <a:ext cx="4650296" cy="705743"/>
          </a:xfrm>
          <a:prstGeom prst="rect">
            <a:avLst/>
          </a:prstGeom>
          <a:noFill/>
          <a:ln/>
        </p:spPr>
        <p:txBody>
          <a:bodyPr wrap="square" lIns="25400" tIns="25400" rIns="25400" bIns="25400" rtlCol="0" anchor="t">
            <a:normAutofit/>
          </a:bodyPr>
          <a:lstStyle/>
          <a:p>
            <a:pPr algn="l" indent="0" marL="0">
              <a:lnSpc>
                <a:spcPct val="126545"/>
              </a:lnSpc>
              <a:buNone/>
            </a:pPr>
            <a:r>
              <a:rPr lang="en-US" sz="1800" dirty="0">
                <a:solidFill>
                  <a:srgbClr val="C8C8C8"/>
                </a:solidFill>
                <a:latin typeface="Arial" pitchFamily="34" charset="0"/>
                <a:ea typeface="Arial" pitchFamily="34" charset="-122"/>
                <a:cs typeface="Arial" pitchFamily="34" charset="-120"/>
              </a:rPr>
              <a:t>A poisoned </a:t>
            </a:r>
            <a:pPr algn="l" indent="0" marL="0">
              <a:lnSpc>
                <a:spcPct val="126545"/>
              </a:lnSpc>
              <a:buNone/>
            </a:pPr>
            <a:r>
              <a:rPr lang="en-US" sz="1800" b="1" dirty="0">
                <a:solidFill>
                  <a:srgbClr val="C8C8C8"/>
                </a:solidFill>
                <a:latin typeface="Arial" pitchFamily="34" charset="0"/>
                <a:ea typeface="Arial" pitchFamily="34" charset="-122"/>
                <a:cs typeface="Arial" pitchFamily="34" charset="-120"/>
              </a:rPr>
              <a:t>tool description </a:t>
            </a:r>
            <a:pPr algn="l" indent="0" marL="0">
              <a:lnSpc>
                <a:spcPct val="126545"/>
              </a:lnSpc>
              <a:buNone/>
            </a:pPr>
            <a:r>
              <a:rPr lang="en-US" sz="1800" dirty="0">
                <a:solidFill>
                  <a:srgbClr val="C8C8C8"/>
                </a:solidFill>
                <a:latin typeface="Arial" pitchFamily="34" charset="0"/>
                <a:ea typeface="Arial" pitchFamily="34" charset="-122"/>
                <a:cs typeface="Arial" pitchFamily="34" charset="-120"/>
              </a:rPr>
              <a:t>asks it for you — untrusted metadata read as instructions.</a:t>
            </a:r>
            <a:endParaRPr lang="en-US" sz="1800" dirty="0"/>
          </a:p>
        </p:txBody>
      </p:sp>
      <p:sp>
        <p:nvSpPr>
          <p:cNvPr id="19" name="Shape 17"/>
          <p:cNvSpPr/>
          <p:nvPr/>
        </p:nvSpPr>
        <p:spPr>
          <a:xfrm>
            <a:off x="12077700" y="7135118"/>
            <a:ext cx="5219700" cy="9525"/>
          </a:xfrm>
          <a:prstGeom prst="rect">
            <a:avLst/>
          </a:prstGeom>
          <a:solidFill>
            <a:srgbClr val="FD7EF5">
              <a:alpha val="45000"/>
            </a:srgbClr>
          </a:solidFill>
          <a:ln/>
        </p:spPr>
      </p:sp>
      <p:sp>
        <p:nvSpPr>
          <p:cNvPr id="20" name="Shape 18"/>
          <p:cNvSpPr/>
          <p:nvPr/>
        </p:nvSpPr>
        <p:spPr>
          <a:xfrm>
            <a:off x="12077700" y="4883497"/>
            <a:ext cx="5219700" cy="38100"/>
          </a:xfrm>
          <a:prstGeom prst="rect">
            <a:avLst/>
          </a:prstGeom>
          <a:solidFill>
            <a:srgbClr val="FD7EF5"/>
          </a:solidFill>
          <a:ln/>
        </p:spPr>
      </p:sp>
      <p:sp>
        <p:nvSpPr>
          <p:cNvPr id="21" name="Shape 19"/>
          <p:cNvSpPr/>
          <p:nvPr/>
        </p:nvSpPr>
        <p:spPr>
          <a:xfrm>
            <a:off x="12077700" y="4883497"/>
            <a:ext cx="9525" cy="2261146"/>
          </a:xfrm>
          <a:prstGeom prst="rect">
            <a:avLst/>
          </a:prstGeom>
          <a:solidFill>
            <a:srgbClr val="FD7EF5">
              <a:alpha val="45000"/>
            </a:srgbClr>
          </a:solidFill>
          <a:ln/>
        </p:spPr>
      </p:sp>
      <p:sp>
        <p:nvSpPr>
          <p:cNvPr id="22" name="Shape 20"/>
          <p:cNvSpPr/>
          <p:nvPr/>
        </p:nvSpPr>
        <p:spPr>
          <a:xfrm>
            <a:off x="17287875" y="4883497"/>
            <a:ext cx="9525" cy="2261146"/>
          </a:xfrm>
          <a:prstGeom prst="rect">
            <a:avLst/>
          </a:prstGeom>
          <a:solidFill>
            <a:srgbClr val="FD7EF5">
              <a:alpha val="45000"/>
            </a:srgbClr>
          </a:solidFill>
          <a:ln/>
        </p:spPr>
      </p:sp>
      <p:sp>
        <p:nvSpPr>
          <p:cNvPr id="23" name="Text 21"/>
          <p:cNvSpPr/>
          <p:nvPr/>
        </p:nvSpPr>
        <p:spPr>
          <a:xfrm>
            <a:off x="12430125" y="5264497"/>
            <a:ext cx="4966335" cy="242888"/>
          </a:xfrm>
          <a:prstGeom prst="rect">
            <a:avLst/>
          </a:prstGeom>
          <a:noFill/>
          <a:ln/>
        </p:spPr>
        <p:txBody>
          <a:bodyPr wrap="square" lIns="25400" tIns="25400" rIns="25400" bIns="25400" rtlCol="0" anchor="t">
            <a:normAutofit/>
          </a:bodyPr>
          <a:lstStyle/>
          <a:p>
            <a:pPr algn="l" indent="0" marL="0">
              <a:buNone/>
            </a:pPr>
            <a:r>
              <a:rPr lang="en-US" sz="1200" spc="168" kern="0" dirty="0">
                <a:solidFill>
                  <a:srgbClr val="FD7EF5"/>
                </a:solidFill>
                <a:latin typeface="Courier New" pitchFamily="34" charset="0"/>
                <a:ea typeface="Courier New" pitchFamily="34" charset="-122"/>
                <a:cs typeface="Courier New" pitchFamily="34" charset="-120"/>
              </a:rPr>
              <a:t>M7 · PEER</a:t>
            </a:r>
            <a:endParaRPr lang="en-US" sz="1200" dirty="0"/>
          </a:p>
        </p:txBody>
      </p:sp>
      <p:sp>
        <p:nvSpPr>
          <p:cNvPr id="24" name="Text 22"/>
          <p:cNvSpPr/>
          <p:nvPr/>
        </p:nvSpPr>
        <p:spPr>
          <a:xfrm>
            <a:off x="12430125" y="5583585"/>
            <a:ext cx="4966335" cy="388590"/>
          </a:xfrm>
          <a:prstGeom prst="rect">
            <a:avLst/>
          </a:prstGeom>
          <a:noFill/>
          <a:ln/>
        </p:spPr>
        <p:txBody>
          <a:bodyPr wrap="square" lIns="25400" tIns="25400" rIns="25400" bIns="25400" rtlCol="0" anchor="t">
            <a:normAutofit/>
          </a:bodyPr>
          <a:lstStyle/>
          <a:p>
            <a:pPr algn="l" indent="0" marL="0">
              <a:lnSpc>
                <a:spcPct val="80000"/>
              </a:lnSpc>
              <a:buNone/>
            </a:pPr>
            <a:r>
              <a:rPr lang="en-US" sz="3000" dirty="0">
                <a:solidFill>
                  <a:srgbClr val="FD7EF5"/>
                </a:solidFill>
                <a:latin typeface="Arial" pitchFamily="34" charset="0"/>
                <a:ea typeface="Arial" pitchFamily="34" charset="-122"/>
                <a:cs typeface="Arial" pitchFamily="34" charset="-120"/>
              </a:rPr>
              <a:t>A PEER ASKS</a:t>
            </a:r>
            <a:endParaRPr lang="en-US" sz="3000" dirty="0"/>
          </a:p>
        </p:txBody>
      </p:sp>
      <p:sp>
        <p:nvSpPr>
          <p:cNvPr id="25" name="Text 23"/>
          <p:cNvSpPr/>
          <p:nvPr/>
        </p:nvSpPr>
        <p:spPr>
          <a:xfrm>
            <a:off x="12430125" y="6124575"/>
            <a:ext cx="4650296" cy="705743"/>
          </a:xfrm>
          <a:prstGeom prst="rect">
            <a:avLst/>
          </a:prstGeom>
          <a:noFill/>
          <a:ln/>
        </p:spPr>
        <p:txBody>
          <a:bodyPr wrap="square" lIns="25400" tIns="25400" rIns="25400" bIns="25400" rtlCol="0" anchor="t">
            <a:normAutofit/>
          </a:bodyPr>
          <a:lstStyle/>
          <a:p>
            <a:pPr algn="l" indent="0" marL="0">
              <a:lnSpc>
                <a:spcPct val="126545"/>
              </a:lnSpc>
              <a:buNone/>
            </a:pPr>
            <a:r>
              <a:rPr lang="en-US" sz="1800" dirty="0">
                <a:solidFill>
                  <a:srgbClr val="C8C8C8"/>
                </a:solidFill>
                <a:latin typeface="Arial" pitchFamily="34" charset="0"/>
                <a:ea typeface="Arial" pitchFamily="34" charset="-122"/>
                <a:cs typeface="Arial" pitchFamily="34" charset="-120"/>
              </a:rPr>
              <a:t>An injected </a:t>
            </a:r>
            <a:pPr algn="l" indent="0" marL="0">
              <a:lnSpc>
                <a:spcPct val="126545"/>
              </a:lnSpc>
              <a:buNone/>
            </a:pPr>
            <a:r>
              <a:rPr lang="en-US" sz="1800" b="1" dirty="0">
                <a:solidFill>
                  <a:srgbClr val="C8C8C8"/>
                </a:solidFill>
                <a:latin typeface="Arial" pitchFamily="34" charset="0"/>
                <a:ea typeface="Arial" pitchFamily="34" charset="-122"/>
                <a:cs typeface="Arial" pitchFamily="34" charset="-120"/>
              </a:rPr>
              <a:t>dispute text </a:t>
            </a:r>
            <a:pPr algn="l" indent="0" marL="0">
              <a:lnSpc>
                <a:spcPct val="126545"/>
              </a:lnSpc>
              <a:buNone/>
            </a:pPr>
            <a:r>
              <a:rPr lang="en-US" sz="1800" dirty="0">
                <a:solidFill>
                  <a:srgbClr val="C8C8C8"/>
                </a:solidFill>
                <a:latin typeface="Arial" pitchFamily="34" charset="0"/>
                <a:ea typeface="Arial" pitchFamily="34" charset="-122"/>
                <a:cs typeface="Arial" pitchFamily="34" charset="-120"/>
              </a:rPr>
              <a:t>asks it, laundered through four trusting agents.</a:t>
            </a:r>
            <a:endParaRPr lang="en-US" sz="1800" dirty="0"/>
          </a:p>
        </p:txBody>
      </p:sp>
      <p:sp>
        <p:nvSpPr>
          <p:cNvPr id="26" name="Text 24"/>
          <p:cNvSpPr/>
          <p:nvPr/>
        </p:nvSpPr>
        <p:spPr>
          <a:xfrm>
            <a:off x="990600" y="7449443"/>
            <a:ext cx="17937480" cy="309563"/>
          </a:xfrm>
          <a:prstGeom prst="rect">
            <a:avLst/>
          </a:prstGeom>
          <a:noFill/>
          <a:ln/>
        </p:spPr>
        <p:txBody>
          <a:bodyPr wrap="square" lIns="25400" tIns="25400" rIns="25400" bIns="25400" rtlCol="0" anchor="t">
            <a:normAutofit/>
          </a:bodyPr>
          <a:lstStyle/>
          <a:p>
            <a:pPr algn="l" indent="0" marL="0">
              <a:buNone/>
            </a:pPr>
            <a:r>
              <a:rPr lang="en-US" sz="1950" dirty="0">
                <a:solidFill>
                  <a:srgbClr val="C8C8C8"/>
                </a:solidFill>
                <a:latin typeface="Arial" pitchFamily="34" charset="0"/>
                <a:ea typeface="Arial" pitchFamily="34" charset="-122"/>
                <a:cs typeface="Arial" pitchFamily="34" charset="-120"/>
              </a:rPr>
              <a:t>Same bug, three delivery mechanisms. Older than AI.</a:t>
            </a:r>
            <a:endParaRPr lang="en-US" sz="1950" dirty="0"/>
          </a:p>
        </p:txBody>
      </p:sp>
      <p:pic>
        <p:nvPicPr>
          <p:cNvPr id="27"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8" name="Text 25"/>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CLOSING · ADVERSARIAL AI</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422202"/>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REAL DELIVERABLE</a:t>
            </a:r>
            <a:endParaRPr lang="en-US" sz="1500" dirty="0"/>
          </a:p>
        </p:txBody>
      </p:sp>
      <p:sp>
        <p:nvSpPr>
          <p:cNvPr id="3" name="Text 1"/>
          <p:cNvSpPr/>
          <p:nvPr/>
        </p:nvSpPr>
        <p:spPr>
          <a:xfrm>
            <a:off x="990600" y="1827014"/>
            <a:ext cx="16796004" cy="1272480"/>
          </a:xfrm>
          <a:prstGeom prst="rect">
            <a:avLst/>
          </a:prstGeom>
          <a:noFill/>
          <a:ln/>
        </p:spPr>
        <p:txBody>
          <a:bodyPr wrap="square" lIns="25400" tIns="25400" rIns="25400" bIns="25400" rtlCol="0" anchor="t">
            <a:normAutofit/>
          </a:bodyPr>
          <a:lstStyle/>
          <a:p>
            <a:pPr algn="l" indent="0" marL="0">
              <a:lnSpc>
                <a:spcPct val="78072"/>
              </a:lnSpc>
              <a:buNone/>
            </a:pPr>
            <a:r>
              <a:rPr lang="en-US" sz="5400" b="1" dirty="0">
                <a:solidFill>
                  <a:srgbClr val="FFFFFF"/>
                </a:solidFill>
                <a:latin typeface="Arial" pitchFamily="34" charset="0"/>
                <a:ea typeface="Arial" pitchFamily="34" charset="-122"/>
                <a:cs typeface="Arial" pitchFamily="34" charset="-120"/>
              </a:rPr>
              <a:t>THE DEFENSE PATTERNS THAT REPEATED</a:t>
            </a:r>
            <a:endParaRPr lang="en-US" sz="5400" dirty="0"/>
          </a:p>
        </p:txBody>
      </p:sp>
      <p:sp>
        <p:nvSpPr>
          <p:cNvPr id="4" name="Shape 2"/>
          <p:cNvSpPr/>
          <p:nvPr/>
        </p:nvSpPr>
        <p:spPr>
          <a:xfrm>
            <a:off x="990600" y="3442395"/>
            <a:ext cx="16306800" cy="19050"/>
          </a:xfrm>
          <a:prstGeom prst="rect">
            <a:avLst/>
          </a:prstGeom>
          <a:solidFill>
            <a:srgbClr val="FFFFFF">
              <a:alpha val="20000"/>
            </a:srgbClr>
          </a:solidFill>
          <a:ln/>
        </p:spPr>
      </p:sp>
      <p:sp>
        <p:nvSpPr>
          <p:cNvPr id="5" name="Text 3"/>
          <p:cNvSpPr/>
          <p:nvPr/>
        </p:nvSpPr>
        <p:spPr>
          <a:xfrm>
            <a:off x="1200150" y="3632895"/>
            <a:ext cx="4420359"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36CDFF"/>
                </a:solidFill>
                <a:latin typeface="Courier New" pitchFamily="34" charset="0"/>
                <a:ea typeface="Courier New" pitchFamily="34" charset="-122"/>
                <a:cs typeface="Courier New" pitchFamily="34" charset="-120"/>
              </a:rPr>
              <a:t>PATTERN</a:t>
            </a:r>
            <a:endParaRPr lang="en-US" sz="1350" dirty="0"/>
          </a:p>
        </p:txBody>
      </p:sp>
      <p:sp>
        <p:nvSpPr>
          <p:cNvPr id="6" name="Text 4"/>
          <p:cNvSpPr/>
          <p:nvPr/>
        </p:nvSpPr>
        <p:spPr>
          <a:xfrm>
            <a:off x="5898654" y="3632895"/>
            <a:ext cx="2427704"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WHERE YOU SAW IT</a:t>
            </a:r>
            <a:endParaRPr lang="en-US" sz="1350" dirty="0"/>
          </a:p>
        </p:txBody>
      </p:sp>
      <p:sp>
        <p:nvSpPr>
          <p:cNvPr id="7" name="Text 5"/>
          <p:cNvSpPr/>
          <p:nvPr/>
        </p:nvSpPr>
        <p:spPr>
          <a:xfrm>
            <a:off x="8662541" y="3632895"/>
            <a:ext cx="8690641"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FD7EF5"/>
                </a:solidFill>
                <a:latin typeface="Courier New" pitchFamily="34" charset="0"/>
                <a:ea typeface="Courier New" pitchFamily="34" charset="-122"/>
                <a:cs typeface="Courier New" pitchFamily="34" charset="-120"/>
              </a:rPr>
              <a:t>THE MOVE</a:t>
            </a:r>
            <a:endParaRPr lang="en-US" sz="1350" dirty="0"/>
          </a:p>
        </p:txBody>
      </p:sp>
      <p:sp>
        <p:nvSpPr>
          <p:cNvPr id="8" name="Shape 6"/>
          <p:cNvSpPr/>
          <p:nvPr/>
        </p:nvSpPr>
        <p:spPr>
          <a:xfrm>
            <a:off x="990600" y="4032945"/>
            <a:ext cx="4698504" cy="9525"/>
          </a:xfrm>
          <a:prstGeom prst="rect">
            <a:avLst/>
          </a:prstGeom>
          <a:solidFill>
            <a:srgbClr val="FFFFFF">
              <a:alpha val="13000"/>
            </a:srgbClr>
          </a:solidFill>
          <a:ln/>
        </p:spPr>
      </p:sp>
      <p:sp>
        <p:nvSpPr>
          <p:cNvPr id="9" name="Text 7"/>
          <p:cNvSpPr/>
          <p:nvPr/>
        </p:nvSpPr>
        <p:spPr>
          <a:xfrm>
            <a:off x="1200150" y="4242495"/>
            <a:ext cx="4420359"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Provenance / trust-tagging</a:t>
            </a:r>
            <a:endParaRPr lang="en-US" sz="1725" dirty="0"/>
          </a:p>
        </p:txBody>
      </p:sp>
      <p:sp>
        <p:nvSpPr>
          <p:cNvPr id="10" name="Shape 8"/>
          <p:cNvSpPr/>
          <p:nvPr/>
        </p:nvSpPr>
        <p:spPr>
          <a:xfrm>
            <a:off x="5689104" y="4032945"/>
            <a:ext cx="2763887" cy="9525"/>
          </a:xfrm>
          <a:prstGeom prst="rect">
            <a:avLst/>
          </a:prstGeom>
          <a:solidFill>
            <a:srgbClr val="FFFFFF">
              <a:alpha val="13000"/>
            </a:srgbClr>
          </a:solidFill>
          <a:ln/>
        </p:spPr>
      </p:sp>
      <p:sp>
        <p:nvSpPr>
          <p:cNvPr id="11" name="Text 9"/>
          <p:cNvSpPr/>
          <p:nvPr/>
        </p:nvSpPr>
        <p:spPr>
          <a:xfrm>
            <a:off x="5898654" y="4242495"/>
            <a:ext cx="2427704"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M3, M6, M7</a:t>
            </a:r>
            <a:endParaRPr lang="en-US" sz="1725" dirty="0"/>
          </a:p>
        </p:txBody>
      </p:sp>
      <p:sp>
        <p:nvSpPr>
          <p:cNvPr id="12" name="Shape 10"/>
          <p:cNvSpPr/>
          <p:nvPr/>
        </p:nvSpPr>
        <p:spPr>
          <a:xfrm>
            <a:off x="8452991" y="4032945"/>
            <a:ext cx="8844409" cy="9525"/>
          </a:xfrm>
          <a:prstGeom prst="rect">
            <a:avLst/>
          </a:prstGeom>
          <a:solidFill>
            <a:srgbClr val="FFFFFF">
              <a:alpha val="13000"/>
            </a:srgbClr>
          </a:solidFill>
          <a:ln/>
        </p:spPr>
      </p:sp>
      <p:sp>
        <p:nvSpPr>
          <p:cNvPr id="13" name="Text 11"/>
          <p:cNvSpPr/>
          <p:nvPr/>
        </p:nvSpPr>
        <p:spPr>
          <a:xfrm>
            <a:off x="8662541" y="4242495"/>
            <a:ext cx="8690641"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Tag context by origin; never let attacker-controllable text act as instructions</a:t>
            </a:r>
            <a:endParaRPr lang="en-US" sz="1725" dirty="0"/>
          </a:p>
        </p:txBody>
      </p:sp>
      <p:sp>
        <p:nvSpPr>
          <p:cNvPr id="14" name="Shape 12"/>
          <p:cNvSpPr/>
          <p:nvPr/>
        </p:nvSpPr>
        <p:spPr>
          <a:xfrm>
            <a:off x="990600" y="4738241"/>
            <a:ext cx="4698504" cy="9525"/>
          </a:xfrm>
          <a:prstGeom prst="rect">
            <a:avLst/>
          </a:prstGeom>
          <a:solidFill>
            <a:srgbClr val="FFFFFF">
              <a:alpha val="13000"/>
            </a:srgbClr>
          </a:solidFill>
          <a:ln/>
        </p:spPr>
      </p:sp>
      <p:sp>
        <p:nvSpPr>
          <p:cNvPr id="15" name="Text 13"/>
          <p:cNvSpPr/>
          <p:nvPr/>
        </p:nvSpPr>
        <p:spPr>
          <a:xfrm>
            <a:off x="1200150" y="4947791"/>
            <a:ext cx="4420359"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Channel separation</a:t>
            </a:r>
            <a:endParaRPr lang="en-US" sz="1725" dirty="0"/>
          </a:p>
        </p:txBody>
      </p:sp>
      <p:sp>
        <p:nvSpPr>
          <p:cNvPr id="16" name="Shape 14"/>
          <p:cNvSpPr/>
          <p:nvPr/>
        </p:nvSpPr>
        <p:spPr>
          <a:xfrm>
            <a:off x="5689104" y="4738241"/>
            <a:ext cx="2763887" cy="9525"/>
          </a:xfrm>
          <a:prstGeom prst="rect">
            <a:avLst/>
          </a:prstGeom>
          <a:solidFill>
            <a:srgbClr val="FFFFFF">
              <a:alpha val="13000"/>
            </a:srgbClr>
          </a:solidFill>
          <a:ln/>
        </p:spPr>
      </p:sp>
      <p:sp>
        <p:nvSpPr>
          <p:cNvPr id="17" name="Text 15"/>
          <p:cNvSpPr/>
          <p:nvPr/>
        </p:nvSpPr>
        <p:spPr>
          <a:xfrm>
            <a:off x="5898654" y="4947791"/>
            <a:ext cx="2427704"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M1, M7</a:t>
            </a:r>
            <a:endParaRPr lang="en-US" sz="1725" dirty="0"/>
          </a:p>
        </p:txBody>
      </p:sp>
      <p:sp>
        <p:nvSpPr>
          <p:cNvPr id="18" name="Shape 16"/>
          <p:cNvSpPr/>
          <p:nvPr/>
        </p:nvSpPr>
        <p:spPr>
          <a:xfrm>
            <a:off x="8452991" y="4738241"/>
            <a:ext cx="8844409" cy="9525"/>
          </a:xfrm>
          <a:prstGeom prst="rect">
            <a:avLst/>
          </a:prstGeom>
          <a:solidFill>
            <a:srgbClr val="FFFFFF">
              <a:alpha val="13000"/>
            </a:srgbClr>
          </a:solidFill>
          <a:ln/>
        </p:spPr>
      </p:sp>
      <p:sp>
        <p:nvSpPr>
          <p:cNvPr id="19" name="Text 17"/>
          <p:cNvSpPr/>
          <p:nvPr/>
        </p:nvSpPr>
        <p:spPr>
          <a:xfrm>
            <a:off x="8662541" y="4947791"/>
            <a:ext cx="8690641"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Untrusted data in a labelled “data, not instructions” block</a:t>
            </a:r>
            <a:endParaRPr lang="en-US" sz="1725" dirty="0"/>
          </a:p>
        </p:txBody>
      </p:sp>
      <p:sp>
        <p:nvSpPr>
          <p:cNvPr id="20" name="Shape 18"/>
          <p:cNvSpPr/>
          <p:nvPr/>
        </p:nvSpPr>
        <p:spPr>
          <a:xfrm>
            <a:off x="990600" y="5443538"/>
            <a:ext cx="4698504" cy="9525"/>
          </a:xfrm>
          <a:prstGeom prst="rect">
            <a:avLst/>
          </a:prstGeom>
          <a:solidFill>
            <a:srgbClr val="FFFFFF">
              <a:alpha val="13000"/>
            </a:srgbClr>
          </a:solidFill>
          <a:ln/>
        </p:spPr>
      </p:sp>
      <p:sp>
        <p:nvSpPr>
          <p:cNvPr id="21" name="Text 19"/>
          <p:cNvSpPr/>
          <p:nvPr/>
        </p:nvSpPr>
        <p:spPr>
          <a:xfrm>
            <a:off x="1200150" y="5653088"/>
            <a:ext cx="4420359" cy="338584"/>
          </a:xfrm>
          <a:prstGeom prst="rect">
            <a:avLst/>
          </a:prstGeom>
          <a:noFill/>
          <a:ln/>
        </p:spPr>
        <p:txBody>
          <a:bodyPr wrap="square" lIns="25400" tIns="25400" rIns="25400" bIns="25400" rtlCol="0" anchor="t">
            <a:normAutofit/>
          </a:bodyPr>
          <a:lstStyle/>
          <a:p>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Least privilege + per-action authz</a:t>
            </a:r>
            <a:endParaRPr lang="en-US" sz="1725" dirty="0"/>
          </a:p>
        </p:txBody>
      </p:sp>
      <p:sp>
        <p:nvSpPr>
          <p:cNvPr id="22" name="Shape 20"/>
          <p:cNvSpPr/>
          <p:nvPr/>
        </p:nvSpPr>
        <p:spPr>
          <a:xfrm>
            <a:off x="5689104" y="5443538"/>
            <a:ext cx="2763887" cy="9525"/>
          </a:xfrm>
          <a:prstGeom prst="rect">
            <a:avLst/>
          </a:prstGeom>
          <a:solidFill>
            <a:srgbClr val="FFFFFF">
              <a:alpha val="13000"/>
            </a:srgbClr>
          </a:solidFill>
          <a:ln/>
        </p:spPr>
      </p:sp>
      <p:sp>
        <p:nvSpPr>
          <p:cNvPr id="23" name="Text 21"/>
          <p:cNvSpPr/>
          <p:nvPr/>
        </p:nvSpPr>
        <p:spPr>
          <a:xfrm>
            <a:off x="5898654" y="5653088"/>
            <a:ext cx="2427704" cy="338584"/>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M5, M6</a:t>
            </a:r>
            <a:endParaRPr lang="en-US" sz="1725" dirty="0"/>
          </a:p>
        </p:txBody>
      </p:sp>
      <p:sp>
        <p:nvSpPr>
          <p:cNvPr id="24" name="Shape 22"/>
          <p:cNvSpPr/>
          <p:nvPr/>
        </p:nvSpPr>
        <p:spPr>
          <a:xfrm>
            <a:off x="8452991" y="5443538"/>
            <a:ext cx="8844409" cy="9525"/>
          </a:xfrm>
          <a:prstGeom prst="rect">
            <a:avLst/>
          </a:prstGeom>
          <a:solidFill>
            <a:srgbClr val="FFFFFF">
              <a:alpha val="13000"/>
            </a:srgbClr>
          </a:solidFill>
          <a:ln/>
        </p:spPr>
      </p:sp>
      <p:sp>
        <p:nvSpPr>
          <p:cNvPr id="25" name="Text 23"/>
          <p:cNvSpPr/>
          <p:nvPr/>
        </p:nvSpPr>
        <p:spPr>
          <a:xfrm>
            <a:off x="8662541" y="5653088"/>
            <a:ext cx="8690641" cy="338584"/>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The deputy checks </a:t>
            </a:r>
            <a:pPr algn="l" indent="0" marL="0">
              <a:lnSpc>
                <a:spcPct val="115000"/>
              </a:lnSpc>
              <a:buNone/>
            </a:pPr>
            <a:r>
              <a:rPr lang="en-US" sz="1725" b="1" dirty="0">
                <a:solidFill>
                  <a:srgbClr val="C8C8C8"/>
                </a:solidFill>
                <a:latin typeface="Arial" pitchFamily="34" charset="0"/>
                <a:ea typeface="Arial" pitchFamily="34" charset="-122"/>
                <a:cs typeface="Arial" pitchFamily="34" charset="-120"/>
              </a:rPr>
              <a:t>ownership </a:t>
            </a:r>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before every sensitive action</a:t>
            </a:r>
            <a:endParaRPr lang="en-US" sz="1725" dirty="0"/>
          </a:p>
        </p:txBody>
      </p:sp>
      <p:sp>
        <p:nvSpPr>
          <p:cNvPr id="26" name="Shape 24"/>
          <p:cNvSpPr/>
          <p:nvPr/>
        </p:nvSpPr>
        <p:spPr>
          <a:xfrm>
            <a:off x="990600" y="6153596"/>
            <a:ext cx="4698504" cy="9525"/>
          </a:xfrm>
          <a:prstGeom prst="rect">
            <a:avLst/>
          </a:prstGeom>
          <a:solidFill>
            <a:srgbClr val="FFFFFF">
              <a:alpha val="13000"/>
            </a:srgbClr>
          </a:solidFill>
          <a:ln/>
        </p:spPr>
      </p:sp>
      <p:sp>
        <p:nvSpPr>
          <p:cNvPr id="27" name="Text 25"/>
          <p:cNvSpPr/>
          <p:nvPr/>
        </p:nvSpPr>
        <p:spPr>
          <a:xfrm>
            <a:off x="1200150" y="6363146"/>
            <a:ext cx="4420359"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Signed provenance</a:t>
            </a:r>
            <a:endParaRPr lang="en-US" sz="1725" dirty="0"/>
          </a:p>
        </p:txBody>
      </p:sp>
      <p:sp>
        <p:nvSpPr>
          <p:cNvPr id="28" name="Shape 26"/>
          <p:cNvSpPr/>
          <p:nvPr/>
        </p:nvSpPr>
        <p:spPr>
          <a:xfrm>
            <a:off x="5689104" y="6153596"/>
            <a:ext cx="2763887" cy="9525"/>
          </a:xfrm>
          <a:prstGeom prst="rect">
            <a:avLst/>
          </a:prstGeom>
          <a:solidFill>
            <a:srgbClr val="FFFFFF">
              <a:alpha val="13000"/>
            </a:srgbClr>
          </a:solidFill>
          <a:ln/>
        </p:spPr>
      </p:sp>
      <p:sp>
        <p:nvSpPr>
          <p:cNvPr id="29" name="Text 27"/>
          <p:cNvSpPr/>
          <p:nvPr/>
        </p:nvSpPr>
        <p:spPr>
          <a:xfrm>
            <a:off x="5898654" y="6363146"/>
            <a:ext cx="2427704"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M7</a:t>
            </a:r>
            <a:endParaRPr lang="en-US" sz="1725" dirty="0"/>
          </a:p>
        </p:txBody>
      </p:sp>
      <p:sp>
        <p:nvSpPr>
          <p:cNvPr id="30" name="Shape 28"/>
          <p:cNvSpPr/>
          <p:nvPr/>
        </p:nvSpPr>
        <p:spPr>
          <a:xfrm>
            <a:off x="8452991" y="6153596"/>
            <a:ext cx="8844409" cy="9525"/>
          </a:xfrm>
          <a:prstGeom prst="rect">
            <a:avLst/>
          </a:prstGeom>
          <a:solidFill>
            <a:srgbClr val="FFFFFF">
              <a:alpha val="13000"/>
            </a:srgbClr>
          </a:solidFill>
          <a:ln/>
        </p:spPr>
      </p:sp>
      <p:sp>
        <p:nvSpPr>
          <p:cNvPr id="31" name="Text 29"/>
          <p:cNvSpPr/>
          <p:nvPr/>
        </p:nvSpPr>
        <p:spPr>
          <a:xfrm>
            <a:off x="8662541" y="6363146"/>
            <a:ext cx="8690641"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Sign inter-agent messages; re-establish trust at every hop</a:t>
            </a:r>
            <a:endParaRPr lang="en-US" sz="1725" dirty="0"/>
          </a:p>
        </p:txBody>
      </p:sp>
      <p:sp>
        <p:nvSpPr>
          <p:cNvPr id="32" name="Shape 30"/>
          <p:cNvSpPr/>
          <p:nvPr/>
        </p:nvSpPr>
        <p:spPr>
          <a:xfrm>
            <a:off x="990600" y="6858893"/>
            <a:ext cx="4698504" cy="9525"/>
          </a:xfrm>
          <a:prstGeom prst="rect">
            <a:avLst/>
          </a:prstGeom>
          <a:solidFill>
            <a:srgbClr val="FFFFFF">
              <a:alpha val="13000"/>
            </a:srgbClr>
          </a:solidFill>
          <a:ln/>
        </p:spPr>
      </p:sp>
      <p:sp>
        <p:nvSpPr>
          <p:cNvPr id="33" name="Text 31"/>
          <p:cNvSpPr/>
          <p:nvPr/>
        </p:nvSpPr>
        <p:spPr>
          <a:xfrm>
            <a:off x="1200150" y="7068443"/>
            <a:ext cx="4420359"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Verification before load</a:t>
            </a:r>
            <a:endParaRPr lang="en-US" sz="1725" dirty="0"/>
          </a:p>
        </p:txBody>
      </p:sp>
      <p:sp>
        <p:nvSpPr>
          <p:cNvPr id="34" name="Shape 32"/>
          <p:cNvSpPr/>
          <p:nvPr/>
        </p:nvSpPr>
        <p:spPr>
          <a:xfrm>
            <a:off x="5689104" y="6858893"/>
            <a:ext cx="2763887" cy="9525"/>
          </a:xfrm>
          <a:prstGeom prst="rect">
            <a:avLst/>
          </a:prstGeom>
          <a:solidFill>
            <a:srgbClr val="FFFFFF">
              <a:alpha val="13000"/>
            </a:srgbClr>
          </a:solidFill>
          <a:ln/>
        </p:spPr>
      </p:sp>
      <p:sp>
        <p:nvSpPr>
          <p:cNvPr id="35" name="Text 33"/>
          <p:cNvSpPr/>
          <p:nvPr/>
        </p:nvSpPr>
        <p:spPr>
          <a:xfrm>
            <a:off x="5898654" y="7068443"/>
            <a:ext cx="2427704"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M4</a:t>
            </a:r>
            <a:endParaRPr lang="en-US" sz="1725" dirty="0"/>
          </a:p>
        </p:txBody>
      </p:sp>
      <p:sp>
        <p:nvSpPr>
          <p:cNvPr id="36" name="Shape 34"/>
          <p:cNvSpPr/>
          <p:nvPr/>
        </p:nvSpPr>
        <p:spPr>
          <a:xfrm>
            <a:off x="8452991" y="6858893"/>
            <a:ext cx="8844409" cy="9525"/>
          </a:xfrm>
          <a:prstGeom prst="rect">
            <a:avLst/>
          </a:prstGeom>
          <a:solidFill>
            <a:srgbClr val="FFFFFF">
              <a:alpha val="13000"/>
            </a:srgbClr>
          </a:solidFill>
          <a:ln/>
        </p:spPr>
      </p:sp>
      <p:sp>
        <p:nvSpPr>
          <p:cNvPr id="37" name="Text 35"/>
          <p:cNvSpPr/>
          <p:nvPr/>
        </p:nvSpPr>
        <p:spPr>
          <a:xfrm>
            <a:off x="8662541" y="7068443"/>
            <a:ext cx="8690641"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Hash-pin artifacts; safetensors-only; never deserialize untrusted pickles</a:t>
            </a:r>
            <a:endParaRPr lang="en-US" sz="1725" dirty="0"/>
          </a:p>
        </p:txBody>
      </p:sp>
      <p:sp>
        <p:nvSpPr>
          <p:cNvPr id="38" name="Shape 36"/>
          <p:cNvSpPr/>
          <p:nvPr/>
        </p:nvSpPr>
        <p:spPr>
          <a:xfrm>
            <a:off x="990600" y="7564189"/>
            <a:ext cx="4698504" cy="9525"/>
          </a:xfrm>
          <a:prstGeom prst="rect">
            <a:avLst/>
          </a:prstGeom>
          <a:solidFill>
            <a:srgbClr val="FFFFFF">
              <a:alpha val="13000"/>
            </a:srgbClr>
          </a:solidFill>
          <a:ln/>
        </p:spPr>
      </p:sp>
      <p:sp>
        <p:nvSpPr>
          <p:cNvPr id="39" name="Text 37"/>
          <p:cNvSpPr/>
          <p:nvPr/>
        </p:nvSpPr>
        <p:spPr>
          <a:xfrm>
            <a:off x="1200150" y="7773739"/>
            <a:ext cx="4420359" cy="338584"/>
          </a:xfrm>
          <a:prstGeom prst="rect">
            <a:avLst/>
          </a:prstGeom>
          <a:noFill/>
          <a:ln/>
        </p:spPr>
        <p:txBody>
          <a:bodyPr wrap="square" lIns="25400" tIns="25400" rIns="25400" bIns="25400" rtlCol="0" anchor="t">
            <a:normAutofit/>
          </a:bodyPr>
          <a:lstStyle/>
          <a:p>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Canonicalize before filter</a:t>
            </a:r>
            <a:endParaRPr lang="en-US" sz="1725" dirty="0"/>
          </a:p>
        </p:txBody>
      </p:sp>
      <p:sp>
        <p:nvSpPr>
          <p:cNvPr id="40" name="Shape 38"/>
          <p:cNvSpPr/>
          <p:nvPr/>
        </p:nvSpPr>
        <p:spPr>
          <a:xfrm>
            <a:off x="5689104" y="7564189"/>
            <a:ext cx="2763887" cy="9525"/>
          </a:xfrm>
          <a:prstGeom prst="rect">
            <a:avLst/>
          </a:prstGeom>
          <a:solidFill>
            <a:srgbClr val="FFFFFF">
              <a:alpha val="13000"/>
            </a:srgbClr>
          </a:solidFill>
          <a:ln/>
        </p:spPr>
      </p:sp>
      <p:sp>
        <p:nvSpPr>
          <p:cNvPr id="41" name="Text 39"/>
          <p:cNvSpPr/>
          <p:nvPr/>
        </p:nvSpPr>
        <p:spPr>
          <a:xfrm>
            <a:off x="5898654" y="7773739"/>
            <a:ext cx="2427704" cy="338584"/>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M8</a:t>
            </a:r>
            <a:endParaRPr lang="en-US" sz="1725" dirty="0"/>
          </a:p>
        </p:txBody>
      </p:sp>
      <p:sp>
        <p:nvSpPr>
          <p:cNvPr id="42" name="Shape 40"/>
          <p:cNvSpPr/>
          <p:nvPr/>
        </p:nvSpPr>
        <p:spPr>
          <a:xfrm>
            <a:off x="8452991" y="7564189"/>
            <a:ext cx="8844409" cy="9525"/>
          </a:xfrm>
          <a:prstGeom prst="rect">
            <a:avLst/>
          </a:prstGeom>
          <a:solidFill>
            <a:srgbClr val="FFFFFF">
              <a:alpha val="13000"/>
            </a:srgbClr>
          </a:solidFill>
          <a:ln/>
        </p:spPr>
      </p:sp>
      <p:sp>
        <p:nvSpPr>
          <p:cNvPr id="43" name="Text 41"/>
          <p:cNvSpPr/>
          <p:nvPr/>
        </p:nvSpPr>
        <p:spPr>
          <a:xfrm>
            <a:off x="8662541" y="7773739"/>
            <a:ext cx="8690641" cy="338584"/>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Normalize obfuscation </a:t>
            </a:r>
            <a:pPr algn="l" indent="0" marL="0">
              <a:lnSpc>
                <a:spcPct val="115000"/>
              </a:lnSpc>
              <a:buNone/>
            </a:pPr>
            <a:r>
              <a:rPr lang="en-US" sz="1725" b="1" dirty="0">
                <a:solidFill>
                  <a:srgbClr val="C8C8C8"/>
                </a:solidFill>
                <a:latin typeface="Arial" pitchFamily="34" charset="0"/>
                <a:ea typeface="Arial" pitchFamily="34" charset="-122"/>
                <a:cs typeface="Arial" pitchFamily="34" charset="-120"/>
              </a:rPr>
              <a:t>before </a:t>
            </a:r>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the blocklist reads it</a:t>
            </a:r>
            <a:endParaRPr lang="en-US" sz="1725" dirty="0"/>
          </a:p>
        </p:txBody>
      </p:sp>
      <p:pic>
        <p:nvPicPr>
          <p:cNvPr id="4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45" name="Text 42"/>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CLOSING · ADVERSARIAL AI</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864272"/>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RESIDUAL RISK</a:t>
            </a:r>
            <a:endParaRPr lang="en-US" sz="1500" dirty="0"/>
          </a:p>
        </p:txBody>
      </p:sp>
      <p:sp>
        <p:nvSpPr>
          <p:cNvPr id="3" name="Text 1"/>
          <p:cNvSpPr/>
          <p:nvPr/>
        </p:nvSpPr>
        <p:spPr>
          <a:xfrm>
            <a:off x="990600" y="3269084"/>
            <a:ext cx="16796004" cy="1512540"/>
          </a:xfrm>
          <a:prstGeom prst="rect">
            <a:avLst/>
          </a:prstGeom>
          <a:noFill/>
          <a:ln/>
        </p:spPr>
        <p:txBody>
          <a:bodyPr wrap="square" lIns="25400" tIns="25400" rIns="25400" bIns="25400" rtlCol="0" anchor="t">
            <a:normAutofit/>
          </a:bodyPr>
          <a:lstStyle/>
          <a:p>
            <a:pPr algn="l" indent="0" marL="0">
              <a:lnSpc>
                <a:spcPct val="78182"/>
              </a:lnSpc>
              <a:buNone/>
            </a:pPr>
            <a:r>
              <a:rPr lang="en-US" sz="6450" b="1" dirty="0">
                <a:solidFill>
                  <a:srgbClr val="FFFFFF"/>
                </a:solidFill>
                <a:latin typeface="Arial" pitchFamily="34" charset="0"/>
                <a:ea typeface="Arial" pitchFamily="34" charset="-122"/>
                <a:cs typeface="Arial" pitchFamily="34" charset="-120"/>
              </a:rPr>
              <a:t>GUARDRAILS ARE NOT A CHECKBOX</a:t>
            </a:r>
            <a:endParaRPr lang="en-US" sz="6450" dirty="0"/>
          </a:p>
        </p:txBody>
      </p:sp>
      <p:sp>
        <p:nvSpPr>
          <p:cNvPr id="4" name="Text 2"/>
          <p:cNvSpPr/>
          <p:nvPr/>
        </p:nvSpPr>
        <p:spPr>
          <a:xfrm>
            <a:off x="990600" y="5124524"/>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5" name="Text 3"/>
          <p:cNvSpPr/>
          <p:nvPr/>
        </p:nvSpPr>
        <p:spPr>
          <a:xfrm>
            <a:off x="1307306" y="5124524"/>
            <a:ext cx="16457369" cy="429518"/>
          </a:xfrm>
          <a:prstGeom prst="rect">
            <a:avLst/>
          </a:prstGeom>
          <a:noFill/>
          <a:ln/>
        </p:spPr>
        <p:txBody>
          <a:bodyPr wrap="square" lIns="25400" tIns="25400" rIns="25400" bIns="25400" rtlCol="0" anchor="t">
            <a:normAutofit/>
          </a:bodyPr>
          <a:lstStyle/>
          <a:p>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M2 shipped </a:t>
            </a:r>
            <a:pPr algn="l" indent="0" marL="0">
              <a:lnSpc>
                <a:spcPct val="121194"/>
              </a:lnSpc>
              <a:buNone/>
            </a:pPr>
            <a:r>
              <a:rPr lang="en-US" sz="2175" b="1" dirty="0">
                <a:solidFill>
                  <a:srgbClr val="FFFFFF"/>
                </a:solidFill>
                <a:latin typeface="Arial" pitchFamily="34" charset="0"/>
                <a:ea typeface="Arial" pitchFamily="34" charset="-122"/>
                <a:cs typeface="Arial" pitchFamily="34" charset="-120"/>
              </a:rPr>
              <a:t>two </a:t>
            </a:r>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independent guards (escape </a:t>
            </a:r>
            <a:pPr algn="l" indent="0" marL="0">
              <a:lnSpc>
                <a:spcPct val="121194"/>
              </a:lnSpc>
              <a:buNone/>
            </a:pPr>
            <a:r>
              <a:rPr lang="en-US" sz="2175" b="1" dirty="0">
                <a:solidFill>
                  <a:srgbClr val="FFFFFF"/>
                </a:solidFill>
                <a:latin typeface="Arial" pitchFamily="34" charset="0"/>
                <a:ea typeface="Arial" pitchFamily="34" charset="-122"/>
                <a:cs typeface="Arial" pitchFamily="34" charset="-120"/>
              </a:rPr>
              <a:t>and </a:t>
            </a:r>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CSP) — either alone stops the XSS. That is </a:t>
            </a:r>
            <a:pPr algn="l" indent="0" marL="0">
              <a:lnSpc>
                <a:spcPct val="121194"/>
              </a:lnSpc>
              <a:buNone/>
            </a:pPr>
            <a:r>
              <a:rPr lang="en-US" sz="2175" b="1" dirty="0">
                <a:solidFill>
                  <a:srgbClr val="FFFFFF"/>
                </a:solidFill>
                <a:latin typeface="Arial" pitchFamily="34" charset="0"/>
                <a:ea typeface="Arial" pitchFamily="34" charset="-122"/>
                <a:cs typeface="Arial" pitchFamily="34" charset="-120"/>
              </a:rPr>
              <a:t>defense in depth</a:t>
            </a:r>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 on purpose.</a:t>
            </a:r>
            <a:endParaRPr lang="en-US" sz="2175" dirty="0"/>
          </a:p>
        </p:txBody>
      </p:sp>
      <p:sp>
        <p:nvSpPr>
          <p:cNvPr id="6" name="Text 4"/>
          <p:cNvSpPr/>
          <p:nvPr/>
        </p:nvSpPr>
        <p:spPr>
          <a:xfrm>
            <a:off x="990600" y="5782642"/>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7" name="Text 5"/>
          <p:cNvSpPr/>
          <p:nvPr/>
        </p:nvSpPr>
        <p:spPr>
          <a:xfrm>
            <a:off x="1307306" y="5782642"/>
            <a:ext cx="15668528" cy="429518"/>
          </a:xfrm>
          <a:prstGeom prst="rect">
            <a:avLst/>
          </a:prstGeom>
          <a:noFill/>
          <a:ln/>
        </p:spPr>
        <p:txBody>
          <a:bodyPr wrap="square" lIns="25400" tIns="25400" rIns="25400" bIns="25400" rtlCol="0" anchor="t">
            <a:normAutofit/>
          </a:bodyPr>
          <a:lstStyle/>
          <a:p>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M8’s guardrail </a:t>
            </a:r>
            <a:pPr algn="l" indent="0" marL="0">
              <a:lnSpc>
                <a:spcPct val="121194"/>
              </a:lnSpc>
              <a:buNone/>
            </a:pPr>
            <a:r>
              <a:rPr lang="en-US" sz="2175" b="1" dirty="0">
                <a:solidFill>
                  <a:srgbClr val="FFFFFF"/>
                </a:solidFill>
                <a:latin typeface="Arial" pitchFamily="34" charset="0"/>
                <a:ea typeface="Arial" pitchFamily="34" charset="-122"/>
                <a:cs typeface="Arial" pitchFamily="34" charset="-120"/>
              </a:rPr>
              <a:t>deliberately </a:t>
            </a:r>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misses homoglyphs. A blocklist matches the literal string; the model understands meaning.</a:t>
            </a:r>
            <a:endParaRPr lang="en-US" sz="2175" dirty="0"/>
          </a:p>
        </p:txBody>
      </p:sp>
      <p:sp>
        <p:nvSpPr>
          <p:cNvPr id="8" name="Text 6"/>
          <p:cNvSpPr/>
          <p:nvPr/>
        </p:nvSpPr>
        <p:spPr>
          <a:xfrm>
            <a:off x="990600" y="6440760"/>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9" name="Text 7"/>
          <p:cNvSpPr/>
          <p:nvPr/>
        </p:nvSpPr>
        <p:spPr>
          <a:xfrm>
            <a:off x="1307306" y="6440760"/>
            <a:ext cx="11609397" cy="429518"/>
          </a:xfrm>
          <a:prstGeom prst="rect">
            <a:avLst/>
          </a:prstGeom>
          <a:noFill/>
          <a:ln/>
        </p:spPr>
        <p:txBody>
          <a:bodyPr wrap="square" lIns="25400" tIns="25400" rIns="25400" bIns="25400" rtlCol="0" anchor="t">
            <a:normAutofit/>
          </a:bodyPr>
          <a:lstStyle/>
          <a:p>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Flipping every flag to </a:t>
            </a:r>
            <a:pPr algn="l" indent="0" marL="0">
              <a:lnSpc>
                <a:spcPct val="121194"/>
              </a:lnSpc>
              <a:buNone/>
            </a:pPr>
            <a:r>
              <a:rPr lang="en-US" sz="1950" dirty="0">
                <a:solidFill>
                  <a:srgbClr val="36CDFF"/>
                </a:solidFill>
                <a:latin typeface="Courier New" pitchFamily="34" charset="0"/>
                <a:ea typeface="Courier New" pitchFamily="34" charset="-122"/>
                <a:cs typeface="Courier New" pitchFamily="34" charset="-120"/>
              </a:rPr>
              <a:t>secure </a:t>
            </a:r>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blocks </a:t>
            </a:r>
            <a:pPr algn="l" indent="0" marL="0">
              <a:lnSpc>
                <a:spcPct val="121194"/>
              </a:lnSpc>
              <a:buNone/>
            </a:pPr>
            <a:r>
              <a:rPr lang="en-US" sz="2175" b="1" dirty="0">
                <a:solidFill>
                  <a:srgbClr val="FFFFFF"/>
                </a:solidFill>
                <a:latin typeface="Arial" pitchFamily="34" charset="0"/>
                <a:ea typeface="Arial" pitchFamily="34" charset="-122"/>
                <a:cs typeface="Arial" pitchFamily="34" charset="-120"/>
              </a:rPr>
              <a:t>your </a:t>
            </a:r>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exploits — it does </a:t>
            </a:r>
            <a:pPr algn="l" indent="0" marL="0">
              <a:lnSpc>
                <a:spcPct val="121194"/>
              </a:lnSpc>
              <a:buNone/>
            </a:pPr>
            <a:r>
              <a:rPr lang="en-US" sz="2175" b="1" dirty="0">
                <a:solidFill>
                  <a:srgbClr val="FFFFFF"/>
                </a:solidFill>
                <a:latin typeface="Arial" pitchFamily="34" charset="0"/>
                <a:ea typeface="Arial" pitchFamily="34" charset="-122"/>
                <a:cs typeface="Arial" pitchFamily="34" charset="-120"/>
              </a:rPr>
              <a:t>not </a:t>
            </a:r>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make the system “safe.”</a:t>
            </a:r>
            <a:endParaRPr lang="en-US" sz="2175" dirty="0"/>
          </a:p>
        </p:txBody>
      </p:sp>
      <p:pic>
        <p:nvPicPr>
          <p:cNvPr id="10"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1" name="Text 8"/>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CLOSING · ADVERSARIAL AI</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365227"/>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SAY THIS TO YOUR BOARD</a:t>
            </a:r>
            <a:endParaRPr lang="en-US" sz="1650" dirty="0"/>
          </a:p>
        </p:txBody>
      </p:sp>
      <p:sp>
        <p:nvSpPr>
          <p:cNvPr id="3" name="Text 1"/>
          <p:cNvSpPr/>
          <p:nvPr/>
        </p:nvSpPr>
        <p:spPr>
          <a:xfrm>
            <a:off x="990600" y="3984352"/>
            <a:ext cx="16796004" cy="1546771"/>
          </a:xfrm>
          <a:prstGeom prst="rect">
            <a:avLst/>
          </a:prstGeom>
          <a:noFill/>
          <a:ln/>
        </p:spPr>
        <p:txBody>
          <a:bodyPr wrap="square" lIns="25400" tIns="25400" rIns="25400" bIns="25400" rtlCol="0" anchor="t">
            <a:normAutofit/>
          </a:bodyPr>
          <a:lstStyle/>
          <a:p>
            <a:pPr algn="l" indent="0" marL="0">
              <a:lnSpc>
                <a:spcPct val="78416"/>
              </a:lnSpc>
              <a:buNone/>
            </a:pPr>
            <a:r>
              <a:rPr lang="en-US" sz="6600" dirty="0">
                <a:solidFill>
                  <a:srgbClr val="FFFFFF"/>
                </a:solidFill>
                <a:latin typeface="Arial" pitchFamily="34" charset="0"/>
                <a:ea typeface="Arial" pitchFamily="34" charset="-122"/>
                <a:cs typeface="Arial" pitchFamily="34" charset="-120"/>
              </a:rPr>
              <a:t>“WE TURNED THE FLAGS ON” ≠ “WE’RE SAFE.”</a:t>
            </a:r>
            <a:endParaRPr lang="en-US" sz="6600" dirty="0"/>
          </a:p>
        </p:txBody>
      </p:sp>
      <p:sp>
        <p:nvSpPr>
          <p:cNvPr id="4" name="Text 2"/>
          <p:cNvSpPr/>
          <p:nvPr/>
        </p:nvSpPr>
        <p:spPr>
          <a:xfrm>
            <a:off x="990600" y="5912123"/>
            <a:ext cx="17287875" cy="457200"/>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The gap between those two sentences is the </a:t>
            </a:r>
            <a:pPr algn="l" indent="0" marL="0">
              <a:lnSpc>
                <a:spcPct val="126087"/>
              </a:lnSpc>
              <a:buNone/>
            </a:pPr>
            <a:r>
              <a:rPr lang="en-US" sz="2250" b="1" dirty="0">
                <a:solidFill>
                  <a:srgbClr val="C8C8C8"/>
                </a:solidFill>
                <a:latin typeface="Arial" pitchFamily="34" charset="0"/>
                <a:ea typeface="Arial" pitchFamily="34" charset="-122"/>
                <a:cs typeface="Arial" pitchFamily="34" charset="-120"/>
              </a:rPr>
              <a:t>residual risk </a:t>
            </a:r>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 and documenting it is the job.</a:t>
            </a:r>
            <a:endParaRPr lang="en-US" sz="2250"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CLOSING · ADVERSARIAL AI</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010096"/>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TAKEAWAYS</a:t>
            </a:r>
            <a:endParaRPr lang="en-US" sz="1500" dirty="0"/>
          </a:p>
        </p:txBody>
      </p:sp>
      <p:sp>
        <p:nvSpPr>
          <p:cNvPr id="3" name="Text 1"/>
          <p:cNvSpPr/>
          <p:nvPr/>
        </p:nvSpPr>
        <p:spPr>
          <a:xfrm>
            <a:off x="990600" y="1414909"/>
            <a:ext cx="16796004" cy="1306711"/>
          </a:xfrm>
          <a:prstGeom prst="rect">
            <a:avLst/>
          </a:prstGeom>
          <a:noFill/>
          <a:ln/>
        </p:spPr>
        <p:txBody>
          <a:bodyPr wrap="square" lIns="25400" tIns="25400" rIns="25400" bIns="25400" rtlCol="0" anchor="t">
            <a:normAutofit/>
          </a:bodyPr>
          <a:lstStyle/>
          <a:p>
            <a:pPr algn="l" indent="0" marL="0">
              <a:lnSpc>
                <a:spcPct val="78353"/>
              </a:lnSpc>
              <a:buNone/>
            </a:pPr>
            <a:r>
              <a:rPr lang="en-US" sz="5550" b="1" dirty="0">
                <a:solidFill>
                  <a:srgbClr val="FFFFFF"/>
                </a:solidFill>
                <a:latin typeface="Arial" pitchFamily="34" charset="0"/>
                <a:ea typeface="Arial" pitchFamily="34" charset="-122"/>
                <a:cs typeface="Arial" pitchFamily="34" charset="-120"/>
              </a:rPr>
              <a:t>THE UNCOMFORTABLE TRUTHS TO TAKE HOME</a:t>
            </a:r>
            <a:endParaRPr lang="en-US" sz="5550" dirty="0"/>
          </a:p>
        </p:txBody>
      </p:sp>
      <p:sp>
        <p:nvSpPr>
          <p:cNvPr id="4" name="Shape 2"/>
          <p:cNvSpPr/>
          <p:nvPr/>
        </p:nvSpPr>
        <p:spPr>
          <a:xfrm>
            <a:off x="990600" y="3102620"/>
            <a:ext cx="16306800" cy="19050"/>
          </a:xfrm>
          <a:prstGeom prst="rect">
            <a:avLst/>
          </a:prstGeom>
          <a:solidFill>
            <a:srgbClr val="FFFFFF">
              <a:alpha val="16000"/>
            </a:srgbClr>
          </a:solidFill>
          <a:ln/>
        </p:spPr>
      </p:sp>
      <p:sp>
        <p:nvSpPr>
          <p:cNvPr id="5" name="Text 3"/>
          <p:cNvSpPr/>
          <p:nvPr/>
        </p:nvSpPr>
        <p:spPr>
          <a:xfrm>
            <a:off x="990600" y="3407420"/>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01</a:t>
            </a:r>
            <a:endParaRPr lang="en-US" sz="1650" dirty="0"/>
          </a:p>
        </p:txBody>
      </p:sp>
      <p:sp>
        <p:nvSpPr>
          <p:cNvPr id="6" name="Text 4"/>
          <p:cNvSpPr/>
          <p:nvPr/>
        </p:nvSpPr>
        <p:spPr>
          <a:xfrm>
            <a:off x="1508820" y="3331220"/>
            <a:ext cx="5974958" cy="395288"/>
          </a:xfrm>
          <a:prstGeom prst="rect">
            <a:avLst/>
          </a:prstGeom>
          <a:noFill/>
          <a:ln/>
        </p:spPr>
        <p:txBody>
          <a:bodyPr wrap="square" lIns="25400" tIns="25400" rIns="25400" bIns="25400" rtlCol="0" anchor="t">
            <a:normAutofit/>
          </a:bodyPr>
          <a:lstStyle/>
          <a:p>
            <a:pPr algn="l" indent="0" marL="0">
              <a:lnSpc>
                <a:spcPct val="108696"/>
              </a:lnSpc>
              <a:buNone/>
            </a:pPr>
            <a:r>
              <a:rPr lang="en-US" sz="2250" b="1" dirty="0">
                <a:solidFill>
                  <a:srgbClr val="FFFFFF"/>
                </a:solidFill>
                <a:latin typeface="Arial" pitchFamily="34" charset="0"/>
                <a:ea typeface="Arial" pitchFamily="34" charset="-122"/>
                <a:cs typeface="Arial" pitchFamily="34" charset="-120"/>
              </a:rPr>
              <a:t>The model can’t tell trusted from untrusted.</a:t>
            </a:r>
            <a:endParaRPr lang="en-US" sz="2250" dirty="0"/>
          </a:p>
        </p:txBody>
      </p:sp>
      <p:sp>
        <p:nvSpPr>
          <p:cNvPr id="7" name="Text 5"/>
          <p:cNvSpPr/>
          <p:nvPr/>
        </p:nvSpPr>
        <p:spPr>
          <a:xfrm>
            <a:off x="1508820" y="3764607"/>
            <a:ext cx="5974958" cy="355699"/>
          </a:xfrm>
          <a:prstGeom prst="rect">
            <a:avLst/>
          </a:prstGeom>
          <a:noFill/>
          <a:ln/>
        </p:spPr>
        <p:txBody>
          <a:bodyPr wrap="square" lIns="25400" tIns="25400" rIns="25400" bIns="25400" rtlCol="0" anchor="t">
            <a:normAutofit/>
          </a:bodyPr>
          <a:lstStyle/>
          <a:p>
            <a:pPr algn="l" indent="0" marL="0">
              <a:lnSpc>
                <a:spcPct val="123519"/>
              </a:lnSpc>
              <a:buNone/>
            </a:pPr>
            <a:r>
              <a:rPr lang="en-US" sz="1725" dirty="0">
                <a:solidFill>
                  <a:srgbClr val="969696"/>
                </a:solidFill>
                <a:latin typeface="Arial" pitchFamily="34" charset="0"/>
                <a:ea typeface="Arial" pitchFamily="34" charset="-122"/>
                <a:cs typeface="Arial" pitchFamily="34" charset="-120"/>
              </a:rPr>
              <a:t>So you must — in code, before the tokens arrive.</a:t>
            </a:r>
            <a:endParaRPr lang="en-US" sz="1725" dirty="0"/>
          </a:p>
        </p:txBody>
      </p:sp>
      <p:sp>
        <p:nvSpPr>
          <p:cNvPr id="8" name="Shape 6"/>
          <p:cNvSpPr/>
          <p:nvPr/>
        </p:nvSpPr>
        <p:spPr>
          <a:xfrm>
            <a:off x="990600" y="4253657"/>
            <a:ext cx="16306800" cy="19050"/>
          </a:xfrm>
          <a:prstGeom prst="rect">
            <a:avLst/>
          </a:prstGeom>
          <a:solidFill>
            <a:srgbClr val="FFFFFF">
              <a:alpha val="16000"/>
            </a:srgbClr>
          </a:solidFill>
          <a:ln/>
        </p:spPr>
      </p:sp>
      <p:sp>
        <p:nvSpPr>
          <p:cNvPr id="9" name="Text 7"/>
          <p:cNvSpPr/>
          <p:nvPr/>
        </p:nvSpPr>
        <p:spPr>
          <a:xfrm>
            <a:off x="990600" y="4558457"/>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02</a:t>
            </a:r>
            <a:endParaRPr lang="en-US" sz="1650" dirty="0"/>
          </a:p>
        </p:txBody>
      </p:sp>
      <p:sp>
        <p:nvSpPr>
          <p:cNvPr id="10" name="Text 8"/>
          <p:cNvSpPr/>
          <p:nvPr/>
        </p:nvSpPr>
        <p:spPr>
          <a:xfrm>
            <a:off x="1508820" y="4482257"/>
            <a:ext cx="4542979" cy="395288"/>
          </a:xfrm>
          <a:prstGeom prst="rect">
            <a:avLst/>
          </a:prstGeom>
          <a:noFill/>
          <a:ln/>
        </p:spPr>
        <p:txBody>
          <a:bodyPr wrap="square" lIns="25400" tIns="25400" rIns="25400" bIns="25400" rtlCol="0" anchor="t">
            <a:normAutofit/>
          </a:bodyPr>
          <a:lstStyle/>
          <a:p>
            <a:pPr algn="l" indent="0" marL="0">
              <a:lnSpc>
                <a:spcPct val="108696"/>
              </a:lnSpc>
              <a:buNone/>
            </a:pPr>
            <a:r>
              <a:rPr lang="en-US" sz="2250" b="1" dirty="0">
                <a:solidFill>
                  <a:srgbClr val="FFFFFF"/>
                </a:solidFill>
                <a:latin typeface="Arial" pitchFamily="34" charset="0"/>
                <a:ea typeface="Arial" pitchFamily="34" charset="-122"/>
                <a:cs typeface="Arial" pitchFamily="34" charset="-120"/>
              </a:rPr>
              <a:t>Tool metadata is untrusted input.</a:t>
            </a:r>
            <a:endParaRPr lang="en-US" sz="2250" dirty="0"/>
          </a:p>
        </p:txBody>
      </p:sp>
      <p:sp>
        <p:nvSpPr>
          <p:cNvPr id="11" name="Text 9"/>
          <p:cNvSpPr/>
          <p:nvPr/>
        </p:nvSpPr>
        <p:spPr>
          <a:xfrm>
            <a:off x="1508820" y="4915644"/>
            <a:ext cx="4542979" cy="355699"/>
          </a:xfrm>
          <a:prstGeom prst="rect">
            <a:avLst/>
          </a:prstGeom>
          <a:noFill/>
          <a:ln/>
        </p:spPr>
        <p:txBody>
          <a:bodyPr wrap="square" lIns="25400" tIns="25400" rIns="25400" bIns="25400" rtlCol="0" anchor="t">
            <a:normAutofit/>
          </a:bodyPr>
          <a:lstStyle/>
          <a:p>
            <a:pPr algn="l" indent="0" marL="0">
              <a:lnSpc>
                <a:spcPct val="123519"/>
              </a:lnSpc>
              <a:buNone/>
            </a:pPr>
            <a:r>
              <a:rPr lang="en-US" sz="1725" dirty="0">
                <a:solidFill>
                  <a:srgbClr val="969696"/>
                </a:solidFill>
                <a:latin typeface="Arial" pitchFamily="34" charset="0"/>
                <a:ea typeface="Arial" pitchFamily="34" charset="-122"/>
                <a:cs typeface="Arial" pitchFamily="34" charset="-120"/>
              </a:rPr>
              <a:t>And almost nobody reads it.</a:t>
            </a:r>
            <a:endParaRPr lang="en-US" sz="1725" dirty="0"/>
          </a:p>
        </p:txBody>
      </p:sp>
      <p:sp>
        <p:nvSpPr>
          <p:cNvPr id="12" name="Shape 10"/>
          <p:cNvSpPr/>
          <p:nvPr/>
        </p:nvSpPr>
        <p:spPr>
          <a:xfrm>
            <a:off x="990600" y="5404693"/>
            <a:ext cx="16306800" cy="19050"/>
          </a:xfrm>
          <a:prstGeom prst="rect">
            <a:avLst/>
          </a:prstGeom>
          <a:solidFill>
            <a:srgbClr val="FFFFFF">
              <a:alpha val="16000"/>
            </a:srgbClr>
          </a:solidFill>
          <a:ln/>
        </p:spPr>
      </p:sp>
      <p:sp>
        <p:nvSpPr>
          <p:cNvPr id="13" name="Text 11"/>
          <p:cNvSpPr/>
          <p:nvPr/>
        </p:nvSpPr>
        <p:spPr>
          <a:xfrm>
            <a:off x="990600" y="5709493"/>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FD7EF5"/>
                </a:solidFill>
                <a:latin typeface="Courier New" pitchFamily="34" charset="0"/>
                <a:ea typeface="Courier New" pitchFamily="34" charset="-122"/>
                <a:cs typeface="Courier New" pitchFamily="34" charset="-120"/>
              </a:rPr>
              <a:t>03</a:t>
            </a:r>
            <a:endParaRPr lang="en-US" sz="1650" dirty="0"/>
          </a:p>
        </p:txBody>
      </p:sp>
      <p:sp>
        <p:nvSpPr>
          <p:cNvPr id="14" name="Text 12"/>
          <p:cNvSpPr/>
          <p:nvPr/>
        </p:nvSpPr>
        <p:spPr>
          <a:xfrm>
            <a:off x="1508820" y="5633293"/>
            <a:ext cx="6987756" cy="395288"/>
          </a:xfrm>
          <a:prstGeom prst="rect">
            <a:avLst/>
          </a:prstGeom>
          <a:noFill/>
          <a:ln/>
        </p:spPr>
        <p:txBody>
          <a:bodyPr wrap="square" lIns="25400" tIns="25400" rIns="25400" bIns="25400" rtlCol="0" anchor="t">
            <a:normAutofit/>
          </a:bodyPr>
          <a:lstStyle/>
          <a:p>
            <a:pPr algn="l" indent="0" marL="0">
              <a:lnSpc>
                <a:spcPct val="108696"/>
              </a:lnSpc>
              <a:buNone/>
            </a:pPr>
            <a:r>
              <a:rPr lang="en-US" sz="2250" b="1" dirty="0">
                <a:solidFill>
                  <a:srgbClr val="FFFFFF"/>
                </a:solidFill>
                <a:latin typeface="Arial" pitchFamily="34" charset="0"/>
                <a:ea typeface="Arial" pitchFamily="34" charset="-122"/>
                <a:cs typeface="Arial" pitchFamily="34" charset="-120"/>
              </a:rPr>
              <a:t>Alignment is a layer, not the layer.</a:t>
            </a:r>
            <a:endParaRPr lang="en-US" sz="2250" dirty="0"/>
          </a:p>
        </p:txBody>
      </p:sp>
      <p:sp>
        <p:nvSpPr>
          <p:cNvPr id="15" name="Text 13"/>
          <p:cNvSpPr/>
          <p:nvPr/>
        </p:nvSpPr>
        <p:spPr>
          <a:xfrm>
            <a:off x="1508820" y="6066681"/>
            <a:ext cx="6987756" cy="355699"/>
          </a:xfrm>
          <a:prstGeom prst="rect">
            <a:avLst/>
          </a:prstGeom>
          <a:noFill/>
          <a:ln/>
        </p:spPr>
        <p:txBody>
          <a:bodyPr wrap="square" lIns="25400" tIns="25400" rIns="25400" bIns="25400" rtlCol="0" anchor="t">
            <a:normAutofit/>
          </a:bodyPr>
          <a:lstStyle/>
          <a:p>
            <a:pPr algn="l" indent="0" marL="0">
              <a:lnSpc>
                <a:spcPct val="123519"/>
              </a:lnSpc>
              <a:buNone/>
            </a:pPr>
            <a:r>
              <a:rPr lang="en-US" sz="1725" dirty="0">
                <a:solidFill>
                  <a:srgbClr val="969696"/>
                </a:solidFill>
                <a:latin typeface="Arial" pitchFamily="34" charset="0"/>
                <a:ea typeface="Arial" pitchFamily="34" charset="-122"/>
                <a:cs typeface="Arial" pitchFamily="34" charset="-120"/>
              </a:rPr>
              <a:t>Frontier models refuse the naive attack and fall for the indirect one.</a:t>
            </a:r>
            <a:endParaRPr lang="en-US" sz="1725" dirty="0"/>
          </a:p>
        </p:txBody>
      </p:sp>
      <p:sp>
        <p:nvSpPr>
          <p:cNvPr id="16" name="Shape 14"/>
          <p:cNvSpPr/>
          <p:nvPr/>
        </p:nvSpPr>
        <p:spPr>
          <a:xfrm>
            <a:off x="990600" y="6555730"/>
            <a:ext cx="16306800" cy="19050"/>
          </a:xfrm>
          <a:prstGeom prst="rect">
            <a:avLst/>
          </a:prstGeom>
          <a:solidFill>
            <a:srgbClr val="FFFFFF">
              <a:alpha val="16000"/>
            </a:srgbClr>
          </a:solidFill>
          <a:ln/>
        </p:spPr>
      </p:sp>
      <p:sp>
        <p:nvSpPr>
          <p:cNvPr id="17" name="Text 15"/>
          <p:cNvSpPr/>
          <p:nvPr/>
        </p:nvSpPr>
        <p:spPr>
          <a:xfrm>
            <a:off x="990600" y="6860530"/>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FD7EF5"/>
                </a:solidFill>
                <a:latin typeface="Courier New" pitchFamily="34" charset="0"/>
                <a:ea typeface="Courier New" pitchFamily="34" charset="-122"/>
                <a:cs typeface="Courier New" pitchFamily="34" charset="-120"/>
              </a:rPr>
              <a:t>04</a:t>
            </a:r>
            <a:endParaRPr lang="en-US" sz="1650" dirty="0"/>
          </a:p>
        </p:txBody>
      </p:sp>
      <p:sp>
        <p:nvSpPr>
          <p:cNvPr id="18" name="Text 16"/>
          <p:cNvSpPr/>
          <p:nvPr/>
        </p:nvSpPr>
        <p:spPr>
          <a:xfrm>
            <a:off x="1508820" y="6784330"/>
            <a:ext cx="5700742" cy="395288"/>
          </a:xfrm>
          <a:prstGeom prst="rect">
            <a:avLst/>
          </a:prstGeom>
          <a:noFill/>
          <a:ln/>
        </p:spPr>
        <p:txBody>
          <a:bodyPr wrap="square" lIns="25400" tIns="25400" rIns="25400" bIns="25400" rtlCol="0" anchor="t">
            <a:normAutofit/>
          </a:bodyPr>
          <a:lstStyle/>
          <a:p>
            <a:pPr algn="l" indent="0" marL="0">
              <a:lnSpc>
                <a:spcPct val="108696"/>
              </a:lnSpc>
              <a:buNone/>
            </a:pPr>
            <a:r>
              <a:rPr lang="en-US" sz="2250" b="1" dirty="0">
                <a:solidFill>
                  <a:srgbClr val="FFFFFF"/>
                </a:solidFill>
                <a:latin typeface="Arial" pitchFamily="34" charset="0"/>
                <a:ea typeface="Arial" pitchFamily="34" charset="-122"/>
                <a:cs typeface="Arial" pitchFamily="34" charset="-120"/>
              </a:rPr>
              <a:t>Grade the mechanism, never the words.</a:t>
            </a:r>
            <a:endParaRPr lang="en-US" sz="2250" dirty="0"/>
          </a:p>
        </p:txBody>
      </p:sp>
      <p:sp>
        <p:nvSpPr>
          <p:cNvPr id="19" name="Text 17"/>
          <p:cNvSpPr/>
          <p:nvPr/>
        </p:nvSpPr>
        <p:spPr>
          <a:xfrm>
            <a:off x="1508820" y="7217718"/>
            <a:ext cx="5700742" cy="355699"/>
          </a:xfrm>
          <a:prstGeom prst="rect">
            <a:avLst/>
          </a:prstGeom>
          <a:noFill/>
          <a:ln/>
        </p:spPr>
        <p:txBody>
          <a:bodyPr wrap="square" lIns="25400" tIns="25400" rIns="25400" bIns="25400" rtlCol="0" anchor="t">
            <a:normAutofit/>
          </a:bodyPr>
          <a:lstStyle/>
          <a:p>
            <a:pPr algn="l" indent="0" marL="0">
              <a:lnSpc>
                <a:spcPct val="123519"/>
              </a:lnSpc>
              <a:buNone/>
            </a:pPr>
            <a:r>
              <a:rPr lang="en-US" sz="1725" dirty="0">
                <a:solidFill>
                  <a:srgbClr val="969696"/>
                </a:solidFill>
                <a:latin typeface="Arial" pitchFamily="34" charset="0"/>
                <a:ea typeface="Arial" pitchFamily="34" charset="-122"/>
                <a:cs typeface="Arial" pitchFamily="34" charset="-120"/>
              </a:rPr>
              <a:t>Build detection on events, not on what the model said.</a:t>
            </a:r>
            <a:endParaRPr lang="en-US" sz="1725" dirty="0"/>
          </a:p>
        </p:txBody>
      </p:sp>
      <p:sp>
        <p:nvSpPr>
          <p:cNvPr id="20" name="Shape 18"/>
          <p:cNvSpPr/>
          <p:nvPr/>
        </p:nvSpPr>
        <p:spPr>
          <a:xfrm>
            <a:off x="990600" y="7706767"/>
            <a:ext cx="16306800" cy="19050"/>
          </a:xfrm>
          <a:prstGeom prst="rect">
            <a:avLst/>
          </a:prstGeom>
          <a:solidFill>
            <a:srgbClr val="FFFFFF">
              <a:alpha val="16000"/>
            </a:srgbClr>
          </a:solidFill>
          <a:ln/>
        </p:spPr>
      </p:sp>
      <p:sp>
        <p:nvSpPr>
          <p:cNvPr id="21" name="Text 19"/>
          <p:cNvSpPr/>
          <p:nvPr/>
        </p:nvSpPr>
        <p:spPr>
          <a:xfrm>
            <a:off x="990600" y="8011567"/>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FD7EF5"/>
                </a:solidFill>
                <a:latin typeface="Courier New" pitchFamily="34" charset="0"/>
                <a:ea typeface="Courier New" pitchFamily="34" charset="-122"/>
                <a:cs typeface="Courier New" pitchFamily="34" charset="-120"/>
              </a:rPr>
              <a:t>05</a:t>
            </a:r>
            <a:endParaRPr lang="en-US" sz="1650" dirty="0"/>
          </a:p>
        </p:txBody>
      </p:sp>
      <p:sp>
        <p:nvSpPr>
          <p:cNvPr id="22" name="Text 20"/>
          <p:cNvSpPr/>
          <p:nvPr/>
        </p:nvSpPr>
        <p:spPr>
          <a:xfrm>
            <a:off x="1508820" y="7935367"/>
            <a:ext cx="6161589" cy="395288"/>
          </a:xfrm>
          <a:prstGeom prst="rect">
            <a:avLst/>
          </a:prstGeom>
          <a:noFill/>
          <a:ln/>
        </p:spPr>
        <p:txBody>
          <a:bodyPr wrap="square" lIns="25400" tIns="25400" rIns="25400" bIns="25400" rtlCol="0" anchor="t">
            <a:normAutofit/>
          </a:bodyPr>
          <a:lstStyle/>
          <a:p>
            <a:pPr algn="l" indent="0" marL="0">
              <a:lnSpc>
                <a:spcPct val="108696"/>
              </a:lnSpc>
              <a:buNone/>
            </a:pPr>
            <a:r>
              <a:rPr lang="en-US" sz="2250" b="1" dirty="0">
                <a:solidFill>
                  <a:srgbClr val="FFFFFF"/>
                </a:solidFill>
                <a:latin typeface="Arial" pitchFamily="34" charset="0"/>
                <a:ea typeface="Arial" pitchFamily="34" charset="-122"/>
                <a:cs typeface="Arial" pitchFamily="34" charset="-120"/>
              </a:rPr>
              <a:t>Agency multiplies everything.</a:t>
            </a:r>
            <a:endParaRPr lang="en-US" sz="2250" dirty="0"/>
          </a:p>
        </p:txBody>
      </p:sp>
      <p:sp>
        <p:nvSpPr>
          <p:cNvPr id="23" name="Text 21"/>
          <p:cNvSpPr/>
          <p:nvPr/>
        </p:nvSpPr>
        <p:spPr>
          <a:xfrm>
            <a:off x="1508820" y="8368754"/>
            <a:ext cx="6161589" cy="355699"/>
          </a:xfrm>
          <a:prstGeom prst="rect">
            <a:avLst/>
          </a:prstGeom>
          <a:noFill/>
          <a:ln/>
        </p:spPr>
        <p:txBody>
          <a:bodyPr wrap="square" lIns="25400" tIns="25400" rIns="25400" bIns="25400" rtlCol="0" anchor="t">
            <a:normAutofit/>
          </a:bodyPr>
          <a:lstStyle/>
          <a:p>
            <a:pPr algn="l" indent="0" marL="0">
              <a:lnSpc>
                <a:spcPct val="123519"/>
              </a:lnSpc>
              <a:buNone/>
            </a:pPr>
            <a:r>
              <a:rPr lang="en-US" sz="1725" dirty="0">
                <a:solidFill>
                  <a:srgbClr val="969696"/>
                </a:solidFill>
                <a:latin typeface="Arial" pitchFamily="34" charset="0"/>
                <a:ea typeface="Arial" pitchFamily="34" charset="-122"/>
                <a:cs typeface="Arial" pitchFamily="34" charset="-120"/>
              </a:rPr>
              <a:t>The more the model can do, the more an injection is worth.</a:t>
            </a:r>
            <a:endParaRPr lang="en-US" sz="1725" dirty="0"/>
          </a:p>
        </p:txBody>
      </p:sp>
      <p:pic>
        <p:nvPicPr>
          <p:cNvPr id="2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5" name="Text 22"/>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CLOSING · ADVERSARIAL AI</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YOUR MONDAY MORNING</a:t>
            </a:r>
            <a:endParaRPr lang="en-US" sz="1500" dirty="0"/>
          </a:p>
        </p:txBody>
      </p:sp>
      <p:sp>
        <p:nvSpPr>
          <p:cNvPr id="3" name="Text 1"/>
          <p:cNvSpPr/>
          <p:nvPr/>
        </p:nvSpPr>
        <p:spPr>
          <a:xfrm>
            <a:off x="990600" y="1243013"/>
            <a:ext cx="16796004" cy="1238250"/>
          </a:xfrm>
          <a:prstGeom prst="rect">
            <a:avLst/>
          </a:prstGeom>
          <a:noFill/>
          <a:ln/>
        </p:spPr>
        <p:txBody>
          <a:bodyPr wrap="square" lIns="25400" tIns="25400" rIns="25400" bIns="25400" rtlCol="0" anchor="t">
            <a:normAutofit/>
          </a:bodyPr>
          <a:lstStyle/>
          <a:p>
            <a:pPr algn="l" indent="0" marL="0">
              <a:lnSpc>
                <a:spcPct val="77778"/>
              </a:lnSpc>
              <a:buNone/>
            </a:pPr>
            <a:r>
              <a:rPr lang="en-US" sz="5250" b="1" dirty="0">
                <a:solidFill>
                  <a:srgbClr val="FFFFFF"/>
                </a:solidFill>
                <a:latin typeface="Arial" pitchFamily="34" charset="0"/>
                <a:ea typeface="Arial" pitchFamily="34" charset="-122"/>
                <a:cs typeface="Arial" pitchFamily="34" charset="-120"/>
              </a:rPr>
              <a:t>THE CHECKLIST — MAP IT, THEN FIX THE DATA</a:t>
            </a:r>
            <a:endParaRPr lang="en-US" sz="5250" dirty="0"/>
          </a:p>
        </p:txBody>
      </p:sp>
      <p:sp>
        <p:nvSpPr>
          <p:cNvPr id="4" name="Shape 2"/>
          <p:cNvSpPr/>
          <p:nvPr/>
        </p:nvSpPr>
        <p:spPr>
          <a:xfrm>
            <a:off x="990600" y="2862263"/>
            <a:ext cx="5295900" cy="2759348"/>
          </a:xfrm>
          <a:prstGeom prst="roundRect">
            <a:avLst>
              <a:gd name="adj" fmla="val 2762"/>
            </a:avLst>
          </a:prstGeom>
          <a:ln w="9525">
            <a:solidFill>
              <a:srgbClr val="FFFFFF">
                <a:alpha val="14000"/>
              </a:srgbClr>
            </a:solidFill>
            <a:prstDash val="solid"/>
          </a:ln>
        </p:spPr>
      </p:sp>
      <p:sp>
        <p:nvSpPr>
          <p:cNvPr id="5" name="Text 3"/>
          <p:cNvSpPr/>
          <p:nvPr/>
        </p:nvSpPr>
        <p:spPr>
          <a:xfrm>
            <a:off x="1266825" y="3119438"/>
            <a:ext cx="5217795"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36CDFF"/>
                </a:solidFill>
                <a:latin typeface="Courier New" pitchFamily="34" charset="0"/>
                <a:ea typeface="Courier New" pitchFamily="34" charset="-122"/>
                <a:cs typeface="Courier New" pitchFamily="34" charset="-120"/>
              </a:rPr>
              <a:t>MAP</a:t>
            </a:r>
            <a:endParaRPr lang="en-US" sz="1500" dirty="0"/>
          </a:p>
        </p:txBody>
      </p:sp>
      <p:sp>
        <p:nvSpPr>
          <p:cNvPr id="6" name="Text 4"/>
          <p:cNvSpPr/>
          <p:nvPr/>
        </p:nvSpPr>
        <p:spPr>
          <a:xfrm>
            <a:off x="1266825" y="3486150"/>
            <a:ext cx="5217795" cy="335235"/>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FFFFFF"/>
                </a:solidFill>
                <a:latin typeface="Arial" pitchFamily="34" charset="0"/>
                <a:ea typeface="Arial" pitchFamily="34" charset="-122"/>
                <a:cs typeface="Arial" pitchFamily="34" charset="-120"/>
              </a:rPr>
              <a:t>Inventory your layers</a:t>
            </a:r>
            <a:endParaRPr lang="en-US" sz="1800" dirty="0"/>
          </a:p>
        </p:txBody>
      </p:sp>
      <p:sp>
        <p:nvSpPr>
          <p:cNvPr id="7" name="Text 5"/>
          <p:cNvSpPr/>
          <p:nvPr/>
        </p:nvSpPr>
        <p:spPr>
          <a:xfrm>
            <a:off x="1266825" y="3897585"/>
            <a:ext cx="4885754" cy="878160"/>
          </a:xfrm>
          <a:prstGeom prst="rect">
            <a:avLst/>
          </a:prstGeom>
          <a:noFill/>
          <a:ln/>
        </p:spPr>
        <p:txBody>
          <a:bodyPr wrap="square" lIns="25400" tIns="25400" rIns="25400" bIns="25400" rtlCol="0" anchor="t">
            <a:normAutofit/>
          </a:bodyPr>
          <a:lstStyle/>
          <a:p>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Which of the six do you actually run — chatbot? RAG? agent? MCP? multi-agent? Each layer you added is attack surface you own.</a:t>
            </a:r>
            <a:endParaRPr lang="en-US" sz="1575" dirty="0"/>
          </a:p>
        </p:txBody>
      </p:sp>
      <p:sp>
        <p:nvSpPr>
          <p:cNvPr id="8" name="Shape 6"/>
          <p:cNvSpPr/>
          <p:nvPr/>
        </p:nvSpPr>
        <p:spPr>
          <a:xfrm>
            <a:off x="6496050" y="2862263"/>
            <a:ext cx="5295900" cy="2759348"/>
          </a:xfrm>
          <a:prstGeom prst="roundRect">
            <a:avLst>
              <a:gd name="adj" fmla="val 2762"/>
            </a:avLst>
          </a:prstGeom>
          <a:ln w="9525">
            <a:solidFill>
              <a:srgbClr val="FFFFFF">
                <a:alpha val="14000"/>
              </a:srgbClr>
            </a:solidFill>
            <a:prstDash val="solid"/>
          </a:ln>
        </p:spPr>
      </p:sp>
      <p:sp>
        <p:nvSpPr>
          <p:cNvPr id="9" name="Text 7"/>
          <p:cNvSpPr/>
          <p:nvPr/>
        </p:nvSpPr>
        <p:spPr>
          <a:xfrm>
            <a:off x="6772275" y="3119438"/>
            <a:ext cx="5217795"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36CDFF"/>
                </a:solidFill>
                <a:latin typeface="Courier New" pitchFamily="34" charset="0"/>
                <a:ea typeface="Courier New" pitchFamily="34" charset="-122"/>
                <a:cs typeface="Courier New" pitchFamily="34" charset="-120"/>
              </a:rPr>
              <a:t>MAP</a:t>
            </a:r>
            <a:endParaRPr lang="en-US" sz="1500" dirty="0"/>
          </a:p>
        </p:txBody>
      </p:sp>
      <p:sp>
        <p:nvSpPr>
          <p:cNvPr id="10" name="Text 8"/>
          <p:cNvSpPr/>
          <p:nvPr/>
        </p:nvSpPr>
        <p:spPr>
          <a:xfrm>
            <a:off x="6772275" y="3486150"/>
            <a:ext cx="5217795" cy="335235"/>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FFFFFF"/>
                </a:solidFill>
                <a:latin typeface="Arial" pitchFamily="34" charset="0"/>
                <a:ea typeface="Arial" pitchFamily="34" charset="-122"/>
                <a:cs typeface="Arial" pitchFamily="34" charset="-120"/>
              </a:rPr>
              <a:t>Find every render path</a:t>
            </a:r>
            <a:endParaRPr lang="en-US" sz="1800" dirty="0"/>
          </a:p>
        </p:txBody>
      </p:sp>
      <p:sp>
        <p:nvSpPr>
          <p:cNvPr id="11" name="Text 9"/>
          <p:cNvSpPr/>
          <p:nvPr/>
        </p:nvSpPr>
        <p:spPr>
          <a:xfrm>
            <a:off x="6772275" y="3897585"/>
            <a:ext cx="4885754" cy="598140"/>
          </a:xfrm>
          <a:prstGeom prst="rect">
            <a:avLst/>
          </a:prstGeom>
          <a:noFill/>
          <a:ln/>
        </p:spPr>
        <p:txBody>
          <a:bodyPr wrap="square" lIns="25400" tIns="25400" rIns="25400" bIns="25400" rtlCol="0" anchor="t">
            <a:normAutofit/>
          </a:bodyPr>
          <a:lstStyle/>
          <a:p>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Everywhere model output is rendered (web, email, docs), assume XSS until proven encoded.</a:t>
            </a:r>
            <a:endParaRPr lang="en-US" sz="1575" dirty="0"/>
          </a:p>
        </p:txBody>
      </p:sp>
      <p:sp>
        <p:nvSpPr>
          <p:cNvPr id="12" name="Shape 10"/>
          <p:cNvSpPr/>
          <p:nvPr/>
        </p:nvSpPr>
        <p:spPr>
          <a:xfrm>
            <a:off x="12001500" y="2862263"/>
            <a:ext cx="5295900" cy="2759348"/>
          </a:xfrm>
          <a:prstGeom prst="roundRect">
            <a:avLst>
              <a:gd name="adj" fmla="val 2762"/>
            </a:avLst>
          </a:prstGeom>
          <a:solidFill>
            <a:srgbClr val="FD7EF5">
              <a:alpha val="6000"/>
            </a:srgbClr>
          </a:solidFill>
          <a:ln w="9525">
            <a:solidFill>
              <a:srgbClr val="FD7EF5"/>
            </a:solidFill>
            <a:prstDash val="solid"/>
          </a:ln>
        </p:spPr>
      </p:sp>
      <p:sp>
        <p:nvSpPr>
          <p:cNvPr id="13" name="Text 11"/>
          <p:cNvSpPr/>
          <p:nvPr/>
        </p:nvSpPr>
        <p:spPr>
          <a:xfrm>
            <a:off x="12277725" y="3119438"/>
            <a:ext cx="5217795"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FD7EF5"/>
                </a:solidFill>
                <a:latin typeface="Courier New" pitchFamily="34" charset="0"/>
                <a:ea typeface="Courier New" pitchFamily="34" charset="-122"/>
                <a:cs typeface="Courier New" pitchFamily="34" charset="-120"/>
              </a:rPr>
              <a:t>FIX</a:t>
            </a:r>
            <a:endParaRPr lang="en-US" sz="1500" dirty="0"/>
          </a:p>
        </p:txBody>
      </p:sp>
      <p:sp>
        <p:nvSpPr>
          <p:cNvPr id="14" name="Text 12"/>
          <p:cNvSpPr/>
          <p:nvPr/>
        </p:nvSpPr>
        <p:spPr>
          <a:xfrm>
            <a:off x="12277725" y="3486150"/>
            <a:ext cx="5217795" cy="335235"/>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FFFFFF"/>
                </a:solidFill>
                <a:latin typeface="Arial" pitchFamily="34" charset="0"/>
                <a:ea typeface="Arial" pitchFamily="34" charset="-122"/>
                <a:cs typeface="Arial" pitchFamily="34" charset="-120"/>
              </a:rPr>
              <a:t>Secrets out of the system prompt</a:t>
            </a:r>
            <a:endParaRPr lang="en-US" sz="1800" dirty="0"/>
          </a:p>
        </p:txBody>
      </p:sp>
      <p:sp>
        <p:nvSpPr>
          <p:cNvPr id="15" name="Text 13"/>
          <p:cNvSpPr/>
          <p:nvPr/>
        </p:nvSpPr>
        <p:spPr>
          <a:xfrm>
            <a:off x="12277725" y="3897585"/>
            <a:ext cx="5217795" cy="318120"/>
          </a:xfrm>
          <a:prstGeom prst="rect">
            <a:avLst/>
          </a:prstGeom>
          <a:noFill/>
          <a:ln/>
        </p:spPr>
        <p:txBody>
          <a:bodyPr wrap="square" lIns="25400" tIns="25400" rIns="25400" bIns="25400" rtlCol="0" anchor="t">
            <a:normAutofit/>
          </a:bodyPr>
          <a:lstStyle/>
          <a:p>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Treat the prompt as readable by anyone.</a:t>
            </a:r>
            <a:endParaRPr lang="en-US" sz="1575" dirty="0"/>
          </a:p>
        </p:txBody>
      </p:sp>
      <p:sp>
        <p:nvSpPr>
          <p:cNvPr id="16" name="Shape 14"/>
          <p:cNvSpPr/>
          <p:nvPr/>
        </p:nvSpPr>
        <p:spPr>
          <a:xfrm>
            <a:off x="990600" y="5831160"/>
            <a:ext cx="5295900" cy="2479402"/>
          </a:xfrm>
          <a:prstGeom prst="roundRect">
            <a:avLst>
              <a:gd name="adj" fmla="val 3073"/>
            </a:avLst>
          </a:prstGeom>
          <a:ln w="9525">
            <a:solidFill>
              <a:srgbClr val="FFFFFF">
                <a:alpha val="14000"/>
              </a:srgbClr>
            </a:solidFill>
            <a:prstDash val="solid"/>
          </a:ln>
        </p:spPr>
      </p:sp>
      <p:sp>
        <p:nvSpPr>
          <p:cNvPr id="17" name="Text 15"/>
          <p:cNvSpPr/>
          <p:nvPr/>
        </p:nvSpPr>
        <p:spPr>
          <a:xfrm>
            <a:off x="1266825" y="6088335"/>
            <a:ext cx="5217795"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36CDFF"/>
                </a:solidFill>
                <a:latin typeface="Courier New" pitchFamily="34" charset="0"/>
                <a:ea typeface="Courier New" pitchFamily="34" charset="-122"/>
                <a:cs typeface="Courier New" pitchFamily="34" charset="-120"/>
              </a:rPr>
              <a:t>FIX</a:t>
            </a:r>
            <a:endParaRPr lang="en-US" sz="1500" dirty="0"/>
          </a:p>
        </p:txBody>
      </p:sp>
      <p:sp>
        <p:nvSpPr>
          <p:cNvPr id="18" name="Text 16"/>
          <p:cNvSpPr/>
          <p:nvPr/>
        </p:nvSpPr>
        <p:spPr>
          <a:xfrm>
            <a:off x="1266825" y="6455048"/>
            <a:ext cx="5217795" cy="335235"/>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FFFFFF"/>
                </a:solidFill>
                <a:latin typeface="Arial" pitchFamily="34" charset="0"/>
                <a:ea typeface="Arial" pitchFamily="34" charset="-122"/>
                <a:cs typeface="Arial" pitchFamily="34" charset="-120"/>
              </a:rPr>
              <a:t>Encode model output</a:t>
            </a:r>
            <a:endParaRPr lang="en-US" sz="1800" dirty="0"/>
          </a:p>
        </p:txBody>
      </p:sp>
      <p:sp>
        <p:nvSpPr>
          <p:cNvPr id="19" name="Text 17"/>
          <p:cNvSpPr/>
          <p:nvPr/>
        </p:nvSpPr>
        <p:spPr>
          <a:xfrm>
            <a:off x="1266825" y="6866483"/>
            <a:ext cx="4885754" cy="598140"/>
          </a:xfrm>
          <a:prstGeom prst="rect">
            <a:avLst/>
          </a:prstGeom>
          <a:noFill/>
          <a:ln/>
        </p:spPr>
        <p:txBody>
          <a:bodyPr wrap="square" lIns="25400" tIns="25400" rIns="25400" bIns="25400" rtlCol="0" anchor="t">
            <a:normAutofit/>
          </a:bodyPr>
          <a:lstStyle/>
          <a:p>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Context-aware encoding, plus a CSP anywhere it renders.</a:t>
            </a:r>
            <a:endParaRPr lang="en-US" sz="1575" dirty="0"/>
          </a:p>
        </p:txBody>
      </p:sp>
      <p:sp>
        <p:nvSpPr>
          <p:cNvPr id="20" name="Shape 18"/>
          <p:cNvSpPr/>
          <p:nvPr/>
        </p:nvSpPr>
        <p:spPr>
          <a:xfrm>
            <a:off x="6496050" y="5831160"/>
            <a:ext cx="5295900" cy="2479402"/>
          </a:xfrm>
          <a:prstGeom prst="roundRect">
            <a:avLst>
              <a:gd name="adj" fmla="val 3073"/>
            </a:avLst>
          </a:prstGeom>
          <a:ln w="9525">
            <a:solidFill>
              <a:srgbClr val="FFFFFF">
                <a:alpha val="14000"/>
              </a:srgbClr>
            </a:solidFill>
            <a:prstDash val="solid"/>
          </a:ln>
        </p:spPr>
      </p:sp>
      <p:sp>
        <p:nvSpPr>
          <p:cNvPr id="21" name="Text 19"/>
          <p:cNvSpPr/>
          <p:nvPr/>
        </p:nvSpPr>
        <p:spPr>
          <a:xfrm>
            <a:off x="6772275" y="6088335"/>
            <a:ext cx="5217795"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36CDFF"/>
                </a:solidFill>
                <a:latin typeface="Courier New" pitchFamily="34" charset="0"/>
                <a:ea typeface="Courier New" pitchFamily="34" charset="-122"/>
                <a:cs typeface="Courier New" pitchFamily="34" charset="-120"/>
              </a:rPr>
              <a:t>FIX</a:t>
            </a:r>
            <a:endParaRPr lang="en-US" sz="1500" dirty="0"/>
          </a:p>
        </p:txBody>
      </p:sp>
      <p:sp>
        <p:nvSpPr>
          <p:cNvPr id="22" name="Text 20"/>
          <p:cNvSpPr/>
          <p:nvPr/>
        </p:nvSpPr>
        <p:spPr>
          <a:xfrm>
            <a:off x="6772275" y="6455048"/>
            <a:ext cx="5217795" cy="335235"/>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FFFFFF"/>
                </a:solidFill>
                <a:latin typeface="Arial" pitchFamily="34" charset="0"/>
                <a:ea typeface="Arial" pitchFamily="34" charset="-122"/>
                <a:cs typeface="Arial" pitchFamily="34" charset="-120"/>
              </a:rPr>
              <a:t>Tag RAG chunks by provenance</a:t>
            </a:r>
            <a:endParaRPr lang="en-US" sz="1800" dirty="0"/>
          </a:p>
        </p:txBody>
      </p:sp>
      <p:sp>
        <p:nvSpPr>
          <p:cNvPr id="23" name="Text 21"/>
          <p:cNvSpPr/>
          <p:nvPr/>
        </p:nvSpPr>
        <p:spPr>
          <a:xfrm>
            <a:off x="6772275" y="6866483"/>
            <a:ext cx="4885754" cy="598140"/>
          </a:xfrm>
          <a:prstGeom prst="rect">
            <a:avLst/>
          </a:prstGeom>
          <a:noFill/>
          <a:ln/>
        </p:spPr>
        <p:txBody>
          <a:bodyPr wrap="square" lIns="25400" tIns="25400" rIns="25400" bIns="25400" rtlCol="0" anchor="t">
            <a:normAutofit/>
          </a:bodyPr>
          <a:lstStyle/>
          <a:p>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Quarantine user-submitted content as data; enforce access scope.</a:t>
            </a:r>
            <a:endParaRPr lang="en-US" sz="1575" dirty="0"/>
          </a:p>
        </p:txBody>
      </p:sp>
      <p:sp>
        <p:nvSpPr>
          <p:cNvPr id="24" name="Shape 22"/>
          <p:cNvSpPr/>
          <p:nvPr/>
        </p:nvSpPr>
        <p:spPr>
          <a:xfrm>
            <a:off x="12001500" y="5831160"/>
            <a:ext cx="5295900" cy="2479402"/>
          </a:xfrm>
          <a:prstGeom prst="roundRect">
            <a:avLst>
              <a:gd name="adj" fmla="val 3073"/>
            </a:avLst>
          </a:prstGeom>
          <a:ln w="9525">
            <a:solidFill>
              <a:srgbClr val="FFFFFF">
                <a:alpha val="14000"/>
              </a:srgbClr>
            </a:solidFill>
            <a:prstDash val="solid"/>
          </a:ln>
        </p:spPr>
      </p:sp>
      <p:sp>
        <p:nvSpPr>
          <p:cNvPr id="25" name="Text 23"/>
          <p:cNvSpPr/>
          <p:nvPr/>
        </p:nvSpPr>
        <p:spPr>
          <a:xfrm>
            <a:off x="12277725" y="6088335"/>
            <a:ext cx="5217795"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36CDFF"/>
                </a:solidFill>
                <a:latin typeface="Courier New" pitchFamily="34" charset="0"/>
                <a:ea typeface="Courier New" pitchFamily="34" charset="-122"/>
                <a:cs typeface="Courier New" pitchFamily="34" charset="-120"/>
              </a:rPr>
              <a:t>FIX</a:t>
            </a:r>
            <a:endParaRPr lang="en-US" sz="1500" dirty="0"/>
          </a:p>
        </p:txBody>
      </p:sp>
      <p:sp>
        <p:nvSpPr>
          <p:cNvPr id="26" name="Text 24"/>
          <p:cNvSpPr/>
          <p:nvPr/>
        </p:nvSpPr>
        <p:spPr>
          <a:xfrm>
            <a:off x="12277725" y="6455048"/>
            <a:ext cx="5217795" cy="335235"/>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FFFFFF"/>
                </a:solidFill>
                <a:latin typeface="Arial" pitchFamily="34" charset="0"/>
                <a:ea typeface="Arial" pitchFamily="34" charset="-122"/>
                <a:cs typeface="Arial" pitchFamily="34" charset="-120"/>
              </a:rPr>
              <a:t>Verify model artifacts</a:t>
            </a:r>
            <a:endParaRPr lang="en-US" sz="1800" dirty="0"/>
          </a:p>
        </p:txBody>
      </p:sp>
      <p:sp>
        <p:nvSpPr>
          <p:cNvPr id="27" name="Text 25"/>
          <p:cNvSpPr/>
          <p:nvPr/>
        </p:nvSpPr>
        <p:spPr>
          <a:xfrm>
            <a:off x="12277725" y="6866483"/>
            <a:ext cx="4885754" cy="598140"/>
          </a:xfrm>
          <a:prstGeom prst="rect">
            <a:avLst/>
          </a:prstGeom>
          <a:noFill/>
          <a:ln/>
        </p:spPr>
        <p:txBody>
          <a:bodyPr wrap="square" lIns="25400" tIns="25400" rIns="25400" bIns="25400" rtlCol="0" anchor="t">
            <a:normAutofit/>
          </a:bodyPr>
          <a:lstStyle/>
          <a:p>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safetensors-only, hash-pin, ban untrusted pickle. Scan pinned deps for CVEs.</a:t>
            </a:r>
            <a:endParaRPr lang="en-US" sz="1575" dirty="0"/>
          </a:p>
        </p:txBody>
      </p:sp>
      <p:sp>
        <p:nvSpPr>
          <p:cNvPr id="28" name="Text 26"/>
          <p:cNvSpPr/>
          <p:nvPr/>
        </p:nvSpPr>
        <p:spPr>
          <a:xfrm>
            <a:off x="990600" y="8596313"/>
            <a:ext cx="17937480" cy="300038"/>
          </a:xfrm>
          <a:prstGeom prst="rect">
            <a:avLst/>
          </a:prstGeom>
          <a:noFill/>
          <a:ln/>
        </p:spPr>
        <p:txBody>
          <a:bodyPr wrap="square" lIns="25400" tIns="25400" rIns="25400" bIns="25400" rtlCol="0" anchor="t">
            <a:normAutofit/>
          </a:bodyPr>
          <a:lstStyle/>
          <a:p>
            <a:pPr algn="l" indent="0" marL="0">
              <a:buNone/>
            </a:pPr>
            <a:r>
              <a:rPr lang="en-US" sz="1875" dirty="0">
                <a:solidFill>
                  <a:srgbClr val="C8C8C8"/>
                </a:solidFill>
                <a:latin typeface="Arial" pitchFamily="34" charset="0"/>
                <a:ea typeface="Arial" pitchFamily="34" charset="-122"/>
                <a:cs typeface="Arial" pitchFamily="34" charset="-120"/>
              </a:rPr>
              <a:t>The same six controls you flipped today — now against your own stack.</a:t>
            </a:r>
            <a:endParaRPr lang="en-US" sz="1875" dirty="0"/>
          </a:p>
        </p:txBody>
      </p:sp>
      <p:pic>
        <p:nvPicPr>
          <p:cNvPr id="29"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30" name="Text 27"/>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CLOSING · ADVERSARIAL AI</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YOUR MONDAY MORNING</a:t>
            </a:r>
            <a:endParaRPr lang="en-US" sz="1500" dirty="0"/>
          </a:p>
        </p:txBody>
      </p:sp>
      <p:sp>
        <p:nvSpPr>
          <p:cNvPr id="3" name="Text 1"/>
          <p:cNvSpPr/>
          <p:nvPr/>
        </p:nvSpPr>
        <p:spPr>
          <a:xfrm>
            <a:off x="990600" y="1243013"/>
            <a:ext cx="16796004" cy="1238250"/>
          </a:xfrm>
          <a:prstGeom prst="rect">
            <a:avLst/>
          </a:prstGeom>
          <a:noFill/>
          <a:ln/>
        </p:spPr>
        <p:txBody>
          <a:bodyPr wrap="square" lIns="25400" tIns="25400" rIns="25400" bIns="25400" rtlCol="0" anchor="t">
            <a:normAutofit/>
          </a:bodyPr>
          <a:lstStyle/>
          <a:p>
            <a:pPr algn="l" indent="0" marL="0">
              <a:lnSpc>
                <a:spcPct val="77778"/>
              </a:lnSpc>
              <a:buNone/>
            </a:pPr>
            <a:r>
              <a:rPr lang="en-US" sz="5250" b="1" dirty="0">
                <a:solidFill>
                  <a:srgbClr val="FFFFFF"/>
                </a:solidFill>
                <a:latin typeface="Arial" pitchFamily="34" charset="0"/>
                <a:ea typeface="Arial" pitchFamily="34" charset="-122"/>
                <a:cs typeface="Arial" pitchFamily="34" charset="-120"/>
              </a:rPr>
              <a:t>THE CHECKLIST — THE AGENTIC HALF</a:t>
            </a:r>
            <a:endParaRPr lang="en-US" sz="5250" dirty="0"/>
          </a:p>
        </p:txBody>
      </p:sp>
      <p:sp>
        <p:nvSpPr>
          <p:cNvPr id="4" name="Shape 2"/>
          <p:cNvSpPr/>
          <p:nvPr/>
        </p:nvSpPr>
        <p:spPr>
          <a:xfrm>
            <a:off x="990600" y="2862263"/>
            <a:ext cx="5295900" cy="2893219"/>
          </a:xfrm>
          <a:prstGeom prst="roundRect">
            <a:avLst>
              <a:gd name="adj" fmla="val 2634"/>
            </a:avLst>
          </a:prstGeom>
          <a:solidFill>
            <a:srgbClr val="FD7EF5">
              <a:alpha val="6000"/>
            </a:srgbClr>
          </a:solidFill>
          <a:ln w="9525">
            <a:solidFill>
              <a:srgbClr val="FD7EF5"/>
            </a:solidFill>
            <a:prstDash val="solid"/>
          </a:ln>
        </p:spPr>
      </p:sp>
      <p:sp>
        <p:nvSpPr>
          <p:cNvPr id="5" name="Text 3"/>
          <p:cNvSpPr/>
          <p:nvPr/>
        </p:nvSpPr>
        <p:spPr>
          <a:xfrm>
            <a:off x="1266825" y="3119438"/>
            <a:ext cx="5217795"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FD7EF5"/>
                </a:solidFill>
                <a:latin typeface="Courier New" pitchFamily="34" charset="0"/>
                <a:ea typeface="Courier New" pitchFamily="34" charset="-122"/>
                <a:cs typeface="Courier New" pitchFamily="34" charset="-120"/>
              </a:rPr>
              <a:t>HANDS</a:t>
            </a:r>
            <a:endParaRPr lang="en-US" sz="1500" dirty="0"/>
          </a:p>
        </p:txBody>
      </p:sp>
      <p:sp>
        <p:nvSpPr>
          <p:cNvPr id="6" name="Text 4"/>
          <p:cNvSpPr/>
          <p:nvPr/>
        </p:nvSpPr>
        <p:spPr>
          <a:xfrm>
            <a:off x="1266825" y="3486150"/>
            <a:ext cx="5217795" cy="335235"/>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FFFFFF"/>
                </a:solidFill>
                <a:latin typeface="Arial" pitchFamily="34" charset="0"/>
                <a:ea typeface="Arial" pitchFamily="34" charset="-122"/>
                <a:cs typeface="Arial" pitchFamily="34" charset="-120"/>
              </a:rPr>
              <a:t>Least privilege for tools</a:t>
            </a:r>
            <a:endParaRPr lang="en-US" sz="1800" dirty="0"/>
          </a:p>
        </p:txBody>
      </p:sp>
      <p:sp>
        <p:nvSpPr>
          <p:cNvPr id="7" name="Text 5"/>
          <p:cNvSpPr/>
          <p:nvPr/>
        </p:nvSpPr>
        <p:spPr>
          <a:xfrm>
            <a:off x="1266825" y="3897585"/>
            <a:ext cx="4885754" cy="598140"/>
          </a:xfrm>
          <a:prstGeom prst="rect">
            <a:avLst/>
          </a:prstGeom>
          <a:noFill/>
          <a:ln/>
        </p:spPr>
        <p:txBody>
          <a:bodyPr wrap="square" lIns="25400" tIns="25400" rIns="25400" bIns="25400" rtlCol="0" anchor="t">
            <a:normAutofit/>
          </a:bodyPr>
          <a:lstStyle/>
          <a:p>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Per-action ownership checks; human-in-the-loop for anything that moves money or data.</a:t>
            </a:r>
            <a:endParaRPr lang="en-US" sz="1575" dirty="0"/>
          </a:p>
        </p:txBody>
      </p:sp>
      <p:sp>
        <p:nvSpPr>
          <p:cNvPr id="8" name="Shape 6"/>
          <p:cNvSpPr/>
          <p:nvPr/>
        </p:nvSpPr>
        <p:spPr>
          <a:xfrm>
            <a:off x="6496050" y="2862263"/>
            <a:ext cx="5295900" cy="2893219"/>
          </a:xfrm>
          <a:prstGeom prst="roundRect">
            <a:avLst>
              <a:gd name="adj" fmla="val 2634"/>
            </a:avLst>
          </a:prstGeom>
          <a:ln w="9525">
            <a:solidFill>
              <a:srgbClr val="FFFFFF">
                <a:alpha val="14000"/>
              </a:srgbClr>
            </a:solidFill>
            <a:prstDash val="solid"/>
          </a:ln>
        </p:spPr>
      </p:sp>
      <p:sp>
        <p:nvSpPr>
          <p:cNvPr id="9" name="Text 7"/>
          <p:cNvSpPr/>
          <p:nvPr/>
        </p:nvSpPr>
        <p:spPr>
          <a:xfrm>
            <a:off x="6772275" y="3119438"/>
            <a:ext cx="5217795"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36CDFF"/>
                </a:solidFill>
                <a:latin typeface="Courier New" pitchFamily="34" charset="0"/>
                <a:ea typeface="Courier New" pitchFamily="34" charset="-122"/>
                <a:cs typeface="Courier New" pitchFamily="34" charset="-120"/>
              </a:rPr>
              <a:t>HANDS</a:t>
            </a:r>
            <a:endParaRPr lang="en-US" sz="1500" dirty="0"/>
          </a:p>
        </p:txBody>
      </p:sp>
      <p:sp>
        <p:nvSpPr>
          <p:cNvPr id="10" name="Text 8"/>
          <p:cNvSpPr/>
          <p:nvPr/>
        </p:nvSpPr>
        <p:spPr>
          <a:xfrm>
            <a:off x="6772275" y="3486150"/>
            <a:ext cx="5217795" cy="335235"/>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FFFFFF"/>
                </a:solidFill>
                <a:latin typeface="Arial" pitchFamily="34" charset="0"/>
                <a:ea typeface="Arial" pitchFamily="34" charset="-122"/>
                <a:cs typeface="Arial" pitchFamily="34" charset="-120"/>
              </a:rPr>
              <a:t>Pin &amp; sanitize MCP descriptions</a:t>
            </a:r>
            <a:endParaRPr lang="en-US" sz="1800" dirty="0"/>
          </a:p>
        </p:txBody>
      </p:sp>
      <p:sp>
        <p:nvSpPr>
          <p:cNvPr id="11" name="Text 9"/>
          <p:cNvSpPr/>
          <p:nvPr/>
        </p:nvSpPr>
        <p:spPr>
          <a:xfrm>
            <a:off x="6772275" y="3897585"/>
            <a:ext cx="4885754" cy="598140"/>
          </a:xfrm>
          <a:prstGeom prst="rect">
            <a:avLst/>
          </a:prstGeom>
          <a:noFill/>
          <a:ln/>
        </p:spPr>
        <p:txBody>
          <a:bodyPr wrap="square" lIns="25400" tIns="25400" rIns="25400" bIns="25400" rtlCol="0" anchor="t">
            <a:normAutofit/>
          </a:bodyPr>
          <a:lstStyle/>
          <a:p>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Isolate credentials per server — no shared token vault.</a:t>
            </a:r>
            <a:endParaRPr lang="en-US" sz="1575" dirty="0"/>
          </a:p>
        </p:txBody>
      </p:sp>
      <p:sp>
        <p:nvSpPr>
          <p:cNvPr id="12" name="Shape 10"/>
          <p:cNvSpPr/>
          <p:nvPr/>
        </p:nvSpPr>
        <p:spPr>
          <a:xfrm>
            <a:off x="12001500" y="2862263"/>
            <a:ext cx="5295900" cy="2893219"/>
          </a:xfrm>
          <a:prstGeom prst="roundRect">
            <a:avLst>
              <a:gd name="adj" fmla="val 2634"/>
            </a:avLst>
          </a:prstGeom>
          <a:ln w="9525">
            <a:solidFill>
              <a:srgbClr val="FFFFFF">
                <a:alpha val="14000"/>
              </a:srgbClr>
            </a:solidFill>
            <a:prstDash val="solid"/>
          </a:ln>
        </p:spPr>
      </p:sp>
      <p:sp>
        <p:nvSpPr>
          <p:cNvPr id="13" name="Text 11"/>
          <p:cNvSpPr/>
          <p:nvPr/>
        </p:nvSpPr>
        <p:spPr>
          <a:xfrm>
            <a:off x="12277725" y="3119438"/>
            <a:ext cx="5217795"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36CDFF"/>
                </a:solidFill>
                <a:latin typeface="Courier New" pitchFamily="34" charset="0"/>
                <a:ea typeface="Courier New" pitchFamily="34" charset="-122"/>
                <a:cs typeface="Courier New" pitchFamily="34" charset="-120"/>
              </a:rPr>
              <a:t>HANDS</a:t>
            </a:r>
            <a:endParaRPr lang="en-US" sz="1500" dirty="0"/>
          </a:p>
        </p:txBody>
      </p:sp>
      <p:sp>
        <p:nvSpPr>
          <p:cNvPr id="14" name="Text 12"/>
          <p:cNvSpPr/>
          <p:nvPr/>
        </p:nvSpPr>
        <p:spPr>
          <a:xfrm>
            <a:off x="12277725" y="3486150"/>
            <a:ext cx="5217795" cy="335235"/>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FFFFFF"/>
                </a:solidFill>
                <a:latin typeface="Arial" pitchFamily="34" charset="0"/>
                <a:ea typeface="Arial" pitchFamily="34" charset="-122"/>
                <a:cs typeface="Arial" pitchFamily="34" charset="-120"/>
              </a:rPr>
              <a:t>Sign inter-agent messages</a:t>
            </a:r>
            <a:endParaRPr lang="en-US" sz="1800" dirty="0"/>
          </a:p>
        </p:txBody>
      </p:sp>
      <p:sp>
        <p:nvSpPr>
          <p:cNvPr id="15" name="Text 13"/>
          <p:cNvSpPr/>
          <p:nvPr/>
        </p:nvSpPr>
        <p:spPr>
          <a:xfrm>
            <a:off x="12277725" y="3897585"/>
            <a:ext cx="4885754" cy="598140"/>
          </a:xfrm>
          <a:prstGeom prst="rect">
            <a:avLst/>
          </a:prstGeom>
          <a:noFill/>
          <a:ln/>
        </p:spPr>
        <p:txBody>
          <a:bodyPr wrap="square" lIns="25400" tIns="25400" rIns="25400" bIns="25400" rtlCol="0" anchor="t">
            <a:normAutofit/>
          </a:bodyPr>
          <a:lstStyle/>
          <a:p>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Re-establish trust at every hop; never trust a peer agent implicitly.</a:t>
            </a:r>
            <a:endParaRPr lang="en-US" sz="1575" dirty="0"/>
          </a:p>
        </p:txBody>
      </p:sp>
      <p:sp>
        <p:nvSpPr>
          <p:cNvPr id="16" name="Shape 14"/>
          <p:cNvSpPr/>
          <p:nvPr/>
        </p:nvSpPr>
        <p:spPr>
          <a:xfrm>
            <a:off x="990600" y="5965031"/>
            <a:ext cx="5295900" cy="2893219"/>
          </a:xfrm>
          <a:prstGeom prst="roundRect">
            <a:avLst>
              <a:gd name="adj" fmla="val 2634"/>
            </a:avLst>
          </a:prstGeom>
          <a:ln w="9525">
            <a:solidFill>
              <a:srgbClr val="FFFFFF">
                <a:alpha val="14000"/>
              </a:srgbClr>
            </a:solidFill>
            <a:prstDash val="solid"/>
          </a:ln>
        </p:spPr>
      </p:sp>
      <p:sp>
        <p:nvSpPr>
          <p:cNvPr id="17" name="Text 15"/>
          <p:cNvSpPr/>
          <p:nvPr/>
        </p:nvSpPr>
        <p:spPr>
          <a:xfrm>
            <a:off x="1266825" y="6222206"/>
            <a:ext cx="5217795"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36CDFF"/>
                </a:solidFill>
                <a:latin typeface="Courier New" pitchFamily="34" charset="0"/>
                <a:ea typeface="Courier New" pitchFamily="34" charset="-122"/>
                <a:cs typeface="Courier New" pitchFamily="34" charset="-120"/>
              </a:rPr>
              <a:t>HANDS</a:t>
            </a:r>
            <a:endParaRPr lang="en-US" sz="1500" dirty="0"/>
          </a:p>
        </p:txBody>
      </p:sp>
      <p:sp>
        <p:nvSpPr>
          <p:cNvPr id="18" name="Text 16"/>
          <p:cNvSpPr/>
          <p:nvPr/>
        </p:nvSpPr>
        <p:spPr>
          <a:xfrm>
            <a:off x="1266825" y="6588919"/>
            <a:ext cx="5217795" cy="335235"/>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FFFFFF"/>
                </a:solidFill>
                <a:latin typeface="Arial" pitchFamily="34" charset="0"/>
                <a:ea typeface="Arial" pitchFamily="34" charset="-122"/>
                <a:cs typeface="Arial" pitchFamily="34" charset="-120"/>
              </a:rPr>
              <a:t>Canonicalize before guardrails</a:t>
            </a:r>
            <a:endParaRPr lang="en-US" sz="1800" dirty="0"/>
          </a:p>
        </p:txBody>
      </p:sp>
      <p:sp>
        <p:nvSpPr>
          <p:cNvPr id="19" name="Text 17"/>
          <p:cNvSpPr/>
          <p:nvPr/>
        </p:nvSpPr>
        <p:spPr>
          <a:xfrm>
            <a:off x="1266825" y="7000354"/>
            <a:ext cx="4885754" cy="598140"/>
          </a:xfrm>
          <a:prstGeom prst="rect">
            <a:avLst/>
          </a:prstGeom>
          <a:noFill/>
          <a:ln/>
        </p:spPr>
        <p:txBody>
          <a:bodyPr wrap="square" lIns="25400" tIns="25400" rIns="25400" bIns="25400" rtlCol="0" anchor="t">
            <a:normAutofit/>
          </a:bodyPr>
          <a:lstStyle/>
          <a:p>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Red-team your filter with leetspeak, unicode and homoglyphs.</a:t>
            </a:r>
            <a:endParaRPr lang="en-US" sz="1575" dirty="0"/>
          </a:p>
        </p:txBody>
      </p:sp>
      <p:sp>
        <p:nvSpPr>
          <p:cNvPr id="20" name="Shape 18"/>
          <p:cNvSpPr/>
          <p:nvPr/>
        </p:nvSpPr>
        <p:spPr>
          <a:xfrm>
            <a:off x="6496050" y="5965031"/>
            <a:ext cx="5295900" cy="2893219"/>
          </a:xfrm>
          <a:prstGeom prst="roundRect">
            <a:avLst>
              <a:gd name="adj" fmla="val 2634"/>
            </a:avLst>
          </a:prstGeom>
          <a:solidFill>
            <a:srgbClr val="FD7EF5">
              <a:alpha val="6000"/>
            </a:srgbClr>
          </a:solidFill>
          <a:ln w="9525">
            <a:solidFill>
              <a:srgbClr val="FD7EF5"/>
            </a:solidFill>
            <a:prstDash val="solid"/>
          </a:ln>
        </p:spPr>
      </p:sp>
      <p:sp>
        <p:nvSpPr>
          <p:cNvPr id="21" name="Text 19"/>
          <p:cNvSpPr/>
          <p:nvPr/>
        </p:nvSpPr>
        <p:spPr>
          <a:xfrm>
            <a:off x="6772275" y="6222206"/>
            <a:ext cx="5217795"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FD7EF5"/>
                </a:solidFill>
                <a:latin typeface="Courier New" pitchFamily="34" charset="0"/>
                <a:ea typeface="Courier New" pitchFamily="34" charset="-122"/>
                <a:cs typeface="Courier New" pitchFamily="34" charset="-120"/>
              </a:rPr>
              <a:t>PROVE</a:t>
            </a:r>
            <a:endParaRPr lang="en-US" sz="1500" dirty="0"/>
          </a:p>
        </p:txBody>
      </p:sp>
      <p:sp>
        <p:nvSpPr>
          <p:cNvPr id="22" name="Text 20"/>
          <p:cNvSpPr/>
          <p:nvPr/>
        </p:nvSpPr>
        <p:spPr>
          <a:xfrm>
            <a:off x="6772275" y="6588919"/>
            <a:ext cx="5217795" cy="335235"/>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FFFFFF"/>
                </a:solidFill>
                <a:latin typeface="Arial" pitchFamily="34" charset="0"/>
                <a:ea typeface="Arial" pitchFamily="34" charset="-122"/>
                <a:cs typeface="Arial" pitchFamily="34" charset="-120"/>
              </a:rPr>
              <a:t>Instrument an audit log</a:t>
            </a:r>
            <a:endParaRPr lang="en-US" sz="1800" dirty="0"/>
          </a:p>
        </p:txBody>
      </p:sp>
      <p:sp>
        <p:nvSpPr>
          <p:cNvPr id="23" name="Text 21"/>
          <p:cNvSpPr/>
          <p:nvPr/>
        </p:nvSpPr>
        <p:spPr>
          <a:xfrm>
            <a:off x="6772275" y="7000354"/>
            <a:ext cx="4885754" cy="598140"/>
          </a:xfrm>
          <a:prstGeom prst="rect">
            <a:avLst/>
          </a:prstGeom>
          <a:noFill/>
          <a:ln/>
        </p:spPr>
        <p:txBody>
          <a:bodyPr wrap="square" lIns="25400" tIns="25400" rIns="25400" bIns="25400" rtlCol="0" anchor="t">
            <a:normAutofit/>
          </a:bodyPr>
          <a:lstStyle/>
          <a:p>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Log security events; detect on mechanism, not on chat text.</a:t>
            </a:r>
            <a:endParaRPr lang="en-US" sz="1575" dirty="0"/>
          </a:p>
        </p:txBody>
      </p:sp>
      <p:sp>
        <p:nvSpPr>
          <p:cNvPr id="24" name="Shape 22"/>
          <p:cNvSpPr/>
          <p:nvPr/>
        </p:nvSpPr>
        <p:spPr>
          <a:xfrm>
            <a:off x="12001500" y="5965031"/>
            <a:ext cx="5295900" cy="2893219"/>
          </a:xfrm>
          <a:prstGeom prst="roundRect">
            <a:avLst>
              <a:gd name="adj" fmla="val 2634"/>
            </a:avLst>
          </a:prstGeom>
          <a:ln w="9525">
            <a:solidFill>
              <a:srgbClr val="FFFFFF">
                <a:alpha val="14000"/>
              </a:srgbClr>
            </a:solidFill>
            <a:prstDash val="solid"/>
          </a:ln>
        </p:spPr>
      </p:sp>
      <p:sp>
        <p:nvSpPr>
          <p:cNvPr id="25" name="Text 23"/>
          <p:cNvSpPr/>
          <p:nvPr/>
        </p:nvSpPr>
        <p:spPr>
          <a:xfrm>
            <a:off x="12277725" y="6222206"/>
            <a:ext cx="5217795"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36CDFF"/>
                </a:solidFill>
                <a:latin typeface="Courier New" pitchFamily="34" charset="0"/>
                <a:ea typeface="Courier New" pitchFamily="34" charset="-122"/>
                <a:cs typeface="Courier New" pitchFamily="34" charset="-120"/>
              </a:rPr>
              <a:t>PROVE</a:t>
            </a:r>
            <a:endParaRPr lang="en-US" sz="1500" dirty="0"/>
          </a:p>
        </p:txBody>
      </p:sp>
      <p:sp>
        <p:nvSpPr>
          <p:cNvPr id="26" name="Text 24"/>
          <p:cNvSpPr/>
          <p:nvPr/>
        </p:nvSpPr>
        <p:spPr>
          <a:xfrm>
            <a:off x="12277725" y="6588919"/>
            <a:ext cx="5217795" cy="335235"/>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FFFFFF"/>
                </a:solidFill>
                <a:latin typeface="Arial" pitchFamily="34" charset="0"/>
                <a:ea typeface="Arial" pitchFamily="34" charset="-122"/>
                <a:cs typeface="Arial" pitchFamily="34" charset="-120"/>
              </a:rPr>
              <a:t>Test the secure config</a:t>
            </a:r>
            <a:endParaRPr lang="en-US" sz="1800" dirty="0"/>
          </a:p>
        </p:txBody>
      </p:sp>
      <p:sp>
        <p:nvSpPr>
          <p:cNvPr id="27" name="Text 25"/>
          <p:cNvSpPr/>
          <p:nvPr/>
        </p:nvSpPr>
        <p:spPr>
          <a:xfrm>
            <a:off x="12277725" y="7000354"/>
            <a:ext cx="4885754" cy="598140"/>
          </a:xfrm>
          <a:prstGeom prst="rect">
            <a:avLst/>
          </a:prstGeom>
          <a:noFill/>
          <a:ln/>
        </p:spPr>
        <p:txBody>
          <a:bodyPr wrap="square" lIns="25400" tIns="25400" rIns="25400" bIns="25400" rtlCol="0" anchor="t">
            <a:normAutofit/>
          </a:bodyPr>
          <a:lstStyle/>
          <a:p>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Then document the residual risk. Flags on is a start, not a finish.</a:t>
            </a:r>
            <a:endParaRPr lang="en-US" sz="1575" dirty="0"/>
          </a:p>
        </p:txBody>
      </p:sp>
      <p:pic>
        <p:nvPicPr>
          <p:cNvPr id="28"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9" name="Text 26"/>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CLOSING · ADVERSARIAL AI</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63279"/>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AFTER THE CON</a:t>
            </a:r>
            <a:endParaRPr lang="en-US" sz="1500" dirty="0"/>
          </a:p>
        </p:txBody>
      </p:sp>
      <p:sp>
        <p:nvSpPr>
          <p:cNvPr id="3" name="Text 1"/>
          <p:cNvSpPr/>
          <p:nvPr/>
        </p:nvSpPr>
        <p:spPr>
          <a:xfrm>
            <a:off x="990600" y="3068092"/>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KEEP GOING</a:t>
            </a:r>
            <a:endParaRPr lang="en-US" sz="7200" dirty="0"/>
          </a:p>
        </p:txBody>
      </p:sp>
      <p:sp>
        <p:nvSpPr>
          <p:cNvPr id="4" name="Shape 2"/>
          <p:cNvSpPr/>
          <p:nvPr/>
        </p:nvSpPr>
        <p:spPr>
          <a:xfrm>
            <a:off x="990600" y="7023646"/>
            <a:ext cx="5219700" cy="9525"/>
          </a:xfrm>
          <a:prstGeom prst="rect">
            <a:avLst/>
          </a:prstGeom>
          <a:solidFill>
            <a:srgbClr val="36CDFF">
              <a:alpha val="45000"/>
            </a:srgbClr>
          </a:solidFill>
          <a:ln/>
        </p:spPr>
      </p:sp>
      <p:sp>
        <p:nvSpPr>
          <p:cNvPr id="5" name="Shape 3"/>
          <p:cNvSpPr/>
          <p:nvPr/>
        </p:nvSpPr>
        <p:spPr>
          <a:xfrm>
            <a:off x="990600" y="4310137"/>
            <a:ext cx="5219700" cy="38100"/>
          </a:xfrm>
          <a:prstGeom prst="rect">
            <a:avLst/>
          </a:prstGeom>
          <a:solidFill>
            <a:srgbClr val="36CDFF"/>
          </a:solidFill>
          <a:ln/>
        </p:spPr>
      </p:sp>
      <p:sp>
        <p:nvSpPr>
          <p:cNvPr id="6" name="Shape 4"/>
          <p:cNvSpPr/>
          <p:nvPr/>
        </p:nvSpPr>
        <p:spPr>
          <a:xfrm>
            <a:off x="990600" y="4310137"/>
            <a:ext cx="9525" cy="2723034"/>
          </a:xfrm>
          <a:prstGeom prst="rect">
            <a:avLst/>
          </a:prstGeom>
          <a:solidFill>
            <a:srgbClr val="36CDFF">
              <a:alpha val="45000"/>
            </a:srgbClr>
          </a:solidFill>
          <a:ln/>
        </p:spPr>
      </p:sp>
      <p:sp>
        <p:nvSpPr>
          <p:cNvPr id="7" name="Shape 5"/>
          <p:cNvSpPr/>
          <p:nvPr/>
        </p:nvSpPr>
        <p:spPr>
          <a:xfrm>
            <a:off x="6200775" y="4310137"/>
            <a:ext cx="9525" cy="2723034"/>
          </a:xfrm>
          <a:prstGeom prst="rect">
            <a:avLst/>
          </a:prstGeom>
          <a:solidFill>
            <a:srgbClr val="36CDFF">
              <a:alpha val="45000"/>
            </a:srgbClr>
          </a:solidFill>
          <a:ln/>
        </p:spPr>
      </p:sp>
      <p:sp>
        <p:nvSpPr>
          <p:cNvPr id="8" name="Text 6"/>
          <p:cNvSpPr/>
          <p:nvPr/>
        </p:nvSpPr>
        <p:spPr>
          <a:xfrm>
            <a:off x="1381125" y="4729237"/>
            <a:ext cx="4882515" cy="242888"/>
          </a:xfrm>
          <a:prstGeom prst="rect">
            <a:avLst/>
          </a:prstGeom>
          <a:noFill/>
          <a:ln/>
        </p:spPr>
        <p:txBody>
          <a:bodyPr wrap="square" lIns="25400" tIns="25400" rIns="25400" bIns="25400" rtlCol="0" anchor="t">
            <a:normAutofit/>
          </a:bodyPr>
          <a:lstStyle/>
          <a:p>
            <a:pPr algn="l" indent="0" marL="0">
              <a:buNone/>
            </a:pPr>
            <a:r>
              <a:rPr lang="en-US" sz="1200" spc="168" kern="0" dirty="0">
                <a:solidFill>
                  <a:srgbClr val="36CDFF"/>
                </a:solidFill>
                <a:latin typeface="Courier New" pitchFamily="34" charset="0"/>
                <a:ea typeface="Courier New" pitchFamily="34" charset="-122"/>
                <a:cs typeface="Courier New" pitchFamily="34" charset="-120"/>
              </a:rPr>
              <a:t>YOURS TO KEEP</a:t>
            </a:r>
            <a:endParaRPr lang="en-US" sz="1200" dirty="0"/>
          </a:p>
        </p:txBody>
      </p:sp>
      <p:sp>
        <p:nvSpPr>
          <p:cNvPr id="9" name="Text 7"/>
          <p:cNvSpPr/>
          <p:nvPr/>
        </p:nvSpPr>
        <p:spPr>
          <a:xfrm>
            <a:off x="1381125" y="5048324"/>
            <a:ext cx="4882515" cy="406078"/>
          </a:xfrm>
          <a:prstGeom prst="rect">
            <a:avLst/>
          </a:prstGeom>
          <a:noFill/>
          <a:ln/>
        </p:spPr>
        <p:txBody>
          <a:bodyPr wrap="square" lIns="25400" tIns="25400" rIns="25400" bIns="25400" rtlCol="0" anchor="t">
            <a:normAutofit/>
          </a:bodyPr>
          <a:lstStyle/>
          <a:p>
            <a:pPr algn="l" indent="0" marL="0">
              <a:lnSpc>
                <a:spcPct val="79670"/>
              </a:lnSpc>
              <a:buNone/>
            </a:pPr>
            <a:r>
              <a:rPr lang="en-US" sz="3150" dirty="0">
                <a:solidFill>
                  <a:srgbClr val="36CDFF"/>
                </a:solidFill>
                <a:latin typeface="Arial" pitchFamily="34" charset="0"/>
                <a:ea typeface="Arial" pitchFamily="34" charset="-122"/>
                <a:cs typeface="Arial" pitchFamily="34" charset="-120"/>
              </a:rPr>
              <a:t>THE STUDY GUIDE</a:t>
            </a:r>
            <a:endParaRPr lang="en-US" sz="3150" dirty="0"/>
          </a:p>
        </p:txBody>
      </p:sp>
      <p:sp>
        <p:nvSpPr>
          <p:cNvPr id="10" name="Text 8"/>
          <p:cNvSpPr/>
          <p:nvPr/>
        </p:nvSpPr>
        <p:spPr>
          <a:xfrm>
            <a:off x="1381125" y="5606802"/>
            <a:ext cx="4571810" cy="1073944"/>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Every module, real payloads, the exact guard code, glossary, OWASP map, payload cookbook.</a:t>
            </a:r>
            <a:endParaRPr lang="en-US" sz="1875" dirty="0"/>
          </a:p>
        </p:txBody>
      </p:sp>
      <p:sp>
        <p:nvSpPr>
          <p:cNvPr id="11" name="Shape 9"/>
          <p:cNvSpPr/>
          <p:nvPr/>
        </p:nvSpPr>
        <p:spPr>
          <a:xfrm>
            <a:off x="6534150" y="7023646"/>
            <a:ext cx="5219700" cy="9525"/>
          </a:xfrm>
          <a:prstGeom prst="rect">
            <a:avLst/>
          </a:prstGeom>
          <a:solidFill>
            <a:srgbClr val="FD7EF5">
              <a:alpha val="45000"/>
            </a:srgbClr>
          </a:solidFill>
          <a:ln/>
        </p:spPr>
      </p:sp>
      <p:sp>
        <p:nvSpPr>
          <p:cNvPr id="12" name="Shape 10"/>
          <p:cNvSpPr/>
          <p:nvPr/>
        </p:nvSpPr>
        <p:spPr>
          <a:xfrm>
            <a:off x="6534150" y="4310137"/>
            <a:ext cx="5219700" cy="38100"/>
          </a:xfrm>
          <a:prstGeom prst="rect">
            <a:avLst/>
          </a:prstGeom>
          <a:solidFill>
            <a:srgbClr val="FD7EF5"/>
          </a:solidFill>
          <a:ln/>
        </p:spPr>
      </p:sp>
      <p:sp>
        <p:nvSpPr>
          <p:cNvPr id="13" name="Shape 11"/>
          <p:cNvSpPr/>
          <p:nvPr/>
        </p:nvSpPr>
        <p:spPr>
          <a:xfrm>
            <a:off x="6534150" y="4310137"/>
            <a:ext cx="9525" cy="2723034"/>
          </a:xfrm>
          <a:prstGeom prst="rect">
            <a:avLst/>
          </a:prstGeom>
          <a:solidFill>
            <a:srgbClr val="FD7EF5">
              <a:alpha val="45000"/>
            </a:srgbClr>
          </a:solidFill>
          <a:ln/>
        </p:spPr>
      </p:sp>
      <p:sp>
        <p:nvSpPr>
          <p:cNvPr id="14" name="Shape 12"/>
          <p:cNvSpPr/>
          <p:nvPr/>
        </p:nvSpPr>
        <p:spPr>
          <a:xfrm>
            <a:off x="11744325" y="4310137"/>
            <a:ext cx="9525" cy="2723034"/>
          </a:xfrm>
          <a:prstGeom prst="rect">
            <a:avLst/>
          </a:prstGeom>
          <a:solidFill>
            <a:srgbClr val="FD7EF5">
              <a:alpha val="45000"/>
            </a:srgbClr>
          </a:solidFill>
          <a:ln/>
        </p:spPr>
      </p:sp>
      <p:sp>
        <p:nvSpPr>
          <p:cNvPr id="15" name="Text 13"/>
          <p:cNvSpPr/>
          <p:nvPr/>
        </p:nvSpPr>
        <p:spPr>
          <a:xfrm>
            <a:off x="6924675" y="4729237"/>
            <a:ext cx="4882515" cy="242888"/>
          </a:xfrm>
          <a:prstGeom prst="rect">
            <a:avLst/>
          </a:prstGeom>
          <a:noFill/>
          <a:ln/>
        </p:spPr>
        <p:txBody>
          <a:bodyPr wrap="square" lIns="25400" tIns="25400" rIns="25400" bIns="25400" rtlCol="0" anchor="t">
            <a:normAutofit/>
          </a:bodyPr>
          <a:lstStyle/>
          <a:p>
            <a:pPr algn="l" indent="0" marL="0">
              <a:buNone/>
            </a:pPr>
            <a:r>
              <a:rPr lang="en-US" sz="1200" spc="168" kern="0" dirty="0">
                <a:solidFill>
                  <a:srgbClr val="FD7EF5"/>
                </a:solidFill>
                <a:latin typeface="Courier New" pitchFamily="34" charset="0"/>
                <a:ea typeface="Courier New" pitchFamily="34" charset="-122"/>
                <a:cs typeface="Courier New" pitchFamily="34" charset="-120"/>
              </a:rPr>
              <a:t>ONE-PAGE SETUP</a:t>
            </a:r>
            <a:endParaRPr lang="en-US" sz="1200" dirty="0"/>
          </a:p>
        </p:txBody>
      </p:sp>
      <p:sp>
        <p:nvSpPr>
          <p:cNvPr id="16" name="Text 14"/>
          <p:cNvSpPr/>
          <p:nvPr/>
        </p:nvSpPr>
        <p:spPr>
          <a:xfrm>
            <a:off x="6924675" y="5048324"/>
            <a:ext cx="4882515" cy="406078"/>
          </a:xfrm>
          <a:prstGeom prst="rect">
            <a:avLst/>
          </a:prstGeom>
          <a:noFill/>
          <a:ln/>
        </p:spPr>
        <p:txBody>
          <a:bodyPr wrap="square" lIns="25400" tIns="25400" rIns="25400" bIns="25400" rtlCol="0" anchor="t">
            <a:normAutofit/>
          </a:bodyPr>
          <a:lstStyle/>
          <a:p>
            <a:pPr algn="l" indent="0" marL="0">
              <a:lnSpc>
                <a:spcPct val="79670"/>
              </a:lnSpc>
              <a:buNone/>
            </a:pPr>
            <a:r>
              <a:rPr lang="en-US" sz="3150" dirty="0">
                <a:solidFill>
                  <a:srgbClr val="FD7EF5"/>
                </a:solidFill>
                <a:latin typeface="Arial" pitchFamily="34" charset="0"/>
                <a:ea typeface="Arial" pitchFamily="34" charset="-122"/>
                <a:cs typeface="Arial" pitchFamily="34" charset="-120"/>
              </a:rPr>
              <a:t>RUN EIGER LOCALLY</a:t>
            </a:r>
            <a:endParaRPr lang="en-US" sz="3150" dirty="0"/>
          </a:p>
        </p:txBody>
      </p:sp>
      <p:sp>
        <p:nvSpPr>
          <p:cNvPr id="17" name="Text 15"/>
          <p:cNvSpPr/>
          <p:nvPr/>
        </p:nvSpPr>
        <p:spPr>
          <a:xfrm>
            <a:off x="6924675" y="5606802"/>
            <a:ext cx="4571810" cy="1073944"/>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Flip flags and read the diffs at your own pace — the vulnerable-to-secure branch is one line per guard.</a:t>
            </a:r>
            <a:endParaRPr lang="en-US" sz="1875" dirty="0"/>
          </a:p>
        </p:txBody>
      </p:sp>
      <p:sp>
        <p:nvSpPr>
          <p:cNvPr id="18" name="Shape 16"/>
          <p:cNvSpPr/>
          <p:nvPr/>
        </p:nvSpPr>
        <p:spPr>
          <a:xfrm>
            <a:off x="12077700" y="7023646"/>
            <a:ext cx="5219700" cy="9525"/>
          </a:xfrm>
          <a:prstGeom prst="rect">
            <a:avLst/>
          </a:prstGeom>
          <a:solidFill>
            <a:srgbClr val="FFFFFF">
              <a:alpha val="16000"/>
            </a:srgbClr>
          </a:solidFill>
          <a:ln/>
        </p:spPr>
      </p:sp>
      <p:sp>
        <p:nvSpPr>
          <p:cNvPr id="19" name="Shape 17"/>
          <p:cNvSpPr/>
          <p:nvPr/>
        </p:nvSpPr>
        <p:spPr>
          <a:xfrm>
            <a:off x="12077700" y="4310137"/>
            <a:ext cx="5219700" cy="38100"/>
          </a:xfrm>
          <a:prstGeom prst="rect">
            <a:avLst/>
          </a:prstGeom>
          <a:solidFill>
            <a:srgbClr val="969696"/>
          </a:solidFill>
          <a:ln/>
        </p:spPr>
      </p:sp>
      <p:sp>
        <p:nvSpPr>
          <p:cNvPr id="20" name="Shape 18"/>
          <p:cNvSpPr/>
          <p:nvPr/>
        </p:nvSpPr>
        <p:spPr>
          <a:xfrm>
            <a:off x="12077700" y="4310137"/>
            <a:ext cx="9525" cy="2723034"/>
          </a:xfrm>
          <a:prstGeom prst="rect">
            <a:avLst/>
          </a:prstGeom>
          <a:solidFill>
            <a:srgbClr val="FFFFFF">
              <a:alpha val="16000"/>
            </a:srgbClr>
          </a:solidFill>
          <a:ln/>
        </p:spPr>
      </p:sp>
      <p:sp>
        <p:nvSpPr>
          <p:cNvPr id="21" name="Shape 19"/>
          <p:cNvSpPr/>
          <p:nvPr/>
        </p:nvSpPr>
        <p:spPr>
          <a:xfrm>
            <a:off x="17287875" y="4310137"/>
            <a:ext cx="9525" cy="2723034"/>
          </a:xfrm>
          <a:prstGeom prst="rect">
            <a:avLst/>
          </a:prstGeom>
          <a:solidFill>
            <a:srgbClr val="FFFFFF">
              <a:alpha val="16000"/>
            </a:srgbClr>
          </a:solidFill>
          <a:ln/>
        </p:spPr>
      </p:sp>
      <p:sp>
        <p:nvSpPr>
          <p:cNvPr id="22" name="Text 20"/>
          <p:cNvSpPr/>
          <p:nvPr/>
        </p:nvSpPr>
        <p:spPr>
          <a:xfrm>
            <a:off x="12468225" y="4729237"/>
            <a:ext cx="4882515" cy="242888"/>
          </a:xfrm>
          <a:prstGeom prst="rect">
            <a:avLst/>
          </a:prstGeom>
          <a:noFill/>
          <a:ln/>
        </p:spPr>
        <p:txBody>
          <a:bodyPr wrap="square" lIns="25400" tIns="25400" rIns="25400" bIns="25400" rtlCol="0" anchor="t">
            <a:normAutofit/>
          </a:bodyPr>
          <a:lstStyle/>
          <a:p>
            <a:pPr algn="l" indent="0" marL="0">
              <a:buNone/>
            </a:pPr>
            <a:r>
              <a:rPr lang="en-US" sz="1200" spc="168" kern="0" dirty="0">
                <a:solidFill>
                  <a:srgbClr val="969696"/>
                </a:solidFill>
                <a:latin typeface="Courier New" pitchFamily="34" charset="0"/>
                <a:ea typeface="Courier New" pitchFamily="34" charset="-122"/>
                <a:cs typeface="Courier New" pitchFamily="34" charset="-120"/>
              </a:rPr>
              <a:t>CITE THESE</a:t>
            </a:r>
            <a:endParaRPr lang="en-US" sz="1200" dirty="0"/>
          </a:p>
        </p:txBody>
      </p:sp>
      <p:sp>
        <p:nvSpPr>
          <p:cNvPr id="23" name="Text 21"/>
          <p:cNvSpPr/>
          <p:nvPr/>
        </p:nvSpPr>
        <p:spPr>
          <a:xfrm>
            <a:off x="12468225" y="5048324"/>
            <a:ext cx="4882515" cy="406078"/>
          </a:xfrm>
          <a:prstGeom prst="rect">
            <a:avLst/>
          </a:prstGeom>
          <a:noFill/>
          <a:ln/>
        </p:spPr>
        <p:txBody>
          <a:bodyPr wrap="square" lIns="25400" tIns="25400" rIns="25400" bIns="25400" rtlCol="0" anchor="t">
            <a:normAutofit/>
          </a:bodyPr>
          <a:lstStyle/>
          <a:p>
            <a:pPr algn="l" indent="0" marL="0">
              <a:lnSpc>
                <a:spcPct val="79670"/>
              </a:lnSpc>
              <a:buNone/>
            </a:pPr>
            <a:r>
              <a:rPr lang="en-US" sz="3150" dirty="0">
                <a:solidFill>
                  <a:srgbClr val="969696"/>
                </a:solidFill>
                <a:latin typeface="Arial" pitchFamily="34" charset="0"/>
                <a:ea typeface="Arial" pitchFamily="34" charset="-122"/>
                <a:cs typeface="Arial" pitchFamily="34" charset="-120"/>
              </a:rPr>
              <a:t>THE FRAMEWORKS</a:t>
            </a:r>
            <a:endParaRPr lang="en-US" sz="3150" dirty="0"/>
          </a:p>
        </p:txBody>
      </p:sp>
      <p:sp>
        <p:nvSpPr>
          <p:cNvPr id="24" name="Text 22"/>
          <p:cNvSpPr/>
          <p:nvPr/>
        </p:nvSpPr>
        <p:spPr>
          <a:xfrm>
            <a:off x="12468225" y="5606802"/>
            <a:ext cx="4571810" cy="728663"/>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OWASP LLM Top 10 · OWASP Agentic Security Initiative · MITRE ATLAS.</a:t>
            </a:r>
            <a:endParaRPr lang="en-US" sz="1875" dirty="0"/>
          </a:p>
        </p:txBody>
      </p:sp>
      <p:pic>
        <p:nvPicPr>
          <p:cNvPr id="2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6" name="Text 23"/>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CLOSING · ADVERSARIAL AI</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548012"/>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THANK YOU</a:t>
            </a:r>
            <a:endParaRPr lang="en-US" sz="1500" dirty="0"/>
          </a:p>
        </p:txBody>
      </p:sp>
      <p:sp>
        <p:nvSpPr>
          <p:cNvPr id="3" name="Text 1"/>
          <p:cNvSpPr/>
          <p:nvPr/>
        </p:nvSpPr>
        <p:spPr>
          <a:xfrm>
            <a:off x="990600" y="2952824"/>
            <a:ext cx="16796004" cy="1683990"/>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GO BREAK THINGS RESPONSIBLY</a:t>
            </a:r>
            <a:endParaRPr lang="en-US" sz="7200" dirty="0"/>
          </a:p>
        </p:txBody>
      </p:sp>
      <p:sp>
        <p:nvSpPr>
          <p:cNvPr id="4" name="Text 2"/>
          <p:cNvSpPr/>
          <p:nvPr/>
        </p:nvSpPr>
        <p:spPr>
          <a:xfrm>
            <a:off x="990600" y="4979715"/>
            <a:ext cx="16678275" cy="871538"/>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You attacked one target across six layers and hardened every one. Now do it to systems that matter — </a:t>
            </a:r>
            <a:pPr algn="l" indent="0" marL="0">
              <a:lnSpc>
                <a:spcPct val="126087"/>
              </a:lnSpc>
              <a:buNone/>
            </a:pPr>
            <a:r>
              <a:rPr lang="en-US" sz="2250" b="1" dirty="0">
                <a:solidFill>
                  <a:srgbClr val="FFFFFF"/>
                </a:solidFill>
                <a:latin typeface="Arial" pitchFamily="34" charset="0"/>
                <a:ea typeface="Arial" pitchFamily="34" charset="-122"/>
                <a:cs typeface="Arial" pitchFamily="34" charset="-120"/>
              </a:rPr>
              <a:t>with authorization </a:t>
            </a:r>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 and with the residual-risk honesty this course ended on.</a:t>
            </a:r>
            <a:endParaRPr lang="en-US" sz="2250" dirty="0"/>
          </a:p>
        </p:txBody>
      </p:sp>
      <p:sp>
        <p:nvSpPr>
          <p:cNvPr id="5" name="Text 3"/>
          <p:cNvSpPr/>
          <p:nvPr/>
        </p:nvSpPr>
        <p:spPr>
          <a:xfrm>
            <a:off x="990600" y="6156052"/>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6" name="Text 4"/>
          <p:cNvSpPr/>
          <p:nvPr/>
        </p:nvSpPr>
        <p:spPr>
          <a:xfrm>
            <a:off x="1307306" y="6156052"/>
            <a:ext cx="8236215" cy="429518"/>
          </a:xfrm>
          <a:prstGeom prst="rect">
            <a:avLst/>
          </a:prstGeom>
          <a:noFill/>
          <a:ln/>
        </p:spPr>
        <p:txBody>
          <a:bodyPr wrap="square" lIns="25400" tIns="25400" rIns="25400" bIns="25400" rtlCol="0" anchor="t">
            <a:normAutofit/>
          </a:bodyPr>
          <a:lstStyle/>
          <a:p>
            <a:pPr algn="l" indent="0" marL="0">
              <a:lnSpc>
                <a:spcPct val="121194"/>
              </a:lnSpc>
              <a:buNone/>
            </a:pPr>
            <a:r>
              <a:rPr lang="en-US" sz="2175" b="1" dirty="0">
                <a:solidFill>
                  <a:srgbClr val="FFFFFF"/>
                </a:solidFill>
                <a:latin typeface="Arial" pitchFamily="34" charset="0"/>
                <a:ea typeface="Arial" pitchFamily="34" charset="-122"/>
                <a:cs typeface="Arial" pitchFamily="34" charset="-120"/>
              </a:rPr>
              <a:t>KK Mookhey </a:t>
            </a:r>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 Transilience AI · </a:t>
            </a:r>
            <a:pPr algn="l" indent="0" marL="0">
              <a:lnSpc>
                <a:spcPct val="121194"/>
              </a:lnSpc>
              <a:buNone/>
            </a:pPr>
            <a:r>
              <a:rPr lang="en-US" sz="1950" dirty="0">
                <a:solidFill>
                  <a:srgbClr val="C8C8C8"/>
                </a:solidFill>
                <a:latin typeface="Courier New" pitchFamily="34" charset="0"/>
                <a:ea typeface="Courier New" pitchFamily="34" charset="-122"/>
                <a:cs typeface="Courier New" pitchFamily="34" charset="-120"/>
              </a:rPr>
              <a:t>linkedin.com/in/kkmookhey</a:t>
            </a:r>
            <a:endParaRPr lang="en-US" sz="2175" dirty="0"/>
          </a:p>
        </p:txBody>
      </p:sp>
      <p:sp>
        <p:nvSpPr>
          <p:cNvPr id="7" name="Text 5"/>
          <p:cNvSpPr/>
          <p:nvPr/>
        </p:nvSpPr>
        <p:spPr>
          <a:xfrm>
            <a:off x="990600" y="6757020"/>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8" name="Text 6"/>
          <p:cNvSpPr/>
          <p:nvPr/>
        </p:nvSpPr>
        <p:spPr>
          <a:xfrm>
            <a:off x="1307306" y="6757020"/>
            <a:ext cx="12871118" cy="429518"/>
          </a:xfrm>
          <a:prstGeom prst="rect">
            <a:avLst/>
          </a:prstGeom>
          <a:noFill/>
          <a:ln/>
        </p:spPr>
        <p:txBody>
          <a:bodyPr wrap="square" lIns="25400" tIns="25400" rIns="25400" bIns="25400" rtlCol="0" anchor="t">
            <a:normAutofit/>
          </a:bodyPr>
          <a:lstStyle/>
          <a:p>
            <a:pPr algn="l" indent="0" marL="0">
              <a:lnSpc>
                <a:spcPct val="121194"/>
              </a:lnSpc>
              <a:buNone/>
            </a:pPr>
            <a:r>
              <a:rPr lang="en-US" sz="2175" b="1" dirty="0">
                <a:solidFill>
                  <a:srgbClr val="FFFFFF"/>
                </a:solidFill>
                <a:latin typeface="Arial" pitchFamily="34" charset="0"/>
                <a:ea typeface="Arial" pitchFamily="34" charset="-122"/>
                <a:cs typeface="Arial" pitchFamily="34" charset="-120"/>
              </a:rPr>
              <a:t>Venkat Pothamsetty </a:t>
            </a:r>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 Founder &amp; CISO, Transilience AI · </a:t>
            </a:r>
            <a:pPr algn="l" indent="0" marL="0">
              <a:lnSpc>
                <a:spcPct val="121194"/>
              </a:lnSpc>
              <a:buNone/>
            </a:pPr>
            <a:r>
              <a:rPr lang="en-US" sz="1950" dirty="0">
                <a:solidFill>
                  <a:srgbClr val="C8C8C8"/>
                </a:solidFill>
                <a:latin typeface="Courier New" pitchFamily="34" charset="0"/>
                <a:ea typeface="Courier New" pitchFamily="34" charset="-122"/>
                <a:cs typeface="Courier New" pitchFamily="34" charset="-120"/>
              </a:rPr>
              <a:t>linkedin.com/in/venkatpothamsetty</a:t>
            </a:r>
            <a:endParaRPr lang="en-US" sz="2175" dirty="0"/>
          </a:p>
        </p:txBody>
      </p:sp>
      <p:pic>
        <p:nvPicPr>
          <p:cNvPr id="9"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0" name="Text 7"/>
          <p:cNvSpPr/>
          <p:nvPr/>
        </p:nvSpPr>
        <p:spPr>
          <a:xfrm>
            <a:off x="14298141" y="9498806"/>
            <a:ext cx="3299185"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CLOSING · ADVERSARIAL AI</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18011"/>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ADVERSARIAL AI · BLACK HAT USA 2026</a:t>
            </a:r>
            <a:endParaRPr lang="en-US" sz="1650" dirty="0"/>
          </a:p>
        </p:txBody>
      </p:sp>
      <p:sp>
        <p:nvSpPr>
          <p:cNvPr id="3" name="Text 1"/>
          <p:cNvSpPr/>
          <p:nvPr/>
        </p:nvSpPr>
        <p:spPr>
          <a:xfrm>
            <a:off x="990600" y="3579986"/>
            <a:ext cx="17937480" cy="2324100"/>
          </a:xfrm>
          <a:prstGeom prst="rect">
            <a:avLst/>
          </a:prstGeom>
          <a:noFill/>
          <a:ln/>
        </p:spPr>
        <p:txBody>
          <a:bodyPr wrap="square" lIns="25400" tIns="25400" rIns="25400" bIns="25400" rtlCol="0" anchor="t">
            <a:normAutofit/>
          </a:bodyPr>
          <a:lstStyle/>
          <a:p>
            <a:pPr algn="l" indent="0" marL="0">
              <a:lnSpc>
                <a:spcPct val="69565"/>
              </a:lnSpc>
              <a:buNone/>
            </a:pPr>
            <a:r>
              <a:rPr lang="en-US" sz="22500" b="1" dirty="0">
                <a:solidFill>
                  <a:srgbClr val="FFFFFF"/>
                </a:solidFill>
                <a:latin typeface="Arial" pitchFamily="34" charset="0"/>
                <a:ea typeface="Arial" pitchFamily="34" charset="-122"/>
                <a:cs typeface="Arial" pitchFamily="34" charset="-120"/>
              </a:rPr>
              <a:t>END</a:t>
            </a:r>
            <a:pPr algn="l" indent="0" marL="0">
              <a:lnSpc>
                <a:spcPct val="69565"/>
              </a:lnSpc>
              <a:buNone/>
            </a:pPr>
            <a:r>
              <a:rPr lang="en-US" sz="22500" b="1" dirty="0">
                <a:solidFill>
                  <a:srgbClr val="FD7EF5"/>
                </a:solidFill>
                <a:latin typeface="Arial" pitchFamily="34" charset="0"/>
                <a:ea typeface="Arial" pitchFamily="34" charset="-122"/>
                <a:cs typeface="Arial" pitchFamily="34" charset="-120"/>
              </a:rPr>
              <a:t>.</a:t>
            </a:r>
            <a:endParaRPr lang="en-US" sz="22500" dirty="0"/>
          </a:p>
        </p:txBody>
      </p:sp>
      <p:sp>
        <p:nvSpPr>
          <p:cNvPr id="4" name="Text 2"/>
          <p:cNvSpPr/>
          <p:nvPr/>
        </p:nvSpPr>
        <p:spPr>
          <a:xfrm>
            <a:off x="990600" y="6208886"/>
            <a:ext cx="15716250" cy="507653"/>
          </a:xfrm>
          <a:prstGeom prst="rect">
            <a:avLst/>
          </a:prstGeom>
          <a:noFill/>
          <a:ln/>
        </p:spPr>
        <p:txBody>
          <a:bodyPr wrap="square" lIns="25400" tIns="25400" rIns="25400" bIns="25400" rtlCol="0" anchor="t">
            <a:normAutofit/>
          </a:bodyPr>
          <a:lstStyle/>
          <a:p>
            <a:pPr algn="l" indent="0" marL="0">
              <a:lnSpc>
                <a:spcPct val="126410"/>
              </a:lnSpc>
              <a:buNone/>
            </a:pPr>
            <a:r>
              <a:rPr lang="en-US" sz="2550" dirty="0">
                <a:solidFill>
                  <a:srgbClr val="C8C8C8"/>
                </a:solidFill>
                <a:latin typeface="Arial" pitchFamily="34" charset="0"/>
                <a:ea typeface="Arial" pitchFamily="34" charset="-122"/>
                <a:cs typeface="Arial" pitchFamily="34" charset="-120"/>
              </a:rPr>
              <a:t>Thank you. Go break things responsibly.</a:t>
            </a:r>
            <a:endParaRPr lang="en-US" sz="2550" dirty="0"/>
          </a:p>
        </p:txBody>
      </p:sp>
      <p:pic>
        <p:nvPicPr>
          <p:cNvPr id="5" name="Image 0" descr="preencoded.png">    </p:cNvPr>
          <p:cNvPicPr>
            <a:picLocks noChangeAspect="1"/>
          </p:cNvPicPr>
          <p:nvPr/>
        </p:nvPicPr>
        <p:blipFill>
          <a:blip r:embed="rId1"/>
          <a:stretch>
            <a:fillRect/>
          </a:stretch>
        </p:blipFill>
        <p:spPr>
          <a:xfrm>
            <a:off x="990600" y="9315450"/>
            <a:ext cx="1666875" cy="476250"/>
          </a:xfrm>
          <a:prstGeom prst="rect">
            <a:avLst/>
          </a:prstGeom>
        </p:spPr>
      </p:pic>
      <p:sp>
        <p:nvSpPr>
          <p:cNvPr id="6" name="Text 3"/>
          <p:cNvSpPr/>
          <p:nvPr/>
        </p:nvSpPr>
        <p:spPr>
          <a:xfrm>
            <a:off x="14797980" y="9451181"/>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USA 2026 · TRAININGS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2026-08-02T23:01:43Z</dcterms:created>
  <dcterms:modified xsi:type="dcterms:W3CDTF">2026-08-02T23:01:43Z</dcterms:modified>
</cp:coreProperties>
</file>