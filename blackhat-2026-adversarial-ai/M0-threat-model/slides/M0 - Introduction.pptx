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581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Hat title slide. Welcome them. Two days, one target, hands-on. Set the tone: you will spend most of this course with your hands on a keyboard attacking a live system, not watching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This first hour does three things: get everyone connected and green, install the mental model for the whole course, and warm up on a hosted target while stragglers finish setup.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rhythm for all 8 modules. The diff between vulnerable and secure IS the lesson.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reframe. People come in thinking prompt injection is the topic. Real systems are a chain of components, each trusting the last. We attack the chain, in order.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map, not two: the same six words drive the Halo table next. We do not teach OWASP as a checklist. We walk the chain and the vulnerabilities appear where they actually occur. Mirrors a real engagement.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company for two days. Because it is a bank, every exploit has concrete impact. Not abstract.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assistant, more surface each time. Layer names match the spine slide exactly. Build this table one row per module as the course progresses. Do not dwell — they will live each 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and reassuring. We never grade on the model’s words. Every objective is validated by a mechanism query. This is why the labs are reliable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difficulty ladder — a floor and a ceiling. Day 1 is keyless on a shared model we host. Day 2 uses your own API key. Aside: the flag model is granular under the hood, a couple of modules flip more than one, but vulnerable to secure is the mental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runs the reach-test now: it confirms you can reach Halcyon, your browser routes through Burp with the cert trusted, and your key is valid. Green in about 60 seconds. This is where we catch proxy and cert problems. Anyone red, flag it — we fix it while the rest warm up on Gandalf.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to gandalf.lakera.ai — browser only, no setup. Levels 1 to 3 as a group. Zero-stakes first taste of prompt injection, and it gives stragglers cover to finish their Burp setup. Foreshadows M1.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idea to carry all week. Find the boundary where data crosses into instruction, own the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start where the attacker input meets the model directly.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Hat end slide. Hand off to M1.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gradFill rotWithShape="1">
            <a:gsLst>
              <a:gs pos="0">
                <a:srgbClr val="FD7EF5">
                  <a:alpha val="100000"/>
                </a:srgbClr>
              </a:gs>
              <a:gs pos="50000">
                <a:srgbClr val="FD7EF5">
                  <a:alpha val="100000"/>
                </a:srgbClr>
              </a:gs>
              <a:gs pos="50000">
                <a:srgbClr val="36CDFF">
                  <a:alpha val="100000"/>
                </a:srgbClr>
              </a:gs>
              <a:gs pos="100000">
                <a:srgbClr val="36CDFF">
                  <a:alpha val="100000"/>
                </a:srgbClr>
              </a:gs>
            </a:gsLst>
            <a:lin ang="0" scaled="0"/>
          </a:gra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90600" y="762000"/>
            <a:ext cx="5005164" cy="1066800"/>
          </a:xfrm>
          <a:prstGeom prst="rect">
            <a:avLst/>
          </a:prstGeom>
        </p:spPr>
      </p:pic>
      <p:sp>
        <p:nvSpPr>
          <p:cNvPr id="4" name="Text 1"/>
          <p:cNvSpPr/>
          <p:nvPr/>
        </p:nvSpPr>
        <p:spPr>
          <a:xfrm>
            <a:off x="990600" y="3337620"/>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BLACK HAT USA 2026 · KK MOOKHEY</a:t>
            </a:r>
            <a:endParaRPr lang="en-US" sz="1650" dirty="0"/>
          </a:p>
        </p:txBody>
      </p:sp>
      <p:sp>
        <p:nvSpPr>
          <p:cNvPr id="5" name="Text 2"/>
          <p:cNvSpPr/>
          <p:nvPr/>
        </p:nvSpPr>
        <p:spPr>
          <a:xfrm>
            <a:off x="990600" y="3880545"/>
            <a:ext cx="16796004" cy="2725936"/>
          </a:xfrm>
          <a:prstGeom prst="rect">
            <a:avLst/>
          </a:prstGeom>
          <a:noFill/>
          <a:ln/>
        </p:spPr>
        <p:txBody>
          <a:bodyPr wrap="square" lIns="25400" tIns="25400" rIns="25400" bIns="25400" rtlCol="0" anchor="t">
            <a:normAutofit/>
          </a:bodyPr>
          <a:lstStyle/>
          <a:p>
            <a:pPr marL="0" indent="0" algn="l">
              <a:lnSpc>
                <a:spcPct val="72174"/>
              </a:lnSpc>
              <a:buNone/>
            </a:pPr>
            <a:r>
              <a:rPr lang="en-US" sz="12750" b="1" kern="0" spc="127" dirty="0">
                <a:solidFill>
                  <a:srgbClr val="FFFFFF"/>
                </a:solidFill>
                <a:latin typeface="Arial" pitchFamily="34" charset="0"/>
                <a:ea typeface="Arial" pitchFamily="34" charset="-122"/>
                <a:cs typeface="Arial" pitchFamily="34" charset="-120"/>
              </a:rPr>
              <a:t>ADVERSARIAL </a:t>
            </a:r>
            <a:r>
              <a:rPr lang="en-US" sz="12750" b="1" kern="0" spc="127" dirty="0">
                <a:solidFill>
                  <a:srgbClr val="FD7EF5"/>
                </a:solidFill>
                <a:latin typeface="Arial" pitchFamily="34" charset="0"/>
                <a:ea typeface="Arial" pitchFamily="34" charset="-122"/>
                <a:cs typeface="Arial" pitchFamily="34" charset="-120"/>
              </a:rPr>
              <a:t>AI</a:t>
            </a:r>
            <a:endParaRPr lang="en-US" sz="12750" dirty="0"/>
          </a:p>
        </p:txBody>
      </p:sp>
      <p:sp>
        <p:nvSpPr>
          <p:cNvPr id="6" name="Text 3"/>
          <p:cNvSpPr/>
          <p:nvPr/>
        </p:nvSpPr>
        <p:spPr>
          <a:xfrm>
            <a:off x="990600" y="6892230"/>
            <a:ext cx="1466850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C8C8C8"/>
                </a:solidFill>
                <a:latin typeface="Arial" pitchFamily="34" charset="0"/>
                <a:ea typeface="Arial" pitchFamily="34" charset="-122"/>
                <a:cs typeface="Arial" pitchFamily="34" charset="-120"/>
              </a:rPr>
              <a:t>Red-Teaming the AI Supply Chain. Two days, one target, hands-on.</a:t>
            </a:r>
            <a:endParaRPr lang="en-US" sz="2250" dirty="0"/>
          </a:p>
        </p:txBody>
      </p:sp>
      <p:pic>
        <p:nvPicPr>
          <p:cNvPr id="7" name="Image 1" descr="preencoded.png"/>
          <p:cNvPicPr>
            <a:picLocks noChangeAspect="1"/>
          </p:cNvPicPr>
          <p:nvPr/>
        </p:nvPicPr>
        <p:blipFill>
          <a:blip r:embed="rId4"/>
          <a:stretch>
            <a:fillRect/>
          </a:stretch>
        </p:blipFill>
        <p:spPr>
          <a:xfrm>
            <a:off x="990600" y="9315450"/>
            <a:ext cx="1666875" cy="476250"/>
          </a:xfrm>
          <a:prstGeom prst="rect">
            <a:avLst/>
          </a:prstGeom>
        </p:spPr>
      </p:pic>
      <p:sp>
        <p:nvSpPr>
          <p:cNvPr id="8" name="Text 4"/>
          <p:cNvSpPr/>
          <p:nvPr/>
        </p:nvSpPr>
        <p:spPr>
          <a:xfrm>
            <a:off x="11373240" y="9241185"/>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FFFFFF"/>
                </a:solidFill>
                <a:latin typeface="Courier New" pitchFamily="34" charset="0"/>
                <a:ea typeface="Courier New" pitchFamily="34" charset="-122"/>
                <a:cs typeface="Courier New" pitchFamily="34" charset="-120"/>
              </a:rPr>
              <a:t>ADVERSARIAL AI · RED-TEAMING THE AI SUPPLY CHAIN</a:t>
            </a:r>
            <a:endParaRPr lang="en-US" sz="1275" dirty="0"/>
          </a:p>
        </p:txBody>
      </p:sp>
      <p:sp>
        <p:nvSpPr>
          <p:cNvPr id="9" name="Text 5"/>
          <p:cNvSpPr/>
          <p:nvPr/>
        </p:nvSpPr>
        <p:spPr>
          <a:xfrm>
            <a:off x="11373240" y="9516442"/>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969696"/>
                </a:solidFill>
                <a:latin typeface="Courier New" pitchFamily="34" charset="0"/>
                <a:ea typeface="Courier New" pitchFamily="34" charset="-122"/>
                <a:cs typeface="Courier New" pitchFamily="34" charset="-120"/>
              </a:rPr>
              <a:t>DAY 1 · MODULE M0</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36CDFF"/>
          </a:solidFill>
          <a:ln/>
        </p:spPr>
        <p:txBody>
          <a:bodyPr/>
          <a:lstStyle/>
          <a:p>
            <a:endParaRPr lang="en-US"/>
          </a:p>
        </p:txBody>
      </p:sp>
      <p:sp>
        <p:nvSpPr>
          <p:cNvPr id="3" name="Text 1"/>
          <p:cNvSpPr/>
          <p:nvPr/>
        </p:nvSpPr>
        <p:spPr>
          <a:xfrm>
            <a:off x="990600" y="3186633"/>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36CDFF"/>
                </a:solidFill>
                <a:latin typeface="Courier New" pitchFamily="34" charset="0"/>
                <a:ea typeface="Courier New" pitchFamily="34" charset="-122"/>
                <a:cs typeface="Courier New" pitchFamily="34" charset="-120"/>
              </a:rPr>
              <a:t>MODULE M0</a:t>
            </a:r>
            <a:endParaRPr lang="en-US" sz="1950" dirty="0"/>
          </a:p>
        </p:txBody>
      </p:sp>
      <p:sp>
        <p:nvSpPr>
          <p:cNvPr id="4" name="Text 2"/>
          <p:cNvSpPr/>
          <p:nvPr/>
        </p:nvSpPr>
        <p:spPr>
          <a:xfrm>
            <a:off x="990600" y="3800996"/>
            <a:ext cx="16796004" cy="1912590"/>
          </a:xfrm>
          <a:prstGeom prst="rect">
            <a:avLst/>
          </a:prstGeom>
          <a:noFill/>
          <a:ln/>
        </p:spPr>
        <p:txBody>
          <a:bodyPr wrap="square" lIns="25400" tIns="25400" rIns="25400" bIns="25400" rtlCol="0" anchor="t">
            <a:normAutofit/>
          </a:bodyPr>
          <a:lstStyle/>
          <a:p>
            <a:pPr marL="0" indent="0" algn="l">
              <a:lnSpc>
                <a:spcPct val="71304"/>
              </a:lnSpc>
              <a:buNone/>
            </a:pPr>
            <a:r>
              <a:rPr lang="en-US" sz="9000" b="1" dirty="0">
                <a:solidFill>
                  <a:srgbClr val="FFFFFF"/>
                </a:solidFill>
                <a:latin typeface="Arial" pitchFamily="34" charset="0"/>
                <a:ea typeface="Arial" pitchFamily="34" charset="-122"/>
                <a:cs typeface="Arial" pitchFamily="34" charset="-120"/>
              </a:rPr>
              <a:t>THREAT MODEL + RANGE CHECK</a:t>
            </a:r>
            <a:endParaRPr lang="en-US" sz="9000" dirty="0"/>
          </a:p>
        </p:txBody>
      </p:sp>
      <p:sp>
        <p:nvSpPr>
          <p:cNvPr id="5" name="Text 3"/>
          <p:cNvSpPr/>
          <p:nvPr/>
        </p:nvSpPr>
        <p:spPr>
          <a:xfrm>
            <a:off x="990600" y="6056486"/>
            <a:ext cx="15716250" cy="491430"/>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Arial" pitchFamily="34" charset="0"/>
                <a:ea typeface="Arial" pitchFamily="34" charset="-122"/>
                <a:cs typeface="Arial" pitchFamily="34" charset="-120"/>
              </a:rPr>
              <a:t>Get everyone green, install the mental model, warm up on a hosted target.</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11462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RHYTHM OF EVERY MODULE</a:t>
            </a:r>
            <a:endParaRPr lang="en-US" sz="1500" dirty="0"/>
          </a:p>
        </p:txBody>
      </p:sp>
      <p:sp>
        <p:nvSpPr>
          <p:cNvPr id="3" name="Text 1"/>
          <p:cNvSpPr/>
          <p:nvPr/>
        </p:nvSpPr>
        <p:spPr>
          <a:xfrm>
            <a:off x="990600" y="2519437"/>
            <a:ext cx="16796004" cy="3158356"/>
          </a:xfrm>
          <a:prstGeom prst="rect">
            <a:avLst/>
          </a:prstGeom>
          <a:noFill/>
          <a:ln/>
        </p:spPr>
        <p:txBody>
          <a:bodyPr wrap="square" lIns="25400" tIns="25400" rIns="25400" bIns="25400" rtlCol="0" anchor="t">
            <a:normAutofit/>
          </a:bodyPr>
          <a:lstStyle/>
          <a:p>
            <a:pPr marL="0" indent="0" algn="l">
              <a:lnSpc>
                <a:spcPct val="73043"/>
              </a:lnSpc>
              <a:buNone/>
            </a:pPr>
            <a:r>
              <a:rPr lang="en-US" sz="9750" dirty="0">
                <a:solidFill>
                  <a:srgbClr val="FFFFFF"/>
                </a:solidFill>
                <a:latin typeface="Arial" pitchFamily="34" charset="0"/>
                <a:ea typeface="Arial" pitchFamily="34" charset="-122"/>
                <a:cs typeface="Arial" pitchFamily="34" charset="-120"/>
              </a:rPr>
              <a:t>BUILD → BREAK → SECURE</a:t>
            </a:r>
            <a:endParaRPr lang="en-US" sz="9750" dirty="0"/>
          </a:p>
        </p:txBody>
      </p:sp>
      <p:sp>
        <p:nvSpPr>
          <p:cNvPr id="4" name="Text 2"/>
          <p:cNvSpPr/>
          <p:nvPr/>
        </p:nvSpPr>
        <p:spPr>
          <a:xfrm>
            <a:off x="990600" y="6058793"/>
            <a:ext cx="17287875" cy="512415"/>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Two days. One target. Three verbs — </a:t>
            </a:r>
            <a:r>
              <a:rPr lang="en-US" sz="2550" b="1" dirty="0">
                <a:solidFill>
                  <a:srgbClr val="36CDFF"/>
                </a:solidFill>
                <a:latin typeface="Arial" pitchFamily="34" charset="0"/>
                <a:ea typeface="Arial" pitchFamily="34" charset="-122"/>
                <a:cs typeface="Arial" pitchFamily="34" charset="-120"/>
              </a:rPr>
              <a:t>every module.</a:t>
            </a:r>
            <a:endParaRPr lang="en-US" sz="2550" dirty="0"/>
          </a:p>
        </p:txBody>
      </p:sp>
      <p:sp>
        <p:nvSpPr>
          <p:cNvPr id="5" name="Text 3"/>
          <p:cNvSpPr/>
          <p:nvPr/>
        </p:nvSpPr>
        <p:spPr>
          <a:xfrm>
            <a:off x="990600" y="6780758"/>
            <a:ext cx="16187738" cy="839093"/>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Stand up a vulnerable layer, exploit it, then flip a single security flag and watch the exploit die. The diff between vulnerable and secure IS the lesson.</a:t>
            </a:r>
            <a:endParaRPr lang="en-US" sz="2175"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2329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CORE REFRAME</a:t>
            </a:r>
            <a:endParaRPr lang="en-US" sz="1650" dirty="0"/>
          </a:p>
        </p:txBody>
      </p:sp>
      <p:sp>
        <p:nvSpPr>
          <p:cNvPr id="3" name="Text 1"/>
          <p:cNvSpPr/>
          <p:nvPr/>
        </p:nvSpPr>
        <p:spPr>
          <a:xfrm>
            <a:off x="990600" y="3642420"/>
            <a:ext cx="16796004" cy="1821061"/>
          </a:xfrm>
          <a:prstGeom prst="rect">
            <a:avLst/>
          </a:prstGeom>
          <a:noFill/>
          <a:ln/>
        </p:spPr>
        <p:txBody>
          <a:bodyPr wrap="square" lIns="25400" tIns="25400" rIns="25400" bIns="25400" rtlCol="0" anchor="t">
            <a:normAutofit/>
          </a:bodyPr>
          <a:lstStyle/>
          <a:p>
            <a:pPr marL="0" indent="0" algn="l">
              <a:lnSpc>
                <a:spcPct val="78326"/>
              </a:lnSpc>
              <a:buNone/>
            </a:pPr>
            <a:r>
              <a:rPr lang="en-US" sz="7800" dirty="0">
                <a:solidFill>
                  <a:srgbClr val="FFFFFF"/>
                </a:solidFill>
                <a:latin typeface="Arial" pitchFamily="34" charset="0"/>
                <a:ea typeface="Arial" pitchFamily="34" charset="-122"/>
                <a:cs typeface="Arial" pitchFamily="34" charset="-120"/>
              </a:rPr>
              <a:t>AI ISN’T ONE THING YOU ATTACK. IT’S A </a:t>
            </a:r>
            <a:r>
              <a:rPr lang="en-US" sz="7800" dirty="0">
                <a:solidFill>
                  <a:srgbClr val="FD7EF5"/>
                </a:solidFill>
                <a:latin typeface="Arial" pitchFamily="34" charset="0"/>
                <a:ea typeface="Arial" pitchFamily="34" charset="-122"/>
                <a:cs typeface="Arial" pitchFamily="34" charset="-120"/>
              </a:rPr>
              <a:t>SUPPLY CHAIN.</a:t>
            </a:r>
            <a:endParaRPr lang="en-US" sz="7800" dirty="0"/>
          </a:p>
        </p:txBody>
      </p:sp>
      <p:sp>
        <p:nvSpPr>
          <p:cNvPr id="4" name="Text 2"/>
          <p:cNvSpPr/>
          <p:nvPr/>
        </p:nvSpPr>
        <p:spPr>
          <a:xfrm>
            <a:off x="990600" y="584448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People arrive thinking prompt injection is the topic. It is one attack on one layer. Real systems are a chain of components, each trusting the last, each adding attack surface. We attack the chain, in order.</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135660"/>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MAP FOR TWO DAYS</a:t>
            </a:r>
            <a:endParaRPr lang="en-US" sz="1500" dirty="0"/>
          </a:p>
        </p:txBody>
      </p:sp>
      <p:sp>
        <p:nvSpPr>
          <p:cNvPr id="3" name="Text 1"/>
          <p:cNvSpPr/>
          <p:nvPr/>
        </p:nvSpPr>
        <p:spPr>
          <a:xfrm>
            <a:off x="990600" y="3540472"/>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THE SPINE</a:t>
            </a:r>
            <a:endParaRPr lang="en-US" sz="6900" dirty="0"/>
          </a:p>
        </p:txBody>
      </p:sp>
      <p:sp>
        <p:nvSpPr>
          <p:cNvPr id="4" name="Shape 2"/>
          <p:cNvSpPr/>
          <p:nvPr/>
        </p:nvSpPr>
        <p:spPr>
          <a:xfrm>
            <a:off x="990600" y="4824413"/>
            <a:ext cx="2380804"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5" name="Text 3"/>
          <p:cNvSpPr/>
          <p:nvPr/>
        </p:nvSpPr>
        <p:spPr>
          <a:xfrm>
            <a:off x="1038225" y="5062538"/>
            <a:ext cx="2285554"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Chatbot</a:t>
            </a:r>
            <a:endParaRPr lang="en-US" sz="1725" dirty="0"/>
          </a:p>
        </p:txBody>
      </p:sp>
      <p:sp>
        <p:nvSpPr>
          <p:cNvPr id="6" name="Text 4"/>
          <p:cNvSpPr/>
          <p:nvPr/>
        </p:nvSpPr>
        <p:spPr>
          <a:xfrm>
            <a:off x="3504754" y="4824413"/>
            <a:ext cx="213866" cy="804862"/>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7" name="Shape 5"/>
          <p:cNvSpPr/>
          <p:nvPr/>
        </p:nvSpPr>
        <p:spPr>
          <a:xfrm>
            <a:off x="3775770" y="4824413"/>
            <a:ext cx="2380878"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8" name="Text 6"/>
          <p:cNvSpPr/>
          <p:nvPr/>
        </p:nvSpPr>
        <p:spPr>
          <a:xfrm>
            <a:off x="3823395" y="5062538"/>
            <a:ext cx="2285628"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RAG</a:t>
            </a:r>
            <a:endParaRPr lang="en-US" sz="1725" dirty="0"/>
          </a:p>
        </p:txBody>
      </p:sp>
      <p:sp>
        <p:nvSpPr>
          <p:cNvPr id="9" name="Text 7"/>
          <p:cNvSpPr/>
          <p:nvPr/>
        </p:nvSpPr>
        <p:spPr>
          <a:xfrm>
            <a:off x="6289997" y="4824413"/>
            <a:ext cx="213866" cy="804862"/>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0" name="Shape 8"/>
          <p:cNvSpPr/>
          <p:nvPr/>
        </p:nvSpPr>
        <p:spPr>
          <a:xfrm>
            <a:off x="6561013" y="4824413"/>
            <a:ext cx="2380804"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11" name="Text 9"/>
          <p:cNvSpPr/>
          <p:nvPr/>
        </p:nvSpPr>
        <p:spPr>
          <a:xfrm>
            <a:off x="6608638" y="5062538"/>
            <a:ext cx="2285554"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Agent</a:t>
            </a:r>
            <a:endParaRPr lang="en-US" sz="1725" dirty="0"/>
          </a:p>
        </p:txBody>
      </p:sp>
      <p:sp>
        <p:nvSpPr>
          <p:cNvPr id="12" name="Text 10"/>
          <p:cNvSpPr/>
          <p:nvPr/>
        </p:nvSpPr>
        <p:spPr>
          <a:xfrm>
            <a:off x="9075167" y="4824413"/>
            <a:ext cx="213866" cy="804862"/>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3" name="Shape 11"/>
          <p:cNvSpPr/>
          <p:nvPr/>
        </p:nvSpPr>
        <p:spPr>
          <a:xfrm>
            <a:off x="9346183" y="4824413"/>
            <a:ext cx="2380878"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14" name="Text 12"/>
          <p:cNvSpPr/>
          <p:nvPr/>
        </p:nvSpPr>
        <p:spPr>
          <a:xfrm>
            <a:off x="9393808" y="5062538"/>
            <a:ext cx="2285628"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MCP</a:t>
            </a:r>
            <a:endParaRPr lang="en-US" sz="1725" dirty="0"/>
          </a:p>
        </p:txBody>
      </p:sp>
      <p:sp>
        <p:nvSpPr>
          <p:cNvPr id="15" name="Text 13"/>
          <p:cNvSpPr/>
          <p:nvPr/>
        </p:nvSpPr>
        <p:spPr>
          <a:xfrm>
            <a:off x="11860411" y="4824413"/>
            <a:ext cx="213866" cy="804862"/>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6" name="Shape 14"/>
          <p:cNvSpPr/>
          <p:nvPr/>
        </p:nvSpPr>
        <p:spPr>
          <a:xfrm>
            <a:off x="12131427" y="4824413"/>
            <a:ext cx="2380804"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17" name="Text 15"/>
          <p:cNvSpPr/>
          <p:nvPr/>
        </p:nvSpPr>
        <p:spPr>
          <a:xfrm>
            <a:off x="12179052" y="5062538"/>
            <a:ext cx="2285554"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Multi-agent</a:t>
            </a:r>
            <a:endParaRPr lang="en-US" sz="1725" dirty="0"/>
          </a:p>
        </p:txBody>
      </p:sp>
      <p:sp>
        <p:nvSpPr>
          <p:cNvPr id="18" name="Text 16"/>
          <p:cNvSpPr/>
          <p:nvPr/>
        </p:nvSpPr>
        <p:spPr>
          <a:xfrm>
            <a:off x="14645580" y="4824413"/>
            <a:ext cx="213866" cy="804862"/>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9" name="Shape 17"/>
          <p:cNvSpPr/>
          <p:nvPr/>
        </p:nvSpPr>
        <p:spPr>
          <a:xfrm>
            <a:off x="14916596" y="4824413"/>
            <a:ext cx="2380804" cy="766763"/>
          </a:xfrm>
          <a:prstGeom prst="roundRect">
            <a:avLst>
              <a:gd name="adj" fmla="val 9938"/>
            </a:avLst>
          </a:prstGeom>
          <a:ln w="9525">
            <a:solidFill>
              <a:srgbClr val="FFFFFF">
                <a:alpha val="14000"/>
              </a:srgbClr>
            </a:solidFill>
            <a:prstDash val="solid"/>
          </a:ln>
        </p:spPr>
        <p:txBody>
          <a:bodyPr/>
          <a:lstStyle/>
          <a:p>
            <a:endParaRPr lang="en-US"/>
          </a:p>
        </p:txBody>
      </p:sp>
      <p:sp>
        <p:nvSpPr>
          <p:cNvPr id="20" name="Text 18"/>
          <p:cNvSpPr/>
          <p:nvPr/>
        </p:nvSpPr>
        <p:spPr>
          <a:xfrm>
            <a:off x="14964221" y="5062538"/>
            <a:ext cx="2285554" cy="328612"/>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Production</a:t>
            </a:r>
            <a:endParaRPr lang="en-US" sz="1725" dirty="0"/>
          </a:p>
        </p:txBody>
      </p:sp>
      <p:sp>
        <p:nvSpPr>
          <p:cNvPr id="21" name="Text 19"/>
          <p:cNvSpPr/>
          <p:nvPr/>
        </p:nvSpPr>
        <p:spPr>
          <a:xfrm>
            <a:off x="990600" y="6086475"/>
            <a:ext cx="17287875" cy="512415"/>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Each layer adds attack surface. The OWASP LLM Top 10 lands </a:t>
            </a:r>
            <a:r>
              <a:rPr lang="en-US" sz="2550" b="1" dirty="0">
                <a:solidFill>
                  <a:srgbClr val="FD7EF5"/>
                </a:solidFill>
                <a:latin typeface="Arial" pitchFamily="34" charset="0"/>
                <a:ea typeface="Arial" pitchFamily="34" charset="-122"/>
                <a:cs typeface="Arial" pitchFamily="34" charset="-120"/>
              </a:rPr>
              <a:t>where it lives </a:t>
            </a:r>
            <a:r>
              <a:rPr lang="en-US" sz="2550" dirty="0">
                <a:solidFill>
                  <a:srgbClr val="FFFFFF"/>
                </a:solidFill>
                <a:latin typeface="Arial" pitchFamily="34" charset="0"/>
                <a:ea typeface="Arial" pitchFamily="34" charset="-122"/>
                <a:cs typeface="Arial" pitchFamily="34" charset="-120"/>
              </a:rPr>
              <a:t>— not as a checklist.</a:t>
            </a:r>
            <a:endParaRPr lang="en-US" sz="2550" dirty="0"/>
          </a:p>
        </p:txBody>
      </p:sp>
      <p:pic>
        <p:nvPicPr>
          <p:cNvPr id="2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3" name="Text 20"/>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94980"/>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TARGET</a:t>
            </a:r>
            <a:endParaRPr lang="en-US" sz="1500" dirty="0"/>
          </a:p>
        </p:txBody>
      </p:sp>
      <p:sp>
        <p:nvSpPr>
          <p:cNvPr id="3" name="Text 1"/>
          <p:cNvSpPr/>
          <p:nvPr/>
        </p:nvSpPr>
        <p:spPr>
          <a:xfrm>
            <a:off x="990600" y="3099792"/>
            <a:ext cx="17937480" cy="826740"/>
          </a:xfrm>
          <a:prstGeom prst="rect">
            <a:avLst/>
          </a:prstGeom>
          <a:noFill/>
          <a:ln/>
        </p:spPr>
        <p:txBody>
          <a:bodyPr wrap="square" lIns="25400" tIns="25400" rIns="25400" bIns="25400" rtlCol="0" anchor="t">
            <a:normAutofit lnSpcReduction="10000"/>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MEET THE TARGET: </a:t>
            </a:r>
            <a:r>
              <a:rPr lang="en-US" sz="6900" b="1" dirty="0">
                <a:solidFill>
                  <a:srgbClr val="FD7EF5"/>
                </a:solidFill>
                <a:latin typeface="Arial" pitchFamily="34" charset="0"/>
                <a:ea typeface="Arial" pitchFamily="34" charset="-122"/>
                <a:cs typeface="Arial" pitchFamily="34" charset="-120"/>
              </a:rPr>
              <a:t>EIGER</a:t>
            </a:r>
            <a:endParaRPr lang="en-US" sz="6900" dirty="0"/>
          </a:p>
        </p:txBody>
      </p:sp>
      <p:sp>
        <p:nvSpPr>
          <p:cNvPr id="4" name="Text 2"/>
          <p:cNvSpPr/>
          <p:nvPr/>
        </p:nvSpPr>
        <p:spPr>
          <a:xfrm>
            <a:off x="990600" y="4269432"/>
            <a:ext cx="17811750" cy="502667"/>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An AI-first </a:t>
            </a:r>
            <a:r>
              <a:rPr lang="en-US" sz="2550" b="1" dirty="0">
                <a:solidFill>
                  <a:srgbClr val="36CDFF"/>
                </a:solidFill>
                <a:latin typeface="Arial" pitchFamily="34" charset="0"/>
                <a:ea typeface="Arial" pitchFamily="34" charset="-122"/>
                <a:cs typeface="Arial" pitchFamily="34" charset="-120"/>
              </a:rPr>
              <a:t>neobank. </a:t>
            </a:r>
            <a:r>
              <a:rPr lang="en-US" sz="2550" dirty="0">
                <a:solidFill>
                  <a:srgbClr val="FFFFFF"/>
                </a:solidFill>
                <a:latin typeface="Arial" pitchFamily="34" charset="0"/>
                <a:ea typeface="Arial" pitchFamily="34" charset="-122"/>
                <a:cs typeface="Arial" pitchFamily="34" charset="-120"/>
              </a:rPr>
              <a:t>Its assistant is </a:t>
            </a:r>
            <a:r>
              <a:rPr lang="en-US" sz="2550" b="1" dirty="0">
                <a:solidFill>
                  <a:srgbClr val="36CDFF"/>
                </a:solidFill>
                <a:latin typeface="Arial" pitchFamily="34" charset="0"/>
                <a:ea typeface="Arial" pitchFamily="34" charset="-122"/>
                <a:cs typeface="Arial" pitchFamily="34" charset="-120"/>
              </a:rPr>
              <a:t>Iggy.</a:t>
            </a:r>
            <a:endParaRPr lang="en-US" sz="2550" dirty="0"/>
          </a:p>
        </p:txBody>
      </p:sp>
      <p:sp>
        <p:nvSpPr>
          <p:cNvPr id="5" name="Text 3"/>
          <p:cNvSpPr/>
          <p:nvPr/>
        </p:nvSpPr>
        <p:spPr>
          <a:xfrm>
            <a:off x="990600" y="5019749"/>
            <a:ext cx="17811750" cy="438596"/>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Money movement plus PII means real stakes on every lab.</a:t>
            </a:r>
            <a:endParaRPr lang="en-US" sz="2175" dirty="0"/>
          </a:p>
        </p:txBody>
      </p:sp>
      <p:sp>
        <p:nvSpPr>
          <p:cNvPr id="6" name="Shape 4"/>
          <p:cNvSpPr/>
          <p:nvPr/>
        </p:nvSpPr>
        <p:spPr>
          <a:xfrm>
            <a:off x="990600" y="6991871"/>
            <a:ext cx="16192500" cy="9525"/>
          </a:xfrm>
          <a:prstGeom prst="rect">
            <a:avLst/>
          </a:prstGeom>
          <a:solidFill>
            <a:srgbClr val="FD7EF5">
              <a:alpha val="45000"/>
            </a:srgbClr>
          </a:solidFill>
          <a:ln/>
        </p:spPr>
        <p:txBody>
          <a:bodyPr/>
          <a:lstStyle/>
          <a:p>
            <a:endParaRPr lang="en-US"/>
          </a:p>
        </p:txBody>
      </p:sp>
      <p:sp>
        <p:nvSpPr>
          <p:cNvPr id="7" name="Shape 5"/>
          <p:cNvSpPr/>
          <p:nvPr/>
        </p:nvSpPr>
        <p:spPr>
          <a:xfrm>
            <a:off x="990600" y="5763146"/>
            <a:ext cx="16192500" cy="9525"/>
          </a:xfrm>
          <a:prstGeom prst="rect">
            <a:avLst/>
          </a:prstGeom>
          <a:solidFill>
            <a:srgbClr val="FD7EF5">
              <a:alpha val="45000"/>
            </a:srgbClr>
          </a:solidFill>
          <a:ln/>
        </p:spPr>
        <p:txBody>
          <a:bodyPr/>
          <a:lstStyle/>
          <a:p>
            <a:endParaRPr lang="en-US"/>
          </a:p>
        </p:txBody>
      </p:sp>
      <p:sp>
        <p:nvSpPr>
          <p:cNvPr id="8" name="Shape 6"/>
          <p:cNvSpPr/>
          <p:nvPr/>
        </p:nvSpPr>
        <p:spPr>
          <a:xfrm>
            <a:off x="990600" y="5763146"/>
            <a:ext cx="38100" cy="1238250"/>
          </a:xfrm>
          <a:prstGeom prst="rect">
            <a:avLst/>
          </a:prstGeom>
          <a:solidFill>
            <a:srgbClr val="FD7EF5"/>
          </a:solidFill>
          <a:ln/>
        </p:spPr>
        <p:txBody>
          <a:bodyPr/>
          <a:lstStyle/>
          <a:p>
            <a:endParaRPr lang="en-US"/>
          </a:p>
        </p:txBody>
      </p:sp>
      <p:sp>
        <p:nvSpPr>
          <p:cNvPr id="9" name="Shape 7"/>
          <p:cNvSpPr/>
          <p:nvPr/>
        </p:nvSpPr>
        <p:spPr>
          <a:xfrm>
            <a:off x="17173575" y="5763146"/>
            <a:ext cx="9525" cy="1238250"/>
          </a:xfrm>
          <a:prstGeom prst="rect">
            <a:avLst/>
          </a:prstGeom>
          <a:solidFill>
            <a:srgbClr val="FD7EF5">
              <a:alpha val="45000"/>
            </a:srgbClr>
          </a:solidFill>
          <a:ln/>
        </p:spPr>
        <p:txBody>
          <a:bodyPr/>
          <a:lstStyle/>
          <a:p>
            <a:endParaRPr lang="en-US"/>
          </a:p>
        </p:txBody>
      </p:sp>
      <p:sp>
        <p:nvSpPr>
          <p:cNvPr id="10" name="Text 8"/>
          <p:cNvSpPr/>
          <p:nvPr/>
        </p:nvSpPr>
        <p:spPr>
          <a:xfrm>
            <a:off x="1371600" y="6039371"/>
            <a:ext cx="1700498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FD7EF5"/>
                </a:solidFill>
                <a:latin typeface="Courier New" pitchFamily="34" charset="0"/>
                <a:ea typeface="Courier New" pitchFamily="34" charset="-122"/>
                <a:cs typeface="Courier New" pitchFamily="34" charset="-120"/>
              </a:rPr>
              <a:t>WHY IT MATTERS</a:t>
            </a:r>
            <a:endParaRPr lang="en-US" sz="1200" dirty="0"/>
          </a:p>
        </p:txBody>
      </p:sp>
      <p:sp>
        <p:nvSpPr>
          <p:cNvPr id="11" name="Text 9"/>
          <p:cNvSpPr/>
          <p:nvPr/>
        </p:nvSpPr>
        <p:spPr>
          <a:xfrm>
            <a:off x="1371600" y="6339408"/>
            <a:ext cx="17004983" cy="423863"/>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One company for two days. You </a:t>
            </a:r>
            <a:r>
              <a:rPr lang="en-US" sz="2025" dirty="0" err="1">
                <a:solidFill>
                  <a:srgbClr val="C8C8C8"/>
                </a:solidFill>
                <a:latin typeface="Arial" pitchFamily="34" charset="0"/>
                <a:ea typeface="Arial" pitchFamily="34" charset="-122"/>
                <a:cs typeface="Arial" pitchFamily="34" charset="-120"/>
              </a:rPr>
              <a:t>pwn</a:t>
            </a:r>
            <a:r>
              <a:rPr lang="en-US" sz="2025" dirty="0">
                <a:solidFill>
                  <a:srgbClr val="C8C8C8"/>
                </a:solidFill>
                <a:latin typeface="Arial" pitchFamily="34" charset="0"/>
                <a:ea typeface="Arial" pitchFamily="34" charset="-122"/>
                <a:cs typeface="Arial" pitchFamily="34" charset="-120"/>
              </a:rPr>
              <a:t> EIGER end to end — leak a secret, move money, approve a fraudulent dispute. Nothing abstract.</a:t>
            </a:r>
            <a:endParaRPr lang="en-US" sz="202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317278"/>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COURSE MAP</a:t>
            </a:r>
            <a:endParaRPr lang="en-US" sz="1500" dirty="0"/>
          </a:p>
        </p:txBody>
      </p:sp>
      <p:sp>
        <p:nvSpPr>
          <p:cNvPr id="3" name="Text 1"/>
          <p:cNvSpPr/>
          <p:nvPr/>
        </p:nvSpPr>
        <p:spPr>
          <a:xfrm>
            <a:off x="990600" y="1722090"/>
            <a:ext cx="17937480" cy="689595"/>
          </a:xfrm>
          <a:prstGeom prst="rect">
            <a:avLst/>
          </a:prstGeom>
          <a:noFill/>
          <a:ln/>
        </p:spPr>
        <p:txBody>
          <a:bodyPr wrap="square" lIns="25400" tIns="25400" rIns="25400" bIns="25400" rtlCol="0" anchor="t">
            <a:normAutofit lnSpcReduction="10000"/>
          </a:bodyPr>
          <a:lstStyle/>
          <a:p>
            <a:pPr marL="0" indent="0" algn="l">
              <a:lnSpc>
                <a:spcPct val="78171"/>
              </a:lnSpc>
              <a:buNone/>
            </a:pPr>
            <a:r>
              <a:rPr lang="en-US" sz="5700" b="1" dirty="0">
                <a:solidFill>
                  <a:srgbClr val="FFFFFF"/>
                </a:solidFill>
                <a:latin typeface="Arial" pitchFamily="34" charset="0"/>
                <a:ea typeface="Arial" pitchFamily="34" charset="-122"/>
                <a:cs typeface="Arial" pitchFamily="34" charset="-120"/>
              </a:rPr>
              <a:t>IGGY GROWS TEETH EACH MODULE</a:t>
            </a:r>
            <a:endParaRPr lang="en-US" sz="5700" dirty="0"/>
          </a:p>
        </p:txBody>
      </p:sp>
      <p:sp>
        <p:nvSpPr>
          <p:cNvPr id="4" name="Shape 2"/>
          <p:cNvSpPr/>
          <p:nvPr/>
        </p:nvSpPr>
        <p:spPr>
          <a:xfrm>
            <a:off x="990600" y="2754585"/>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2945085"/>
            <a:ext cx="4998963"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LAYER</a:t>
            </a:r>
            <a:endParaRPr lang="en-US" sz="1350" dirty="0"/>
          </a:p>
        </p:txBody>
      </p:sp>
      <p:sp>
        <p:nvSpPr>
          <p:cNvPr id="6" name="Text 4"/>
          <p:cNvSpPr/>
          <p:nvPr/>
        </p:nvSpPr>
        <p:spPr>
          <a:xfrm>
            <a:off x="6460406" y="2945085"/>
            <a:ext cx="7707957"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36CDFF"/>
                </a:solidFill>
                <a:latin typeface="Courier New" pitchFamily="34" charset="0"/>
                <a:ea typeface="Courier New" pitchFamily="34" charset="-122"/>
                <a:cs typeface="Courier New" pitchFamily="34" charset="-120"/>
              </a:rPr>
              <a:t>WHAT’S NEW</a:t>
            </a:r>
            <a:endParaRPr lang="en-US" sz="1350" dirty="0"/>
          </a:p>
        </p:txBody>
      </p:sp>
      <p:sp>
        <p:nvSpPr>
          <p:cNvPr id="7" name="Text 5"/>
          <p:cNvSpPr/>
          <p:nvPr/>
        </p:nvSpPr>
        <p:spPr>
          <a:xfrm>
            <a:off x="14350752" y="2945085"/>
            <a:ext cx="2831784"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FD7EF5"/>
                </a:solidFill>
                <a:latin typeface="Courier New" pitchFamily="34" charset="0"/>
                <a:ea typeface="Courier New" pitchFamily="34" charset="-122"/>
                <a:cs typeface="Courier New" pitchFamily="34" charset="-120"/>
              </a:rPr>
              <a:t>MODULE</a:t>
            </a:r>
            <a:endParaRPr lang="en-US" sz="1350" dirty="0"/>
          </a:p>
        </p:txBody>
      </p:sp>
      <p:sp>
        <p:nvSpPr>
          <p:cNvPr id="8" name="Shape 6"/>
          <p:cNvSpPr/>
          <p:nvPr/>
        </p:nvSpPr>
        <p:spPr>
          <a:xfrm>
            <a:off x="990600" y="3345135"/>
            <a:ext cx="5260256" cy="9525"/>
          </a:xfrm>
          <a:prstGeom prst="rect">
            <a:avLst/>
          </a:prstGeom>
          <a:solidFill>
            <a:srgbClr val="FFFFFF">
              <a:alpha val="13000"/>
            </a:srgbClr>
          </a:solidFill>
          <a:ln/>
        </p:spPr>
        <p:txBody>
          <a:bodyPr/>
          <a:lstStyle/>
          <a:p>
            <a:endParaRPr lang="en-US"/>
          </a:p>
        </p:txBody>
      </p:sp>
      <p:sp>
        <p:nvSpPr>
          <p:cNvPr id="9" name="Text 7"/>
          <p:cNvSpPr/>
          <p:nvPr/>
        </p:nvSpPr>
        <p:spPr>
          <a:xfrm>
            <a:off x="1200150" y="3564210"/>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L0 chatbot</a:t>
            </a:r>
            <a:endParaRPr lang="en-US" sz="1875" dirty="0"/>
          </a:p>
        </p:txBody>
      </p:sp>
      <p:sp>
        <p:nvSpPr>
          <p:cNvPr id="10" name="Shape 8"/>
          <p:cNvSpPr/>
          <p:nvPr/>
        </p:nvSpPr>
        <p:spPr>
          <a:xfrm>
            <a:off x="6250856" y="3345135"/>
            <a:ext cx="7890346" cy="9525"/>
          </a:xfrm>
          <a:prstGeom prst="rect">
            <a:avLst/>
          </a:prstGeom>
          <a:solidFill>
            <a:srgbClr val="FFFFFF">
              <a:alpha val="13000"/>
            </a:srgbClr>
          </a:solidFill>
          <a:ln/>
        </p:spPr>
        <p:txBody>
          <a:bodyPr/>
          <a:lstStyle/>
          <a:p>
            <a:endParaRPr lang="en-US"/>
          </a:p>
        </p:txBody>
      </p:sp>
      <p:sp>
        <p:nvSpPr>
          <p:cNvPr id="11" name="Text 9"/>
          <p:cNvSpPr/>
          <p:nvPr/>
        </p:nvSpPr>
        <p:spPr>
          <a:xfrm>
            <a:off x="6460406" y="3564210"/>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direct injection</a:t>
            </a:r>
            <a:endParaRPr lang="en-US" sz="1875" dirty="0"/>
          </a:p>
        </p:txBody>
      </p:sp>
      <p:sp>
        <p:nvSpPr>
          <p:cNvPr id="12" name="Shape 10"/>
          <p:cNvSpPr/>
          <p:nvPr/>
        </p:nvSpPr>
        <p:spPr>
          <a:xfrm>
            <a:off x="14141202" y="3345135"/>
            <a:ext cx="3156198" cy="9525"/>
          </a:xfrm>
          <a:prstGeom prst="rect">
            <a:avLst/>
          </a:prstGeom>
          <a:solidFill>
            <a:srgbClr val="FFFFFF">
              <a:alpha val="13000"/>
            </a:srgbClr>
          </a:solidFill>
          <a:ln/>
        </p:spPr>
        <p:txBody>
          <a:bodyPr/>
          <a:lstStyle/>
          <a:p>
            <a:endParaRPr lang="en-US"/>
          </a:p>
        </p:txBody>
      </p:sp>
      <p:sp>
        <p:nvSpPr>
          <p:cNvPr id="13" name="Text 11"/>
          <p:cNvSpPr/>
          <p:nvPr/>
        </p:nvSpPr>
        <p:spPr>
          <a:xfrm>
            <a:off x="14350752" y="3564210"/>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M1</a:t>
            </a:r>
            <a:endParaRPr lang="en-US" sz="1875" dirty="0"/>
          </a:p>
        </p:txBody>
      </p:sp>
      <p:sp>
        <p:nvSpPr>
          <p:cNvPr id="14" name="Shape 12"/>
          <p:cNvSpPr/>
          <p:nvPr/>
        </p:nvSpPr>
        <p:spPr>
          <a:xfrm>
            <a:off x="990600" y="4095229"/>
            <a:ext cx="5260256" cy="750094"/>
          </a:xfrm>
          <a:prstGeom prst="rect">
            <a:avLst/>
          </a:prstGeom>
          <a:solidFill>
            <a:srgbClr val="36CDFF">
              <a:alpha val="7000"/>
            </a:srgbClr>
          </a:solidFill>
          <a:ln/>
        </p:spPr>
        <p:txBody>
          <a:bodyPr/>
          <a:lstStyle/>
          <a:p>
            <a:endParaRPr lang="en-US"/>
          </a:p>
        </p:txBody>
      </p:sp>
      <p:sp>
        <p:nvSpPr>
          <p:cNvPr id="15" name="Shape 13"/>
          <p:cNvSpPr/>
          <p:nvPr/>
        </p:nvSpPr>
        <p:spPr>
          <a:xfrm>
            <a:off x="990600" y="4095229"/>
            <a:ext cx="5260256" cy="9525"/>
          </a:xfrm>
          <a:prstGeom prst="rect">
            <a:avLst/>
          </a:prstGeom>
          <a:solidFill>
            <a:srgbClr val="FFFFFF">
              <a:alpha val="13000"/>
            </a:srgbClr>
          </a:solidFill>
          <a:ln/>
        </p:spPr>
        <p:txBody>
          <a:bodyPr/>
          <a:lstStyle/>
          <a:p>
            <a:endParaRPr lang="en-US"/>
          </a:p>
        </p:txBody>
      </p:sp>
      <p:sp>
        <p:nvSpPr>
          <p:cNvPr id="16" name="Text 14"/>
          <p:cNvSpPr/>
          <p:nvPr/>
        </p:nvSpPr>
        <p:spPr>
          <a:xfrm>
            <a:off x="1200150" y="4314304"/>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L1 RAG</a:t>
            </a:r>
            <a:endParaRPr lang="en-US" sz="1875" dirty="0"/>
          </a:p>
        </p:txBody>
      </p:sp>
      <p:sp>
        <p:nvSpPr>
          <p:cNvPr id="17" name="Shape 15"/>
          <p:cNvSpPr/>
          <p:nvPr/>
        </p:nvSpPr>
        <p:spPr>
          <a:xfrm>
            <a:off x="6250856" y="4095229"/>
            <a:ext cx="7890346" cy="750094"/>
          </a:xfrm>
          <a:prstGeom prst="rect">
            <a:avLst/>
          </a:prstGeom>
          <a:solidFill>
            <a:srgbClr val="36CDFF">
              <a:alpha val="7000"/>
            </a:srgbClr>
          </a:solidFill>
          <a:ln/>
        </p:spPr>
        <p:txBody>
          <a:bodyPr/>
          <a:lstStyle/>
          <a:p>
            <a:endParaRPr lang="en-US"/>
          </a:p>
        </p:txBody>
      </p:sp>
      <p:sp>
        <p:nvSpPr>
          <p:cNvPr id="18" name="Shape 16"/>
          <p:cNvSpPr/>
          <p:nvPr/>
        </p:nvSpPr>
        <p:spPr>
          <a:xfrm>
            <a:off x="6250856" y="4095229"/>
            <a:ext cx="7890346" cy="9525"/>
          </a:xfrm>
          <a:prstGeom prst="rect">
            <a:avLst/>
          </a:prstGeom>
          <a:solidFill>
            <a:srgbClr val="FFFFFF">
              <a:alpha val="13000"/>
            </a:srgbClr>
          </a:solidFill>
          <a:ln/>
        </p:spPr>
        <p:txBody>
          <a:bodyPr/>
          <a:lstStyle/>
          <a:p>
            <a:endParaRPr lang="en-US"/>
          </a:p>
        </p:txBody>
      </p:sp>
      <p:sp>
        <p:nvSpPr>
          <p:cNvPr id="19" name="Text 17"/>
          <p:cNvSpPr/>
          <p:nvPr/>
        </p:nvSpPr>
        <p:spPr>
          <a:xfrm>
            <a:off x="6460406" y="4314304"/>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indirect injection</a:t>
            </a:r>
            <a:endParaRPr lang="en-US" sz="1875" dirty="0"/>
          </a:p>
        </p:txBody>
      </p:sp>
      <p:sp>
        <p:nvSpPr>
          <p:cNvPr id="20" name="Shape 18"/>
          <p:cNvSpPr/>
          <p:nvPr/>
        </p:nvSpPr>
        <p:spPr>
          <a:xfrm>
            <a:off x="14141202" y="4095229"/>
            <a:ext cx="3156198" cy="750094"/>
          </a:xfrm>
          <a:prstGeom prst="rect">
            <a:avLst/>
          </a:prstGeom>
          <a:solidFill>
            <a:srgbClr val="36CDFF">
              <a:alpha val="7000"/>
            </a:srgbClr>
          </a:solidFill>
          <a:ln/>
        </p:spPr>
        <p:txBody>
          <a:bodyPr/>
          <a:lstStyle/>
          <a:p>
            <a:endParaRPr lang="en-US"/>
          </a:p>
        </p:txBody>
      </p:sp>
      <p:sp>
        <p:nvSpPr>
          <p:cNvPr id="21" name="Shape 19"/>
          <p:cNvSpPr/>
          <p:nvPr/>
        </p:nvSpPr>
        <p:spPr>
          <a:xfrm>
            <a:off x="14141202" y="4095229"/>
            <a:ext cx="3156198" cy="9525"/>
          </a:xfrm>
          <a:prstGeom prst="rect">
            <a:avLst/>
          </a:prstGeom>
          <a:solidFill>
            <a:srgbClr val="FFFFFF">
              <a:alpha val="13000"/>
            </a:srgbClr>
          </a:solidFill>
          <a:ln/>
        </p:spPr>
        <p:txBody>
          <a:bodyPr/>
          <a:lstStyle/>
          <a:p>
            <a:endParaRPr lang="en-US"/>
          </a:p>
        </p:txBody>
      </p:sp>
      <p:sp>
        <p:nvSpPr>
          <p:cNvPr id="22" name="Text 20"/>
          <p:cNvSpPr/>
          <p:nvPr/>
        </p:nvSpPr>
        <p:spPr>
          <a:xfrm>
            <a:off x="14350752" y="4314304"/>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M3</a:t>
            </a:r>
            <a:endParaRPr lang="en-US" sz="1875" dirty="0"/>
          </a:p>
        </p:txBody>
      </p:sp>
      <p:sp>
        <p:nvSpPr>
          <p:cNvPr id="23" name="Shape 21"/>
          <p:cNvSpPr/>
          <p:nvPr/>
        </p:nvSpPr>
        <p:spPr>
          <a:xfrm>
            <a:off x="990600" y="4845323"/>
            <a:ext cx="5260256" cy="9525"/>
          </a:xfrm>
          <a:prstGeom prst="rect">
            <a:avLst/>
          </a:prstGeom>
          <a:solidFill>
            <a:srgbClr val="FFFFFF">
              <a:alpha val="13000"/>
            </a:srgbClr>
          </a:solidFill>
          <a:ln/>
        </p:spPr>
        <p:txBody>
          <a:bodyPr/>
          <a:lstStyle/>
          <a:p>
            <a:endParaRPr lang="en-US"/>
          </a:p>
        </p:txBody>
      </p:sp>
      <p:sp>
        <p:nvSpPr>
          <p:cNvPr id="24" name="Text 22"/>
          <p:cNvSpPr/>
          <p:nvPr/>
        </p:nvSpPr>
        <p:spPr>
          <a:xfrm>
            <a:off x="1200150" y="5064398"/>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L2 agent</a:t>
            </a:r>
            <a:endParaRPr lang="en-US" sz="1875" dirty="0"/>
          </a:p>
        </p:txBody>
      </p:sp>
      <p:sp>
        <p:nvSpPr>
          <p:cNvPr id="25" name="Shape 23"/>
          <p:cNvSpPr/>
          <p:nvPr/>
        </p:nvSpPr>
        <p:spPr>
          <a:xfrm>
            <a:off x="6250856" y="4845323"/>
            <a:ext cx="7890346" cy="9525"/>
          </a:xfrm>
          <a:prstGeom prst="rect">
            <a:avLst/>
          </a:prstGeom>
          <a:solidFill>
            <a:srgbClr val="FFFFFF">
              <a:alpha val="13000"/>
            </a:srgbClr>
          </a:solidFill>
          <a:ln/>
        </p:spPr>
        <p:txBody>
          <a:bodyPr/>
          <a:lstStyle/>
          <a:p>
            <a:endParaRPr lang="en-US"/>
          </a:p>
        </p:txBody>
      </p:sp>
      <p:sp>
        <p:nvSpPr>
          <p:cNvPr id="26" name="Text 24"/>
          <p:cNvSpPr/>
          <p:nvPr/>
        </p:nvSpPr>
        <p:spPr>
          <a:xfrm>
            <a:off x="6460406" y="5064398"/>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tool abuse</a:t>
            </a:r>
            <a:endParaRPr lang="en-US" sz="1875" dirty="0"/>
          </a:p>
        </p:txBody>
      </p:sp>
      <p:sp>
        <p:nvSpPr>
          <p:cNvPr id="27" name="Shape 25"/>
          <p:cNvSpPr/>
          <p:nvPr/>
        </p:nvSpPr>
        <p:spPr>
          <a:xfrm>
            <a:off x="14141202" y="4845323"/>
            <a:ext cx="3156198" cy="9525"/>
          </a:xfrm>
          <a:prstGeom prst="rect">
            <a:avLst/>
          </a:prstGeom>
          <a:solidFill>
            <a:srgbClr val="FFFFFF">
              <a:alpha val="13000"/>
            </a:srgbClr>
          </a:solidFill>
          <a:ln/>
        </p:spPr>
        <p:txBody>
          <a:bodyPr/>
          <a:lstStyle/>
          <a:p>
            <a:endParaRPr lang="en-US"/>
          </a:p>
        </p:txBody>
      </p:sp>
      <p:sp>
        <p:nvSpPr>
          <p:cNvPr id="28" name="Text 26"/>
          <p:cNvSpPr/>
          <p:nvPr/>
        </p:nvSpPr>
        <p:spPr>
          <a:xfrm>
            <a:off x="14350752" y="5064398"/>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M5</a:t>
            </a:r>
            <a:endParaRPr lang="en-US" sz="1875" dirty="0"/>
          </a:p>
        </p:txBody>
      </p:sp>
      <p:sp>
        <p:nvSpPr>
          <p:cNvPr id="29" name="Shape 27"/>
          <p:cNvSpPr/>
          <p:nvPr/>
        </p:nvSpPr>
        <p:spPr>
          <a:xfrm>
            <a:off x="990600" y="5595417"/>
            <a:ext cx="5260256" cy="750094"/>
          </a:xfrm>
          <a:prstGeom prst="rect">
            <a:avLst/>
          </a:prstGeom>
          <a:solidFill>
            <a:srgbClr val="36CDFF">
              <a:alpha val="7000"/>
            </a:srgbClr>
          </a:solidFill>
          <a:ln/>
        </p:spPr>
        <p:txBody>
          <a:bodyPr/>
          <a:lstStyle/>
          <a:p>
            <a:endParaRPr lang="en-US"/>
          </a:p>
        </p:txBody>
      </p:sp>
      <p:sp>
        <p:nvSpPr>
          <p:cNvPr id="30" name="Shape 28"/>
          <p:cNvSpPr/>
          <p:nvPr/>
        </p:nvSpPr>
        <p:spPr>
          <a:xfrm>
            <a:off x="990600" y="5595417"/>
            <a:ext cx="5260256" cy="9525"/>
          </a:xfrm>
          <a:prstGeom prst="rect">
            <a:avLst/>
          </a:prstGeom>
          <a:solidFill>
            <a:srgbClr val="FFFFFF">
              <a:alpha val="13000"/>
            </a:srgbClr>
          </a:solidFill>
          <a:ln/>
        </p:spPr>
        <p:txBody>
          <a:bodyPr/>
          <a:lstStyle/>
          <a:p>
            <a:endParaRPr lang="en-US"/>
          </a:p>
        </p:txBody>
      </p:sp>
      <p:sp>
        <p:nvSpPr>
          <p:cNvPr id="31" name="Text 29"/>
          <p:cNvSpPr/>
          <p:nvPr/>
        </p:nvSpPr>
        <p:spPr>
          <a:xfrm>
            <a:off x="1200150" y="5814492"/>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L3 MCP</a:t>
            </a:r>
            <a:endParaRPr lang="en-US" sz="1875" dirty="0"/>
          </a:p>
        </p:txBody>
      </p:sp>
      <p:sp>
        <p:nvSpPr>
          <p:cNvPr id="32" name="Shape 30"/>
          <p:cNvSpPr/>
          <p:nvPr/>
        </p:nvSpPr>
        <p:spPr>
          <a:xfrm>
            <a:off x="6250856" y="5595417"/>
            <a:ext cx="7890346" cy="750094"/>
          </a:xfrm>
          <a:prstGeom prst="rect">
            <a:avLst/>
          </a:prstGeom>
          <a:solidFill>
            <a:srgbClr val="36CDFF">
              <a:alpha val="7000"/>
            </a:srgbClr>
          </a:solidFill>
          <a:ln/>
        </p:spPr>
        <p:txBody>
          <a:bodyPr/>
          <a:lstStyle/>
          <a:p>
            <a:endParaRPr lang="en-US"/>
          </a:p>
        </p:txBody>
      </p:sp>
      <p:sp>
        <p:nvSpPr>
          <p:cNvPr id="33" name="Shape 31"/>
          <p:cNvSpPr/>
          <p:nvPr/>
        </p:nvSpPr>
        <p:spPr>
          <a:xfrm>
            <a:off x="6250856" y="5595417"/>
            <a:ext cx="7890346" cy="9525"/>
          </a:xfrm>
          <a:prstGeom prst="rect">
            <a:avLst/>
          </a:prstGeom>
          <a:solidFill>
            <a:srgbClr val="FFFFFF">
              <a:alpha val="13000"/>
            </a:srgbClr>
          </a:solidFill>
          <a:ln/>
        </p:spPr>
        <p:txBody>
          <a:bodyPr/>
          <a:lstStyle/>
          <a:p>
            <a:endParaRPr lang="en-US"/>
          </a:p>
        </p:txBody>
      </p:sp>
      <p:sp>
        <p:nvSpPr>
          <p:cNvPr id="34" name="Text 32"/>
          <p:cNvSpPr/>
          <p:nvPr/>
        </p:nvSpPr>
        <p:spPr>
          <a:xfrm>
            <a:off x="6460406" y="5814492"/>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tool poisoning</a:t>
            </a:r>
            <a:endParaRPr lang="en-US" sz="1875" dirty="0"/>
          </a:p>
        </p:txBody>
      </p:sp>
      <p:sp>
        <p:nvSpPr>
          <p:cNvPr id="35" name="Shape 33"/>
          <p:cNvSpPr/>
          <p:nvPr/>
        </p:nvSpPr>
        <p:spPr>
          <a:xfrm>
            <a:off x="14141202" y="5595417"/>
            <a:ext cx="3156198" cy="750094"/>
          </a:xfrm>
          <a:prstGeom prst="rect">
            <a:avLst/>
          </a:prstGeom>
          <a:solidFill>
            <a:srgbClr val="36CDFF">
              <a:alpha val="7000"/>
            </a:srgbClr>
          </a:solidFill>
          <a:ln/>
        </p:spPr>
        <p:txBody>
          <a:bodyPr/>
          <a:lstStyle/>
          <a:p>
            <a:endParaRPr lang="en-US"/>
          </a:p>
        </p:txBody>
      </p:sp>
      <p:sp>
        <p:nvSpPr>
          <p:cNvPr id="36" name="Shape 34"/>
          <p:cNvSpPr/>
          <p:nvPr/>
        </p:nvSpPr>
        <p:spPr>
          <a:xfrm>
            <a:off x="14141202" y="5595417"/>
            <a:ext cx="3156198" cy="9525"/>
          </a:xfrm>
          <a:prstGeom prst="rect">
            <a:avLst/>
          </a:prstGeom>
          <a:solidFill>
            <a:srgbClr val="FFFFFF">
              <a:alpha val="13000"/>
            </a:srgbClr>
          </a:solidFill>
          <a:ln/>
        </p:spPr>
        <p:txBody>
          <a:bodyPr/>
          <a:lstStyle/>
          <a:p>
            <a:endParaRPr lang="en-US"/>
          </a:p>
        </p:txBody>
      </p:sp>
      <p:sp>
        <p:nvSpPr>
          <p:cNvPr id="37" name="Text 35"/>
          <p:cNvSpPr/>
          <p:nvPr/>
        </p:nvSpPr>
        <p:spPr>
          <a:xfrm>
            <a:off x="14350752" y="5814492"/>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M6</a:t>
            </a:r>
            <a:endParaRPr lang="en-US" sz="1875" dirty="0"/>
          </a:p>
        </p:txBody>
      </p:sp>
      <p:sp>
        <p:nvSpPr>
          <p:cNvPr id="38" name="Shape 36"/>
          <p:cNvSpPr/>
          <p:nvPr/>
        </p:nvSpPr>
        <p:spPr>
          <a:xfrm>
            <a:off x="990600" y="6345510"/>
            <a:ext cx="5260256" cy="9525"/>
          </a:xfrm>
          <a:prstGeom prst="rect">
            <a:avLst/>
          </a:prstGeom>
          <a:solidFill>
            <a:srgbClr val="FFFFFF">
              <a:alpha val="13000"/>
            </a:srgbClr>
          </a:solidFill>
          <a:ln/>
        </p:spPr>
        <p:txBody>
          <a:bodyPr/>
          <a:lstStyle/>
          <a:p>
            <a:endParaRPr lang="en-US"/>
          </a:p>
        </p:txBody>
      </p:sp>
      <p:sp>
        <p:nvSpPr>
          <p:cNvPr id="39" name="Text 37"/>
          <p:cNvSpPr/>
          <p:nvPr/>
        </p:nvSpPr>
        <p:spPr>
          <a:xfrm>
            <a:off x="1200150" y="6564585"/>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L4 multi-agent</a:t>
            </a:r>
            <a:endParaRPr lang="en-US" sz="1875" dirty="0"/>
          </a:p>
        </p:txBody>
      </p:sp>
      <p:sp>
        <p:nvSpPr>
          <p:cNvPr id="40" name="Shape 38"/>
          <p:cNvSpPr/>
          <p:nvPr/>
        </p:nvSpPr>
        <p:spPr>
          <a:xfrm>
            <a:off x="6250856" y="6345510"/>
            <a:ext cx="7890346" cy="9525"/>
          </a:xfrm>
          <a:prstGeom prst="rect">
            <a:avLst/>
          </a:prstGeom>
          <a:solidFill>
            <a:srgbClr val="FFFFFF">
              <a:alpha val="13000"/>
            </a:srgbClr>
          </a:solidFill>
          <a:ln/>
        </p:spPr>
        <p:txBody>
          <a:bodyPr/>
          <a:lstStyle/>
          <a:p>
            <a:endParaRPr lang="en-US"/>
          </a:p>
        </p:txBody>
      </p:sp>
      <p:sp>
        <p:nvSpPr>
          <p:cNvPr id="41" name="Text 39"/>
          <p:cNvSpPr/>
          <p:nvPr/>
        </p:nvSpPr>
        <p:spPr>
          <a:xfrm>
            <a:off x="6460406" y="6564585"/>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cascading trust</a:t>
            </a:r>
            <a:endParaRPr lang="en-US" sz="1875" dirty="0"/>
          </a:p>
        </p:txBody>
      </p:sp>
      <p:sp>
        <p:nvSpPr>
          <p:cNvPr id="42" name="Shape 40"/>
          <p:cNvSpPr/>
          <p:nvPr/>
        </p:nvSpPr>
        <p:spPr>
          <a:xfrm>
            <a:off x="14141202" y="6345510"/>
            <a:ext cx="3156198" cy="9525"/>
          </a:xfrm>
          <a:prstGeom prst="rect">
            <a:avLst/>
          </a:prstGeom>
          <a:solidFill>
            <a:srgbClr val="FFFFFF">
              <a:alpha val="13000"/>
            </a:srgbClr>
          </a:solidFill>
          <a:ln/>
        </p:spPr>
        <p:txBody>
          <a:bodyPr/>
          <a:lstStyle/>
          <a:p>
            <a:endParaRPr lang="en-US"/>
          </a:p>
        </p:txBody>
      </p:sp>
      <p:sp>
        <p:nvSpPr>
          <p:cNvPr id="43" name="Text 41"/>
          <p:cNvSpPr/>
          <p:nvPr/>
        </p:nvSpPr>
        <p:spPr>
          <a:xfrm>
            <a:off x="14350752" y="6564585"/>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M7</a:t>
            </a:r>
            <a:endParaRPr lang="en-US" sz="1875" dirty="0"/>
          </a:p>
        </p:txBody>
      </p:sp>
      <p:sp>
        <p:nvSpPr>
          <p:cNvPr id="44" name="Shape 42"/>
          <p:cNvSpPr/>
          <p:nvPr/>
        </p:nvSpPr>
        <p:spPr>
          <a:xfrm>
            <a:off x="990600" y="7095604"/>
            <a:ext cx="5260256" cy="750094"/>
          </a:xfrm>
          <a:prstGeom prst="rect">
            <a:avLst/>
          </a:prstGeom>
          <a:solidFill>
            <a:srgbClr val="36CDFF">
              <a:alpha val="7000"/>
            </a:srgbClr>
          </a:solidFill>
          <a:ln/>
        </p:spPr>
        <p:txBody>
          <a:bodyPr/>
          <a:lstStyle/>
          <a:p>
            <a:endParaRPr lang="en-US"/>
          </a:p>
        </p:txBody>
      </p:sp>
      <p:sp>
        <p:nvSpPr>
          <p:cNvPr id="45" name="Shape 43"/>
          <p:cNvSpPr/>
          <p:nvPr/>
        </p:nvSpPr>
        <p:spPr>
          <a:xfrm>
            <a:off x="990600" y="7095604"/>
            <a:ext cx="5260256" cy="9525"/>
          </a:xfrm>
          <a:prstGeom prst="rect">
            <a:avLst/>
          </a:prstGeom>
          <a:solidFill>
            <a:srgbClr val="FFFFFF">
              <a:alpha val="13000"/>
            </a:srgbClr>
          </a:solidFill>
          <a:ln/>
        </p:spPr>
        <p:txBody>
          <a:bodyPr/>
          <a:lstStyle/>
          <a:p>
            <a:endParaRPr lang="en-US"/>
          </a:p>
        </p:txBody>
      </p:sp>
      <p:sp>
        <p:nvSpPr>
          <p:cNvPr id="46" name="Text 44"/>
          <p:cNvSpPr/>
          <p:nvPr/>
        </p:nvSpPr>
        <p:spPr>
          <a:xfrm>
            <a:off x="1200150" y="7314679"/>
            <a:ext cx="4998963"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FFFFF"/>
                </a:solidFill>
                <a:latin typeface="Arial" pitchFamily="34" charset="0"/>
                <a:ea typeface="Arial" pitchFamily="34" charset="-122"/>
                <a:cs typeface="Arial" pitchFamily="34" charset="-120"/>
              </a:rPr>
              <a:t>L5 production</a:t>
            </a:r>
            <a:endParaRPr lang="en-US" sz="1875" dirty="0"/>
          </a:p>
        </p:txBody>
      </p:sp>
      <p:sp>
        <p:nvSpPr>
          <p:cNvPr id="47" name="Shape 45"/>
          <p:cNvSpPr/>
          <p:nvPr/>
        </p:nvSpPr>
        <p:spPr>
          <a:xfrm>
            <a:off x="6250856" y="7095604"/>
            <a:ext cx="7890346" cy="750094"/>
          </a:xfrm>
          <a:prstGeom prst="rect">
            <a:avLst/>
          </a:prstGeom>
          <a:solidFill>
            <a:srgbClr val="36CDFF">
              <a:alpha val="7000"/>
            </a:srgbClr>
          </a:solidFill>
          <a:ln/>
        </p:spPr>
        <p:txBody>
          <a:bodyPr/>
          <a:lstStyle/>
          <a:p>
            <a:endParaRPr lang="en-US"/>
          </a:p>
        </p:txBody>
      </p:sp>
      <p:sp>
        <p:nvSpPr>
          <p:cNvPr id="48" name="Shape 46"/>
          <p:cNvSpPr/>
          <p:nvPr/>
        </p:nvSpPr>
        <p:spPr>
          <a:xfrm>
            <a:off x="6250856" y="7095604"/>
            <a:ext cx="7890346" cy="9525"/>
          </a:xfrm>
          <a:prstGeom prst="rect">
            <a:avLst/>
          </a:prstGeom>
          <a:solidFill>
            <a:srgbClr val="FFFFFF">
              <a:alpha val="13000"/>
            </a:srgbClr>
          </a:solidFill>
          <a:ln/>
        </p:spPr>
        <p:txBody>
          <a:bodyPr/>
          <a:lstStyle/>
          <a:p>
            <a:endParaRPr lang="en-US"/>
          </a:p>
        </p:txBody>
      </p:sp>
      <p:sp>
        <p:nvSpPr>
          <p:cNvPr id="49" name="Text 47"/>
          <p:cNvSpPr/>
          <p:nvPr/>
        </p:nvSpPr>
        <p:spPr>
          <a:xfrm>
            <a:off x="6460406" y="7314679"/>
            <a:ext cx="7707957"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bypass plus defend</a:t>
            </a:r>
            <a:endParaRPr lang="en-US" sz="1875" dirty="0"/>
          </a:p>
        </p:txBody>
      </p:sp>
      <p:sp>
        <p:nvSpPr>
          <p:cNvPr id="50" name="Shape 48"/>
          <p:cNvSpPr/>
          <p:nvPr/>
        </p:nvSpPr>
        <p:spPr>
          <a:xfrm>
            <a:off x="14141202" y="7095604"/>
            <a:ext cx="3156198" cy="750094"/>
          </a:xfrm>
          <a:prstGeom prst="rect">
            <a:avLst/>
          </a:prstGeom>
          <a:solidFill>
            <a:srgbClr val="36CDFF">
              <a:alpha val="7000"/>
            </a:srgbClr>
          </a:solidFill>
          <a:ln/>
        </p:spPr>
        <p:txBody>
          <a:bodyPr/>
          <a:lstStyle/>
          <a:p>
            <a:endParaRPr lang="en-US"/>
          </a:p>
        </p:txBody>
      </p:sp>
      <p:sp>
        <p:nvSpPr>
          <p:cNvPr id="51" name="Shape 49"/>
          <p:cNvSpPr/>
          <p:nvPr/>
        </p:nvSpPr>
        <p:spPr>
          <a:xfrm>
            <a:off x="14141202" y="7095604"/>
            <a:ext cx="3156198" cy="9525"/>
          </a:xfrm>
          <a:prstGeom prst="rect">
            <a:avLst/>
          </a:prstGeom>
          <a:solidFill>
            <a:srgbClr val="FFFFFF">
              <a:alpha val="13000"/>
            </a:srgbClr>
          </a:solidFill>
          <a:ln/>
        </p:spPr>
        <p:txBody>
          <a:bodyPr/>
          <a:lstStyle/>
          <a:p>
            <a:endParaRPr lang="en-US"/>
          </a:p>
        </p:txBody>
      </p:sp>
      <p:sp>
        <p:nvSpPr>
          <p:cNvPr id="52" name="Text 50"/>
          <p:cNvSpPr/>
          <p:nvPr/>
        </p:nvSpPr>
        <p:spPr>
          <a:xfrm>
            <a:off x="14350752" y="7314679"/>
            <a:ext cx="2831784" cy="359569"/>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M8</a:t>
            </a:r>
            <a:endParaRPr lang="en-US" sz="1875" dirty="0"/>
          </a:p>
        </p:txBody>
      </p:sp>
      <p:sp>
        <p:nvSpPr>
          <p:cNvPr id="53" name="Text 51"/>
          <p:cNvSpPr/>
          <p:nvPr/>
        </p:nvSpPr>
        <p:spPr>
          <a:xfrm>
            <a:off x="990600" y="8131448"/>
            <a:ext cx="17811750" cy="285750"/>
          </a:xfrm>
          <a:prstGeom prst="rect">
            <a:avLst/>
          </a:prstGeom>
          <a:noFill/>
          <a:ln/>
        </p:spPr>
        <p:txBody>
          <a:bodyPr wrap="square" lIns="25400" tIns="25400" rIns="25400" bIns="25400" rtlCol="0" anchor="t">
            <a:normAutofit/>
          </a:bodyPr>
          <a:lstStyle/>
          <a:p>
            <a:pPr marL="0" indent="0" algn="l">
              <a:buNone/>
            </a:pPr>
            <a:r>
              <a:rPr lang="en-US" sz="1800" dirty="0">
                <a:solidFill>
                  <a:srgbClr val="969696"/>
                </a:solidFill>
                <a:latin typeface="Arial" pitchFamily="34" charset="0"/>
                <a:ea typeface="Arial" pitchFamily="34" charset="-122"/>
                <a:cs typeface="Arial" pitchFamily="34" charset="-120"/>
              </a:rPr>
              <a:t>M2 (output handling) rides on L0/L1 · M4 (supply-chain poisoning) targets the L1 data and model — same layers, new attacks.</a:t>
            </a:r>
            <a:endParaRPr lang="en-US" sz="1800" dirty="0"/>
          </a:p>
        </p:txBody>
      </p:sp>
      <p:pic>
        <p:nvPicPr>
          <p:cNvPr id="5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55" name="Text 52"/>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73363"/>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GRADING</a:t>
            </a:r>
            <a:endParaRPr lang="en-US" sz="1500" dirty="0"/>
          </a:p>
        </p:txBody>
      </p:sp>
      <p:sp>
        <p:nvSpPr>
          <p:cNvPr id="3" name="Text 1"/>
          <p:cNvSpPr/>
          <p:nvPr/>
        </p:nvSpPr>
        <p:spPr>
          <a:xfrm>
            <a:off x="990600" y="3378175"/>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HOW YOU KNOW YOU WON</a:t>
            </a:r>
            <a:endParaRPr lang="en-US" sz="7200" dirty="0"/>
          </a:p>
        </p:txBody>
      </p:sp>
      <p:sp>
        <p:nvSpPr>
          <p:cNvPr id="4" name="Text 2"/>
          <p:cNvSpPr/>
          <p:nvPr/>
        </p:nvSpPr>
        <p:spPr>
          <a:xfrm>
            <a:off x="990600" y="4582120"/>
            <a:ext cx="17811750" cy="502667"/>
          </a:xfrm>
          <a:prstGeom prst="rect">
            <a:avLst/>
          </a:prstGeom>
          <a:noFill/>
          <a:ln/>
        </p:spPr>
        <p:txBody>
          <a:bodyPr wrap="square" lIns="25400" tIns="25400" rIns="25400" bIns="25400" rtlCol="0" anchor="t">
            <a:normAutofit/>
          </a:bodyPr>
          <a:lstStyle/>
          <a:p>
            <a:pPr marL="0" indent="0" algn="l">
              <a:lnSpc>
                <a:spcPct val="123795"/>
              </a:lnSpc>
              <a:buNone/>
            </a:pPr>
            <a:r>
              <a:rPr lang="en-US" sz="2550" dirty="0">
                <a:solidFill>
                  <a:srgbClr val="FFFFFF"/>
                </a:solidFill>
                <a:latin typeface="Arial" pitchFamily="34" charset="0"/>
                <a:ea typeface="Arial" pitchFamily="34" charset="-122"/>
                <a:cs typeface="Arial" pitchFamily="34" charset="-120"/>
              </a:rPr>
              <a:t>Pass/fail is a </a:t>
            </a:r>
            <a:r>
              <a:rPr lang="en-US" sz="2550" b="1" dirty="0">
                <a:solidFill>
                  <a:srgbClr val="36CDFF"/>
                </a:solidFill>
                <a:latin typeface="Arial" pitchFamily="34" charset="0"/>
                <a:ea typeface="Arial" pitchFamily="34" charset="-122"/>
                <a:cs typeface="Arial" pitchFamily="34" charset="-120"/>
              </a:rPr>
              <a:t>server-side audit log </a:t>
            </a:r>
            <a:r>
              <a:rPr lang="en-US" sz="2550" dirty="0">
                <a:solidFill>
                  <a:srgbClr val="FFFFFF"/>
                </a:solidFill>
                <a:latin typeface="Arial" pitchFamily="34" charset="0"/>
                <a:ea typeface="Arial" pitchFamily="34" charset="-122"/>
                <a:cs typeface="Arial" pitchFamily="34" charset="-120"/>
              </a:rPr>
              <a:t>— not what the model </a:t>
            </a:r>
            <a:r>
              <a:rPr lang="en-US" sz="2550" i="1" dirty="0">
                <a:solidFill>
                  <a:srgbClr val="FFFFFF"/>
                </a:solidFill>
                <a:latin typeface="Arial" pitchFamily="34" charset="0"/>
                <a:ea typeface="Arial" pitchFamily="34" charset="-122"/>
                <a:cs typeface="Arial" pitchFamily="34" charset="-120"/>
              </a:rPr>
              <a:t>said.</a:t>
            </a:r>
            <a:endParaRPr lang="en-US" sz="2550" dirty="0"/>
          </a:p>
        </p:txBody>
      </p:sp>
      <p:sp>
        <p:nvSpPr>
          <p:cNvPr id="5" name="Shape 3"/>
          <p:cNvSpPr/>
          <p:nvPr/>
        </p:nvSpPr>
        <p:spPr>
          <a:xfrm>
            <a:off x="990600" y="6713562"/>
            <a:ext cx="16192500" cy="9525"/>
          </a:xfrm>
          <a:prstGeom prst="rect">
            <a:avLst/>
          </a:prstGeom>
          <a:solidFill>
            <a:srgbClr val="36CDFF">
              <a:alpha val="40000"/>
            </a:srgbClr>
          </a:solidFill>
          <a:ln/>
        </p:spPr>
        <p:txBody>
          <a:bodyPr/>
          <a:lstStyle/>
          <a:p>
            <a:endParaRPr lang="en-US"/>
          </a:p>
        </p:txBody>
      </p:sp>
      <p:sp>
        <p:nvSpPr>
          <p:cNvPr id="6" name="Shape 4"/>
          <p:cNvSpPr/>
          <p:nvPr/>
        </p:nvSpPr>
        <p:spPr>
          <a:xfrm>
            <a:off x="990600" y="5389587"/>
            <a:ext cx="16192500" cy="9525"/>
          </a:xfrm>
          <a:prstGeom prst="rect">
            <a:avLst/>
          </a:prstGeom>
          <a:solidFill>
            <a:srgbClr val="36CDFF">
              <a:alpha val="40000"/>
            </a:srgbClr>
          </a:solidFill>
          <a:ln/>
        </p:spPr>
        <p:txBody>
          <a:bodyPr/>
          <a:lstStyle/>
          <a:p>
            <a:endParaRPr lang="en-US"/>
          </a:p>
        </p:txBody>
      </p:sp>
      <p:sp>
        <p:nvSpPr>
          <p:cNvPr id="7" name="Shape 5"/>
          <p:cNvSpPr/>
          <p:nvPr/>
        </p:nvSpPr>
        <p:spPr>
          <a:xfrm>
            <a:off x="990600" y="5389587"/>
            <a:ext cx="38100" cy="1333500"/>
          </a:xfrm>
          <a:prstGeom prst="rect">
            <a:avLst/>
          </a:prstGeom>
          <a:solidFill>
            <a:srgbClr val="36CDFF"/>
          </a:solidFill>
          <a:ln/>
        </p:spPr>
        <p:txBody>
          <a:bodyPr/>
          <a:lstStyle/>
          <a:p>
            <a:endParaRPr lang="en-US"/>
          </a:p>
        </p:txBody>
      </p:sp>
      <p:sp>
        <p:nvSpPr>
          <p:cNvPr id="8" name="Shape 6"/>
          <p:cNvSpPr/>
          <p:nvPr/>
        </p:nvSpPr>
        <p:spPr>
          <a:xfrm>
            <a:off x="17173575" y="5389587"/>
            <a:ext cx="9525" cy="1333500"/>
          </a:xfrm>
          <a:prstGeom prst="rect">
            <a:avLst/>
          </a:prstGeom>
          <a:solidFill>
            <a:srgbClr val="36CDFF">
              <a:alpha val="40000"/>
            </a:srgbClr>
          </a:solidFill>
          <a:ln/>
        </p:spPr>
        <p:txBody>
          <a:bodyPr/>
          <a:lstStyle/>
          <a:p>
            <a:endParaRPr lang="en-US"/>
          </a:p>
        </p:txBody>
      </p:sp>
      <p:sp>
        <p:nvSpPr>
          <p:cNvPr id="9" name="Text 7"/>
          <p:cNvSpPr/>
          <p:nvPr/>
        </p:nvSpPr>
        <p:spPr>
          <a:xfrm>
            <a:off x="1371600" y="5665812"/>
            <a:ext cx="15922847" cy="819150"/>
          </a:xfrm>
          <a:prstGeom prst="rect">
            <a:avLst/>
          </a:prstGeom>
          <a:noFill/>
          <a:ln/>
        </p:spPr>
        <p:txBody>
          <a:bodyPr wrap="square" lIns="25400" tIns="25400" rIns="25400" bIns="25400" rtlCol="0" anchor="t">
            <a:normAutofit/>
          </a:bodyPr>
          <a:lstStyle/>
          <a:p>
            <a:pPr marL="0" indent="0" algn="l">
              <a:lnSpc>
                <a:spcPct val="130645"/>
              </a:lnSpc>
              <a:buNone/>
            </a:pPr>
            <a:r>
              <a:rPr lang="en-US" sz="2025" dirty="0">
                <a:solidFill>
                  <a:srgbClr val="C8C8C8"/>
                </a:solidFill>
                <a:latin typeface="Arial" pitchFamily="34" charset="0"/>
                <a:ea typeface="Arial" pitchFamily="34" charset="-122"/>
                <a:cs typeface="Arial" pitchFamily="34" charset="-120"/>
              </a:rPr>
              <a:t>LLMs are non-deterministic, so we never grade on words. Every objective is validated by a mechanism query: did the exploit actually fire? You will see </a:t>
            </a:r>
            <a:r>
              <a:rPr lang="en-US" sz="2025" dirty="0">
                <a:solidFill>
                  <a:srgbClr val="FFFFFF"/>
                </a:solidFill>
                <a:latin typeface="Courier New" pitchFamily="34" charset="0"/>
                <a:ea typeface="Courier New" pitchFamily="34" charset="-122"/>
                <a:cs typeface="Courier New" pitchFamily="34" charset="-120"/>
              </a:rPr>
              <a:t>/validate </a:t>
            </a:r>
            <a:r>
              <a:rPr lang="en-US" sz="2025" dirty="0">
                <a:solidFill>
                  <a:srgbClr val="C8C8C8"/>
                </a:solidFill>
                <a:latin typeface="Arial" pitchFamily="34" charset="0"/>
                <a:ea typeface="Arial" pitchFamily="34" charset="-122"/>
                <a:cs typeface="Arial" pitchFamily="34" charset="-120"/>
              </a:rPr>
              <a:t>return </a:t>
            </a:r>
            <a:r>
              <a:rPr lang="en-US" sz="2025" dirty="0">
                <a:solidFill>
                  <a:srgbClr val="FFFFFF"/>
                </a:solidFill>
                <a:latin typeface="Courier New" pitchFamily="34" charset="0"/>
                <a:ea typeface="Courier New" pitchFamily="34" charset="-122"/>
                <a:cs typeface="Courier New" pitchFamily="34" charset="-120"/>
              </a:rPr>
              <a:t>core: pass</a:t>
            </a:r>
            <a:r>
              <a:rPr lang="en-US" sz="2025" dirty="0">
                <a:solidFill>
                  <a:srgbClr val="C8C8C8"/>
                </a:solidFill>
                <a:latin typeface="Arial" pitchFamily="34" charset="0"/>
                <a:ea typeface="Arial" pitchFamily="34" charset="-122"/>
                <a:cs typeface="Arial" pitchFamily="34" charset="-120"/>
              </a:rPr>
              <a:t>.</a:t>
            </a:r>
            <a:endParaRPr lang="en-US" sz="2025" dirty="0"/>
          </a:p>
        </p:txBody>
      </p:sp>
      <p:pic>
        <p:nvPicPr>
          <p:cNvPr id="10"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1" name="Text 8"/>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58635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LOGISTICS</a:t>
            </a:r>
            <a:endParaRPr lang="en-US" sz="1500" dirty="0"/>
          </a:p>
        </p:txBody>
      </p:sp>
      <p:sp>
        <p:nvSpPr>
          <p:cNvPr id="3" name="Text 1"/>
          <p:cNvSpPr/>
          <p:nvPr/>
        </p:nvSpPr>
        <p:spPr>
          <a:xfrm>
            <a:off x="990600" y="199117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RULES OF THE RANGE</a:t>
            </a:r>
            <a:endParaRPr lang="en-US" sz="7200" dirty="0"/>
          </a:p>
        </p:txBody>
      </p:sp>
      <p:sp>
        <p:nvSpPr>
          <p:cNvPr id="4" name="Shape 2"/>
          <p:cNvSpPr/>
          <p:nvPr/>
        </p:nvSpPr>
        <p:spPr>
          <a:xfrm>
            <a:off x="990600" y="3233217"/>
            <a:ext cx="16306800" cy="19050"/>
          </a:xfrm>
          <a:prstGeom prst="rect">
            <a:avLst/>
          </a:prstGeom>
          <a:solidFill>
            <a:srgbClr val="FFFFFF">
              <a:alpha val="16000"/>
            </a:srgbClr>
          </a:solidFill>
          <a:ln/>
        </p:spPr>
        <p:txBody>
          <a:bodyPr/>
          <a:lstStyle/>
          <a:p>
            <a:endParaRPr lang="en-US"/>
          </a:p>
        </p:txBody>
      </p:sp>
      <p:sp>
        <p:nvSpPr>
          <p:cNvPr id="5" name="Text 3"/>
          <p:cNvSpPr/>
          <p:nvPr/>
        </p:nvSpPr>
        <p:spPr>
          <a:xfrm>
            <a:off x="990600" y="3538017"/>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3461817"/>
            <a:ext cx="6468055"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One build, one flag</a:t>
            </a:r>
            <a:endParaRPr lang="en-US" sz="2400" dirty="0"/>
          </a:p>
        </p:txBody>
      </p:sp>
      <p:sp>
        <p:nvSpPr>
          <p:cNvPr id="7" name="Text 5"/>
          <p:cNvSpPr/>
          <p:nvPr/>
        </p:nvSpPr>
        <p:spPr>
          <a:xfrm>
            <a:off x="1508820" y="3919017"/>
            <a:ext cx="6468055" cy="392906"/>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Courier New" pitchFamily="34" charset="0"/>
                <a:ea typeface="Courier New" pitchFamily="34" charset="-122"/>
                <a:cs typeface="Courier New" pitchFamily="34" charset="-120"/>
              </a:rPr>
              <a:t>vulnerable </a:t>
            </a:r>
            <a:r>
              <a:rPr lang="en-US" sz="1875" dirty="0">
                <a:solidFill>
                  <a:srgbClr val="969696"/>
                </a:solidFill>
                <a:latin typeface="Arial" pitchFamily="34" charset="0"/>
                <a:ea typeface="Arial" pitchFamily="34" charset="-122"/>
                <a:cs typeface="Arial" pitchFamily="34" charset="-120"/>
              </a:rPr>
              <a:t>↔ </a:t>
            </a:r>
            <a:r>
              <a:rPr lang="en-US" sz="1875" dirty="0">
                <a:solidFill>
                  <a:srgbClr val="969696"/>
                </a:solidFill>
                <a:latin typeface="Courier New" pitchFamily="34" charset="0"/>
                <a:ea typeface="Courier New" pitchFamily="34" charset="-122"/>
                <a:cs typeface="Courier New" pitchFamily="34" charset="-120"/>
              </a:rPr>
              <a:t>secure</a:t>
            </a:r>
            <a:r>
              <a:rPr lang="en-US" sz="1875" dirty="0">
                <a:solidFill>
                  <a:srgbClr val="969696"/>
                </a:solidFill>
                <a:latin typeface="Arial" pitchFamily="34" charset="0"/>
                <a:ea typeface="Arial" pitchFamily="34" charset="-122"/>
                <a:cs typeface="Arial" pitchFamily="34" charset="-120"/>
              </a:rPr>
              <a:t>. Same codebase, flags flipped.</a:t>
            </a:r>
            <a:endParaRPr lang="en-US" sz="1875" dirty="0"/>
          </a:p>
        </p:txBody>
      </p:sp>
      <p:sp>
        <p:nvSpPr>
          <p:cNvPr id="8" name="Shape 6"/>
          <p:cNvSpPr/>
          <p:nvPr/>
        </p:nvSpPr>
        <p:spPr>
          <a:xfrm>
            <a:off x="990600" y="4521473"/>
            <a:ext cx="16306800" cy="19050"/>
          </a:xfrm>
          <a:prstGeom prst="rect">
            <a:avLst/>
          </a:prstGeom>
          <a:solidFill>
            <a:srgbClr val="FFFFFF">
              <a:alpha val="16000"/>
            </a:srgbClr>
          </a:solidFill>
          <a:ln/>
        </p:spPr>
        <p:txBody>
          <a:bodyPr/>
          <a:lstStyle/>
          <a:p>
            <a:endParaRPr lang="en-US"/>
          </a:p>
        </p:txBody>
      </p:sp>
      <p:sp>
        <p:nvSpPr>
          <p:cNvPr id="9" name="Text 7"/>
          <p:cNvSpPr/>
          <p:nvPr/>
        </p:nvSpPr>
        <p:spPr>
          <a:xfrm>
            <a:off x="990600" y="4826273"/>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4750073"/>
            <a:ext cx="4462269"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Reset any module, any time</a:t>
            </a:r>
            <a:endParaRPr lang="en-US" sz="2400" dirty="0"/>
          </a:p>
        </p:txBody>
      </p:sp>
      <p:sp>
        <p:nvSpPr>
          <p:cNvPr id="11" name="Text 9"/>
          <p:cNvSpPr/>
          <p:nvPr/>
        </p:nvSpPr>
        <p:spPr>
          <a:xfrm>
            <a:off x="1508820" y="5207273"/>
            <a:ext cx="4462269"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Break something? Reset it. No penalty.</a:t>
            </a:r>
            <a:endParaRPr lang="en-US" sz="1875" dirty="0"/>
          </a:p>
        </p:txBody>
      </p:sp>
      <p:sp>
        <p:nvSpPr>
          <p:cNvPr id="12" name="Shape 10"/>
          <p:cNvSpPr/>
          <p:nvPr/>
        </p:nvSpPr>
        <p:spPr>
          <a:xfrm>
            <a:off x="990600" y="5800204"/>
            <a:ext cx="16306800" cy="19050"/>
          </a:xfrm>
          <a:prstGeom prst="rect">
            <a:avLst/>
          </a:prstGeom>
          <a:solidFill>
            <a:srgbClr val="FFFFFF">
              <a:alpha val="16000"/>
            </a:srgbClr>
          </a:solidFill>
          <a:ln/>
        </p:spPr>
        <p:txBody>
          <a:bodyPr/>
          <a:lstStyle/>
          <a:p>
            <a:endParaRPr lang="en-US"/>
          </a:p>
        </p:txBody>
      </p:sp>
      <p:sp>
        <p:nvSpPr>
          <p:cNvPr id="13" name="Text 11"/>
          <p:cNvSpPr/>
          <p:nvPr/>
        </p:nvSpPr>
        <p:spPr>
          <a:xfrm>
            <a:off x="990600" y="6105004"/>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028804"/>
            <a:ext cx="6335613"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Core for everyone, stretch for fast finishers</a:t>
            </a:r>
            <a:endParaRPr lang="en-US" sz="2400" dirty="0"/>
          </a:p>
        </p:txBody>
      </p:sp>
      <p:sp>
        <p:nvSpPr>
          <p:cNvPr id="15" name="Text 13"/>
          <p:cNvSpPr/>
          <p:nvPr/>
        </p:nvSpPr>
        <p:spPr>
          <a:xfrm>
            <a:off x="1508820" y="6486004"/>
            <a:ext cx="6335613"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No difficulty ladder — a floor and a ceiling.</a:t>
            </a:r>
            <a:endParaRPr lang="en-US" sz="1875" dirty="0"/>
          </a:p>
        </p:txBody>
      </p:sp>
      <p:sp>
        <p:nvSpPr>
          <p:cNvPr id="16" name="Shape 14"/>
          <p:cNvSpPr/>
          <p:nvPr/>
        </p:nvSpPr>
        <p:spPr>
          <a:xfrm>
            <a:off x="990600" y="7078935"/>
            <a:ext cx="16306800" cy="19050"/>
          </a:xfrm>
          <a:prstGeom prst="rect">
            <a:avLst/>
          </a:prstGeom>
          <a:solidFill>
            <a:srgbClr val="FFFFFF">
              <a:alpha val="16000"/>
            </a:srgbClr>
          </a:solidFill>
          <a:ln/>
        </p:spPr>
        <p:txBody>
          <a:bodyPr/>
          <a:lstStyle/>
          <a:p>
            <a:endParaRPr lang="en-US"/>
          </a:p>
        </p:txBody>
      </p:sp>
      <p:sp>
        <p:nvSpPr>
          <p:cNvPr id="17" name="Text 15"/>
          <p:cNvSpPr/>
          <p:nvPr/>
        </p:nvSpPr>
        <p:spPr>
          <a:xfrm>
            <a:off x="990600" y="7383735"/>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04</a:t>
            </a:r>
            <a:endParaRPr lang="en-US" sz="1650" dirty="0"/>
          </a:p>
        </p:txBody>
      </p:sp>
      <p:sp>
        <p:nvSpPr>
          <p:cNvPr id="18" name="Text 16"/>
          <p:cNvSpPr/>
          <p:nvPr/>
        </p:nvSpPr>
        <p:spPr>
          <a:xfrm>
            <a:off x="1508820" y="7307535"/>
            <a:ext cx="9516599"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Day 1 keyless, Day 2 your own key</a:t>
            </a:r>
            <a:endParaRPr lang="en-US" sz="2400" dirty="0"/>
          </a:p>
        </p:txBody>
      </p:sp>
      <p:sp>
        <p:nvSpPr>
          <p:cNvPr id="19" name="Text 17"/>
          <p:cNvSpPr/>
          <p:nvPr/>
        </p:nvSpPr>
        <p:spPr>
          <a:xfrm>
            <a:off x="1508820" y="7764735"/>
            <a:ext cx="9516599"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Both days run in your browser against our hosted target. Nothing to install but Burp.</a:t>
            </a:r>
            <a:endParaRPr lang="en-US" sz="1875" dirty="0"/>
          </a:p>
        </p:txBody>
      </p:sp>
      <p:pic>
        <p:nvPicPr>
          <p:cNvPr id="20"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1" name="Text 18"/>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FD7EF5"/>
          </a:solidFill>
          <a:ln/>
        </p:spPr>
        <p:txBody>
          <a:bodyPr/>
          <a:lstStyle/>
          <a:p>
            <a:endParaRPr lang="en-US"/>
          </a:p>
        </p:txBody>
      </p:sp>
      <p:sp>
        <p:nvSpPr>
          <p:cNvPr id="3" name="Text 1"/>
          <p:cNvSpPr/>
          <p:nvPr/>
        </p:nvSpPr>
        <p:spPr>
          <a:xfrm>
            <a:off x="990600" y="3340447"/>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FD7EF5"/>
                </a:solidFill>
                <a:latin typeface="Courier New" pitchFamily="34" charset="0"/>
                <a:ea typeface="Courier New" pitchFamily="34" charset="-122"/>
                <a:cs typeface="Courier New" pitchFamily="34" charset="-120"/>
              </a:rPr>
              <a:t>▶ DEMO / DO IT</a:t>
            </a:r>
            <a:endParaRPr lang="en-US" sz="1950" dirty="0"/>
          </a:p>
        </p:txBody>
      </p:sp>
      <p:sp>
        <p:nvSpPr>
          <p:cNvPr id="4" name="Text 2"/>
          <p:cNvSpPr/>
          <p:nvPr/>
        </p:nvSpPr>
        <p:spPr>
          <a:xfrm>
            <a:off x="990600" y="3954810"/>
            <a:ext cx="17937480" cy="1600200"/>
          </a:xfrm>
          <a:prstGeom prst="rect">
            <a:avLst/>
          </a:prstGeom>
          <a:noFill/>
          <a:ln/>
        </p:spPr>
        <p:txBody>
          <a:bodyPr wrap="square" lIns="25400" tIns="25400" rIns="25400" bIns="25400" rtlCol="0" anchor="t">
            <a:normAutofit/>
          </a:bodyPr>
          <a:lstStyle/>
          <a:p>
            <a:pPr marL="0" indent="0" algn="l">
              <a:lnSpc>
                <a:spcPct val="71304"/>
              </a:lnSpc>
              <a:buNone/>
            </a:pPr>
            <a:r>
              <a:rPr lang="en-US" sz="15000" b="1" dirty="0">
                <a:solidFill>
                  <a:srgbClr val="FFFFFF"/>
                </a:solidFill>
                <a:latin typeface="Arial" pitchFamily="34" charset="0"/>
                <a:ea typeface="Arial" pitchFamily="34" charset="-122"/>
                <a:cs typeface="Arial" pitchFamily="34" charset="-120"/>
              </a:rPr>
              <a:t>GET GREEN</a:t>
            </a:r>
            <a:endParaRPr lang="en-US" sz="15000" dirty="0"/>
          </a:p>
        </p:txBody>
      </p:sp>
      <p:sp>
        <p:nvSpPr>
          <p:cNvPr id="5" name="Text 3"/>
          <p:cNvSpPr/>
          <p:nvPr/>
        </p:nvSpPr>
        <p:spPr>
          <a:xfrm>
            <a:off x="990600" y="5897910"/>
            <a:ext cx="15716250" cy="496193"/>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Arial" pitchFamily="34" charset="0"/>
                <a:ea typeface="Arial" pitchFamily="34" charset="-122"/>
                <a:cs typeface="Arial" pitchFamily="34" charset="-120"/>
              </a:rPr>
              <a:t>Reach-test: </a:t>
            </a:r>
            <a:r>
              <a:rPr lang="en-US" sz="2550" b="1" dirty="0">
                <a:solidFill>
                  <a:srgbClr val="FFFFFF"/>
                </a:solidFill>
                <a:latin typeface="Arial" pitchFamily="34" charset="0"/>
                <a:ea typeface="Arial" pitchFamily="34" charset="-122"/>
                <a:cs typeface="Arial" pitchFamily="34" charset="-120"/>
              </a:rPr>
              <a:t>reach the target · Burp proxy · (Day 2) key.</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36CDFF"/>
          </a:solidFill>
          <a:ln/>
        </p:spPr>
        <p:txBody>
          <a:bodyPr/>
          <a:lstStyle/>
          <a:p>
            <a:endParaRPr lang="en-US"/>
          </a:p>
        </p:txBody>
      </p:sp>
      <p:sp>
        <p:nvSpPr>
          <p:cNvPr id="3" name="Text 1"/>
          <p:cNvSpPr/>
          <p:nvPr/>
        </p:nvSpPr>
        <p:spPr>
          <a:xfrm>
            <a:off x="990600" y="3264694"/>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36CDFF"/>
                </a:solidFill>
                <a:latin typeface="Courier New" pitchFamily="34" charset="0"/>
                <a:ea typeface="Courier New" pitchFamily="34" charset="-122"/>
                <a:cs typeface="Courier New" pitchFamily="34" charset="-120"/>
              </a:rPr>
              <a:t>▶ DEMO / WARM UP</a:t>
            </a:r>
            <a:endParaRPr lang="en-US" sz="1950" dirty="0"/>
          </a:p>
        </p:txBody>
      </p:sp>
      <p:sp>
        <p:nvSpPr>
          <p:cNvPr id="4" name="Text 2"/>
          <p:cNvSpPr/>
          <p:nvPr/>
        </p:nvSpPr>
        <p:spPr>
          <a:xfrm>
            <a:off x="990600" y="3879056"/>
            <a:ext cx="17937480" cy="1756395"/>
          </a:xfrm>
          <a:prstGeom prst="rect">
            <a:avLst/>
          </a:prstGeom>
          <a:noFill/>
          <a:ln/>
        </p:spPr>
        <p:txBody>
          <a:bodyPr wrap="square" lIns="25400" tIns="25400" rIns="25400" bIns="25400" rtlCol="0" anchor="t">
            <a:normAutofit/>
          </a:bodyPr>
          <a:lstStyle/>
          <a:p>
            <a:pPr marL="0" indent="0" algn="l">
              <a:lnSpc>
                <a:spcPct val="71446"/>
              </a:lnSpc>
              <a:buNone/>
            </a:pPr>
            <a:r>
              <a:rPr lang="en-US" sz="16500" b="1" dirty="0">
                <a:solidFill>
                  <a:srgbClr val="FFFFFF"/>
                </a:solidFill>
                <a:latin typeface="Arial" pitchFamily="34" charset="0"/>
                <a:ea typeface="Arial" pitchFamily="34" charset="-122"/>
                <a:cs typeface="Arial" pitchFamily="34" charset="-120"/>
              </a:rPr>
              <a:t>GANDALF</a:t>
            </a:r>
            <a:endParaRPr lang="en-US" sz="16500" dirty="0"/>
          </a:p>
        </p:txBody>
      </p:sp>
      <p:sp>
        <p:nvSpPr>
          <p:cNvPr id="5" name="Text 3"/>
          <p:cNvSpPr/>
          <p:nvPr/>
        </p:nvSpPr>
        <p:spPr>
          <a:xfrm>
            <a:off x="990600" y="5978351"/>
            <a:ext cx="15716250" cy="491430"/>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Arial" pitchFamily="34" charset="0"/>
                <a:ea typeface="Arial" pitchFamily="34" charset="-122"/>
                <a:cs typeface="Arial" pitchFamily="34" charset="-120"/>
              </a:rPr>
              <a:t>Talk a chatbot out of a secret it was told to protect.</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3181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ONE IDEA TO CARRY ALL WEEK</a:t>
            </a:r>
            <a:endParaRPr lang="en-US" sz="1650" dirty="0"/>
          </a:p>
        </p:txBody>
      </p:sp>
      <p:sp>
        <p:nvSpPr>
          <p:cNvPr id="3" name="Text 1"/>
          <p:cNvSpPr/>
          <p:nvPr/>
        </p:nvSpPr>
        <p:spPr>
          <a:xfrm>
            <a:off x="990600" y="3350940"/>
            <a:ext cx="16796004" cy="2404021"/>
          </a:xfrm>
          <a:prstGeom prst="rect">
            <a:avLst/>
          </a:prstGeom>
          <a:noFill/>
          <a:ln/>
        </p:spPr>
        <p:txBody>
          <a:bodyPr wrap="square" lIns="25400" tIns="25400" rIns="25400" bIns="25400" rtlCol="0" anchor="t">
            <a:normAutofit/>
          </a:bodyPr>
          <a:lstStyle/>
          <a:p>
            <a:pPr marL="0" indent="0" algn="l">
              <a:lnSpc>
                <a:spcPct val="78113"/>
              </a:lnSpc>
              <a:buNone/>
            </a:pPr>
            <a:r>
              <a:rPr lang="en-US" sz="6900" dirty="0">
                <a:solidFill>
                  <a:srgbClr val="FFFFFF"/>
                </a:solidFill>
                <a:latin typeface="Arial" pitchFamily="34" charset="0"/>
                <a:ea typeface="Arial" pitchFamily="34" charset="-122"/>
                <a:cs typeface="Arial" pitchFamily="34" charset="-120"/>
              </a:rPr>
              <a:t>YOU’RE NOT PROMPTING. YOU’RE SUPPLYING </a:t>
            </a:r>
            <a:r>
              <a:rPr lang="en-US" sz="6900" dirty="0">
                <a:solidFill>
                  <a:srgbClr val="FD7EF5"/>
                </a:solidFill>
                <a:latin typeface="Arial" pitchFamily="34" charset="0"/>
                <a:ea typeface="Arial" pitchFamily="34" charset="-122"/>
                <a:cs typeface="Arial" pitchFamily="34" charset="-120"/>
              </a:rPr>
              <a:t>UNTRUSTED INPUT THAT BECOMES INSTRUCTIONS.</a:t>
            </a:r>
            <a:endParaRPr lang="en-US" sz="6900" dirty="0"/>
          </a:p>
        </p:txBody>
      </p:sp>
      <p:sp>
        <p:nvSpPr>
          <p:cNvPr id="4" name="Text 2"/>
          <p:cNvSpPr/>
          <p:nvPr/>
        </p:nvSpPr>
        <p:spPr>
          <a:xfrm>
            <a:off x="990600" y="613596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Every layer we attack has a boundary where data crosses into instruction — the prompt, a retrieved doc, a tool description, another agent’s message. Find that boundary, own the system.</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7726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NEXT UP · M1</a:t>
            </a:r>
            <a:endParaRPr lang="en-US" sz="1500" dirty="0"/>
          </a:p>
        </p:txBody>
      </p:sp>
      <p:sp>
        <p:nvSpPr>
          <p:cNvPr id="3" name="Text 1"/>
          <p:cNvSpPr/>
          <p:nvPr/>
        </p:nvSpPr>
        <p:spPr>
          <a:xfrm>
            <a:off x="990600" y="3082082"/>
            <a:ext cx="16796004" cy="2438400"/>
          </a:xfrm>
          <a:prstGeom prst="rect">
            <a:avLst/>
          </a:prstGeom>
          <a:noFill/>
          <a:ln/>
        </p:spPr>
        <p:txBody>
          <a:bodyPr wrap="square" lIns="25400" tIns="25400" rIns="25400" bIns="25400" rtlCol="0" anchor="t">
            <a:normAutofit/>
          </a:bodyPr>
          <a:lstStyle/>
          <a:p>
            <a:pPr marL="0" indent="0" algn="l">
              <a:lnSpc>
                <a:spcPct val="72832"/>
              </a:lnSpc>
              <a:buNone/>
            </a:pPr>
            <a:r>
              <a:rPr lang="en-US" sz="11250" dirty="0">
                <a:solidFill>
                  <a:srgbClr val="FFFFFF"/>
                </a:solidFill>
                <a:latin typeface="Arial" pitchFamily="34" charset="0"/>
                <a:ea typeface="Arial" pitchFamily="34" charset="-122"/>
                <a:cs typeface="Arial" pitchFamily="34" charset="-120"/>
              </a:rPr>
              <a:t>PROMPT INJECTION</a:t>
            </a:r>
            <a:endParaRPr lang="en-US" sz="11250" dirty="0"/>
          </a:p>
        </p:txBody>
      </p:sp>
      <p:sp>
        <p:nvSpPr>
          <p:cNvPr id="4" name="Text 2"/>
          <p:cNvSpPr/>
          <p:nvPr/>
        </p:nvSpPr>
        <p:spPr>
          <a:xfrm>
            <a:off x="990600" y="5901482"/>
            <a:ext cx="17287875" cy="507653"/>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The flat surface. The crown jewel.</a:t>
            </a:r>
            <a:endParaRPr lang="en-US" sz="2550" dirty="0"/>
          </a:p>
        </p:txBody>
      </p:sp>
      <p:sp>
        <p:nvSpPr>
          <p:cNvPr id="5" name="Text 3"/>
          <p:cNvSpPr/>
          <p:nvPr/>
        </p:nvSpPr>
        <p:spPr>
          <a:xfrm>
            <a:off x="990600" y="6618684"/>
            <a:ext cx="17287875" cy="438596"/>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C8C8C8"/>
                </a:solidFill>
                <a:latin typeface="Arial" pitchFamily="34" charset="0"/>
                <a:ea typeface="Arial" pitchFamily="34" charset="-122"/>
                <a:cs typeface="Arial" pitchFamily="34" charset="-120"/>
              </a:rPr>
              <a:t>We start where the attacker’s input meets the model directly — extract a secret Iggy was explicitly told to guard.</a:t>
            </a:r>
            <a:endParaRPr lang="en-US" sz="2175"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3423329" y="9498806"/>
            <a:ext cx="4261478"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M0 · THREAT MODEL + RANGE CHECK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18011"/>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M0 COMPLETE</a:t>
            </a:r>
            <a:endParaRPr lang="en-US" sz="1650" dirty="0"/>
          </a:p>
        </p:txBody>
      </p:sp>
      <p:sp>
        <p:nvSpPr>
          <p:cNvPr id="3" name="Text 1"/>
          <p:cNvSpPr/>
          <p:nvPr/>
        </p:nvSpPr>
        <p:spPr>
          <a:xfrm>
            <a:off x="990600" y="3579986"/>
            <a:ext cx="17937480" cy="2324100"/>
          </a:xfrm>
          <a:prstGeom prst="rect">
            <a:avLst/>
          </a:prstGeom>
          <a:noFill/>
          <a:ln/>
        </p:spPr>
        <p:txBody>
          <a:bodyPr wrap="square" lIns="25400" tIns="25400" rIns="25400" bIns="25400" rtlCol="0" anchor="t">
            <a:normAutofit/>
          </a:bodyPr>
          <a:lstStyle/>
          <a:p>
            <a:pPr marL="0" indent="0" algn="l">
              <a:lnSpc>
                <a:spcPct val="69565"/>
              </a:lnSpc>
              <a:buNone/>
            </a:pPr>
            <a:r>
              <a:rPr lang="en-US" sz="22500" b="1" dirty="0">
                <a:solidFill>
                  <a:srgbClr val="FFFFFF"/>
                </a:solidFill>
                <a:latin typeface="Arial" pitchFamily="34" charset="0"/>
                <a:ea typeface="Arial" pitchFamily="34" charset="-122"/>
                <a:cs typeface="Arial" pitchFamily="34" charset="-120"/>
              </a:rPr>
              <a:t>M0</a:t>
            </a:r>
            <a:r>
              <a:rPr lang="en-US" sz="22500" b="1" dirty="0">
                <a:solidFill>
                  <a:srgbClr val="FD7EF5"/>
                </a:solidFill>
                <a:latin typeface="Arial" pitchFamily="34" charset="0"/>
                <a:ea typeface="Arial" pitchFamily="34" charset="-122"/>
                <a:cs typeface="Arial" pitchFamily="34" charset="-120"/>
              </a:rPr>
              <a:t>.</a:t>
            </a:r>
            <a:endParaRPr lang="en-US" sz="22500" dirty="0"/>
          </a:p>
        </p:txBody>
      </p:sp>
      <p:sp>
        <p:nvSpPr>
          <p:cNvPr id="4" name="Text 2"/>
          <p:cNvSpPr/>
          <p:nvPr/>
        </p:nvSpPr>
        <p:spPr>
          <a:xfrm>
            <a:off x="990600" y="6208886"/>
            <a:ext cx="15716250" cy="507653"/>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C8C8C8"/>
                </a:solidFill>
                <a:latin typeface="Arial" pitchFamily="34" charset="0"/>
                <a:ea typeface="Arial" pitchFamily="34" charset="-122"/>
                <a:cs typeface="Arial" pitchFamily="34" charset="-120"/>
              </a:rPr>
              <a:t>Everyone green. Map installed. Let’s break something.</a:t>
            </a:r>
            <a:endParaRPr lang="en-US" sz="2550" dirty="0"/>
          </a:p>
        </p:txBody>
      </p:sp>
      <p:pic>
        <p:nvPicPr>
          <p:cNvPr id="5" name="Image 0" descr="preencoded.png"/>
          <p:cNvPicPr>
            <a:picLocks noChangeAspect="1"/>
          </p:cNvPicPr>
          <p:nvPr/>
        </p:nvPicPr>
        <p:blipFill>
          <a:blip r:embed="rId3"/>
          <a:stretch>
            <a:fillRect/>
          </a:stretch>
        </p:blipFill>
        <p:spPr>
          <a:xfrm>
            <a:off x="990600" y="9315450"/>
            <a:ext cx="1666875" cy="476250"/>
          </a:xfrm>
          <a:prstGeom prst="rect">
            <a:avLst/>
          </a:prstGeom>
        </p:spPr>
      </p:pic>
      <p:sp>
        <p:nvSpPr>
          <p:cNvPr id="6" name="Text 3"/>
          <p:cNvSpPr/>
          <p:nvPr/>
        </p:nvSpPr>
        <p:spPr>
          <a:xfrm>
            <a:off x="14797980" y="9451181"/>
            <a:ext cx="2749361"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USA 2026 · TRAININGS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1201</Words>
  <Application>Microsoft Macintosh PowerPoint</Application>
  <PresentationFormat>Custom</PresentationFormat>
  <Paragraphs>134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KK Mookhey</cp:lastModifiedBy>
  <cp:revision>2</cp:revision>
  <dcterms:created xsi:type="dcterms:W3CDTF">2026-07-31T03:55:11Z</dcterms:created>
  <dcterms:modified xsi:type="dcterms:W3CDTF">2026-07-31T19:34:57Z</dcterms:modified>
</cp:coreProperties>
</file>