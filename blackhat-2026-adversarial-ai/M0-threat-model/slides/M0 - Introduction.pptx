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Black Hat title slide. Welcome them. Two days, one target, hands-on. Set the tone: you will spend most of this course with your hands on a keyboard attacking a live system, not watching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This first hour does three things: get everyone connected and green, install the mental model for the whole course, and warm up on a hosted target while stragglers finish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rhythm for all 8 modules. The diff between vulnerable and secure IS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reframe. People come in thinking prompt injection is the topic. Real systems are a chain of components, each trusting the last. We attack the chain,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map, not two: the same six words drive the Halo table next. We do not teach OWASP as a checklist. We walk the chain and the vulnerabilities appear where they actually occur. Mirrors a real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company for two days. Because it is a bank, every exploit has concrete impact. Not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assistant, more surface each time. Layer names match the spine slide exactly. Build this table one row per module as the course progresses. Do not dwell — they will live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and reassuring. We never grade on the model’s words. Every objective is validated by a mechanism query. This is why the labs are reliable and 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difficulty ladder — a floor and a ceiling. Day 1 is keyless on a shared model we host. Day 2 uses your own API key. Aside: the flag model is granular under the hood, a couple of modules flip more than one, but vulnerable to secure is the mental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runs the reach-test now: it confirms you can reach Halcyon, your browser routes through Burp with the cert trusted, and your key is valid. Green in about 60 seconds. This is where we catch proxy and cert problems. Anyone red, flag it — we fix it while the rest warm up on Gandalf.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them to gandalf.lakera.ai — browser only, no setup. Levels 1 to 3 as a group. Zero-stakes first taste of prompt injection, and it gives stragglers cover to finish their Burp setup. Foreshadows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to carry all week. Find the boundary where data crosses into instruction, own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We start where the attacker input meets the model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Black Hat end slide. Hand off to 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gradFill rotWithShape="1">
            <a:gsLst>
              <a:gs pos="0">
                <a:srgbClr val="FD7EF5">
                  <a:alpha val="100000"/>
                </a:srgbClr>
              </a:gs>
              <a:gs pos="50000">
                <a:srgbClr val="FD7EF5">
                  <a:alpha val="100000"/>
                </a:srgbClr>
              </a:gs>
              <a:gs pos="50000">
                <a:srgbClr val="36CDFF">
                  <a:alpha val="100000"/>
                </a:srgbClr>
              </a:gs>
              <a:gs pos="100000">
                <a:srgbClr val="36CDFF">
                  <a:alpha val="100000"/>
                </a:srgbClr>
              </a:gs>
            </a:gsLst>
            <a:lin ang="0" scaled="0"/>
          </a:gradFill>
          <a:ln/>
        </p:spPr>
      </p:sp>
      <p:pic>
        <p:nvPicPr>
          <p:cNvPr id="3" name="Image 0" descr="preencoded.png">    </p:cNvPr>
          <p:cNvPicPr>
            <a:picLocks noChangeAspect="1"/>
          </p:cNvPicPr>
          <p:nvPr/>
        </p:nvPicPr>
        <p:blipFill>
          <a:blip r:embed="rId1"/>
          <a:stretch>
            <a:fillRect/>
          </a:stretch>
        </p:blipFill>
        <p:spPr>
          <a:xfrm>
            <a:off x="990600" y="762000"/>
            <a:ext cx="5005164" cy="1066800"/>
          </a:xfrm>
          <a:prstGeom prst="rect">
            <a:avLst/>
          </a:prstGeom>
        </p:spPr>
      </p:pic>
      <p:sp>
        <p:nvSpPr>
          <p:cNvPr id="4" name="Text 1"/>
          <p:cNvSpPr/>
          <p:nvPr/>
        </p:nvSpPr>
        <p:spPr>
          <a:xfrm>
            <a:off x="990600" y="3337620"/>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BLACK HAT USA 2026 · KK MOOKHEY</a:t>
            </a:r>
            <a:endParaRPr lang="en-US" sz="1650" dirty="0"/>
          </a:p>
        </p:txBody>
      </p:sp>
      <p:sp>
        <p:nvSpPr>
          <p:cNvPr id="5" name="Text 2"/>
          <p:cNvSpPr/>
          <p:nvPr/>
        </p:nvSpPr>
        <p:spPr>
          <a:xfrm>
            <a:off x="990600" y="3880545"/>
            <a:ext cx="16796004" cy="2725936"/>
          </a:xfrm>
          <a:prstGeom prst="rect">
            <a:avLst/>
          </a:prstGeom>
          <a:noFill/>
          <a:ln/>
        </p:spPr>
        <p:txBody>
          <a:bodyPr wrap="square" lIns="25400" tIns="25400" rIns="25400" bIns="25400" rtlCol="0" anchor="t">
            <a:normAutofit/>
          </a:bodyPr>
          <a:lstStyle/>
          <a:p>
            <a:pPr algn="l" indent="0" marL="0">
              <a:lnSpc>
                <a:spcPct val="72174"/>
              </a:lnSpc>
              <a:buNone/>
            </a:pPr>
            <a:r>
              <a:rPr lang="en-US" sz="12750" b="1" spc="127" kern="0" dirty="0">
                <a:solidFill>
                  <a:srgbClr val="FFFFFF"/>
                </a:solidFill>
                <a:latin typeface="Arial" pitchFamily="34" charset="0"/>
                <a:ea typeface="Arial" pitchFamily="34" charset="-122"/>
                <a:cs typeface="Arial" pitchFamily="34" charset="-120"/>
              </a:rPr>
              <a:t>ADVERSARIAL </a:t>
            </a:r>
            <a:pPr algn="l" indent="0" marL="0">
              <a:lnSpc>
                <a:spcPct val="72174"/>
              </a:lnSpc>
              <a:buNone/>
            </a:pPr>
            <a:r>
              <a:rPr lang="en-US" sz="12750" b="1" spc="127" kern="0" dirty="0">
                <a:solidFill>
                  <a:srgbClr val="FD7EF5"/>
                </a:solidFill>
                <a:latin typeface="Arial" pitchFamily="34" charset="0"/>
                <a:ea typeface="Arial" pitchFamily="34" charset="-122"/>
                <a:cs typeface="Arial" pitchFamily="34" charset="-120"/>
              </a:rPr>
              <a:t>AI</a:t>
            </a:r>
            <a:endParaRPr lang="en-US" sz="12750" dirty="0"/>
          </a:p>
        </p:txBody>
      </p:sp>
      <p:sp>
        <p:nvSpPr>
          <p:cNvPr id="6" name="Text 3"/>
          <p:cNvSpPr/>
          <p:nvPr/>
        </p:nvSpPr>
        <p:spPr>
          <a:xfrm>
            <a:off x="990600" y="6892230"/>
            <a:ext cx="14668500" cy="438150"/>
          </a:xfrm>
          <a:prstGeom prst="rect">
            <a:avLst/>
          </a:prstGeom>
          <a:noFill/>
          <a:ln/>
        </p:spPr>
        <p:txBody>
          <a:bodyPr wrap="square" lIns="25400" tIns="25400" rIns="25400" bIns="25400" rtlCol="0" anchor="t">
            <a:normAutofit/>
          </a:bodyPr>
          <a:lstStyle/>
          <a:p>
            <a:pPr algn="l" indent="0" marL="0">
              <a:lnSpc>
                <a:spcPct val="121739"/>
              </a:lnSpc>
              <a:buNone/>
            </a:pPr>
            <a:r>
              <a:rPr lang="en-US" sz="2250" dirty="0">
                <a:solidFill>
                  <a:srgbClr val="C8C8C8"/>
                </a:solidFill>
                <a:latin typeface="Arial" pitchFamily="34" charset="0"/>
                <a:ea typeface="Arial" pitchFamily="34" charset="-122"/>
                <a:cs typeface="Arial" pitchFamily="34" charset="-120"/>
              </a:rPr>
              <a:t>Red-Teaming the AI Supply Chain. Two days, one target, hands-on.</a:t>
            </a:r>
            <a:endParaRPr lang="en-US" sz="2250" dirty="0"/>
          </a:p>
        </p:txBody>
      </p:sp>
      <p:pic>
        <p:nvPicPr>
          <p:cNvPr id="7" name="Image 1" descr="preencoded.png">    </p:cNvPr>
          <p:cNvPicPr>
            <a:picLocks noChangeAspect="1"/>
          </p:cNvPicPr>
          <p:nvPr/>
        </p:nvPicPr>
        <p:blipFill>
          <a:blip r:embed="rId2"/>
          <a:stretch>
            <a:fillRect/>
          </a:stretch>
        </p:blipFill>
        <p:spPr>
          <a:xfrm>
            <a:off x="990600" y="9315450"/>
            <a:ext cx="1666875" cy="476250"/>
          </a:xfrm>
          <a:prstGeom prst="rect">
            <a:avLst/>
          </a:prstGeom>
        </p:spPr>
      </p:pic>
      <p:sp>
        <p:nvSpPr>
          <p:cNvPr id="8" name="Text 4"/>
          <p:cNvSpPr/>
          <p:nvPr/>
        </p:nvSpPr>
        <p:spPr>
          <a:xfrm>
            <a:off x="11373240" y="9241185"/>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FFFFFF"/>
                </a:solidFill>
                <a:latin typeface="Courier New" pitchFamily="34" charset="0"/>
                <a:ea typeface="Courier New" pitchFamily="34" charset="-122"/>
                <a:cs typeface="Courier New" pitchFamily="34" charset="-120"/>
              </a:rPr>
              <a:t>ADVERSARIAL AI · RED-TEAMING THE AI SUPPLY CHAIN</a:t>
            </a:r>
            <a:endParaRPr lang="en-US" sz="1275" dirty="0"/>
          </a:p>
        </p:txBody>
      </p:sp>
      <p:sp>
        <p:nvSpPr>
          <p:cNvPr id="9" name="Text 5"/>
          <p:cNvSpPr/>
          <p:nvPr/>
        </p:nvSpPr>
        <p:spPr>
          <a:xfrm>
            <a:off x="11373240" y="9516442"/>
            <a:ext cx="5924160" cy="313358"/>
          </a:xfrm>
          <a:prstGeom prst="rect">
            <a:avLst/>
          </a:prstGeom>
          <a:noFill/>
          <a:ln/>
        </p:spPr>
        <p:txBody>
          <a:bodyPr wrap="square" lIns="25400" tIns="25400" rIns="25400" bIns="25400" rtlCol="0" anchor="t">
            <a:normAutofit/>
          </a:bodyPr>
          <a:lstStyle/>
          <a:p>
            <a:pPr algn="r" indent="0" marL="0">
              <a:lnSpc>
                <a:spcPct val="152105"/>
              </a:lnSpc>
              <a:buNone/>
            </a:pPr>
            <a:r>
              <a:rPr lang="en-US" sz="1275" spc="179" kern="0" dirty="0">
                <a:solidFill>
                  <a:srgbClr val="969696"/>
                </a:solidFill>
                <a:latin typeface="Courier New" pitchFamily="34" charset="0"/>
                <a:ea typeface="Courier New" pitchFamily="34" charset="-122"/>
                <a:cs typeface="Courier New" pitchFamily="34" charset="-120"/>
              </a:rPr>
              <a:t>DAY 1 · MODULE M0</a:t>
            </a:r>
            <a:endParaRPr lang="en-US" sz="12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36CDFF"/>
          </a:solidFill>
          <a:ln/>
        </p:spPr>
      </p:sp>
      <p:sp>
        <p:nvSpPr>
          <p:cNvPr id="3" name="Text 1"/>
          <p:cNvSpPr/>
          <p:nvPr/>
        </p:nvSpPr>
        <p:spPr>
          <a:xfrm>
            <a:off x="990600" y="3186633"/>
            <a:ext cx="17937480" cy="366713"/>
          </a:xfrm>
          <a:prstGeom prst="rect">
            <a:avLst/>
          </a:prstGeom>
          <a:noFill/>
          <a:ln/>
        </p:spPr>
        <p:txBody>
          <a:bodyPr wrap="square" lIns="25400" tIns="25400" rIns="25400" bIns="25400" rtlCol="0" anchor="t">
            <a:normAutofit/>
          </a:bodyPr>
          <a:lstStyle/>
          <a:p>
            <a:pPr algn="l" indent="0" marL="0">
              <a:buNone/>
            </a:pPr>
            <a:r>
              <a:rPr lang="en-US" sz="1950" spc="663" kern="0" dirty="0">
                <a:solidFill>
                  <a:srgbClr val="36CDFF"/>
                </a:solidFill>
                <a:latin typeface="Courier New" pitchFamily="34" charset="0"/>
                <a:ea typeface="Courier New" pitchFamily="34" charset="-122"/>
                <a:cs typeface="Courier New" pitchFamily="34" charset="-120"/>
              </a:rPr>
              <a:t>MODULE M0</a:t>
            </a:r>
            <a:endParaRPr lang="en-US" sz="1950" dirty="0"/>
          </a:p>
        </p:txBody>
      </p:sp>
      <p:sp>
        <p:nvSpPr>
          <p:cNvPr id="4" name="Text 2"/>
          <p:cNvSpPr/>
          <p:nvPr/>
        </p:nvSpPr>
        <p:spPr>
          <a:xfrm>
            <a:off x="990600" y="3800996"/>
            <a:ext cx="16796004" cy="1912590"/>
          </a:xfrm>
          <a:prstGeom prst="rect">
            <a:avLst/>
          </a:prstGeom>
          <a:noFill/>
          <a:ln/>
        </p:spPr>
        <p:txBody>
          <a:bodyPr wrap="square" lIns="25400" tIns="25400" rIns="25400" bIns="25400" rtlCol="0" anchor="t">
            <a:normAutofit/>
          </a:bodyPr>
          <a:lstStyle/>
          <a:p>
            <a:pPr algn="l" indent="0" marL="0">
              <a:lnSpc>
                <a:spcPct val="71304"/>
              </a:lnSpc>
              <a:buNone/>
            </a:pPr>
            <a:r>
              <a:rPr lang="en-US" sz="9000" b="1" dirty="0">
                <a:solidFill>
                  <a:srgbClr val="FFFFFF"/>
                </a:solidFill>
                <a:latin typeface="Arial" pitchFamily="34" charset="0"/>
                <a:ea typeface="Arial" pitchFamily="34" charset="-122"/>
                <a:cs typeface="Arial" pitchFamily="34" charset="-120"/>
              </a:rPr>
              <a:t>THREAT MODEL + RANGE CHECK</a:t>
            </a:r>
            <a:endParaRPr lang="en-US" sz="9000" dirty="0"/>
          </a:p>
        </p:txBody>
      </p:sp>
      <p:sp>
        <p:nvSpPr>
          <p:cNvPr id="5" name="Text 3"/>
          <p:cNvSpPr/>
          <p:nvPr/>
        </p:nvSpPr>
        <p:spPr>
          <a:xfrm>
            <a:off x="990600" y="6056486"/>
            <a:ext cx="15716250" cy="491430"/>
          </a:xfrm>
          <a:prstGeom prst="rect">
            <a:avLst/>
          </a:prstGeom>
          <a:noFill/>
          <a:ln/>
        </p:spPr>
        <p:txBody>
          <a:bodyPr wrap="square" lIns="25400" tIns="25400" rIns="25400" bIns="25400" rtlCol="0" anchor="t">
            <a:normAutofit/>
          </a:bodyPr>
          <a:lstStyle/>
          <a:p>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Get everyone green, install the mental model, warm up on a hosted target.</a:t>
            </a:r>
            <a:endParaRPr lang="en-US" sz="2550" dirty="0"/>
          </a:p>
        </p:txBody>
      </p:sp>
      <p:pic>
        <p:nvPicPr>
          <p:cNvPr id="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7" name="Text 4"/>
          <p:cNvSpPr/>
          <p:nvPr/>
        </p:nvSpPr>
        <p:spPr>
          <a:xfrm>
            <a:off x="13423329" y="9498806"/>
            <a:ext cx="4261478"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M0 · THREAT MODEL + RANGE CHECK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114624"/>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RHYTHM OF EVERY MODULE</a:t>
            </a:r>
            <a:endParaRPr lang="en-US" sz="1500" dirty="0"/>
          </a:p>
        </p:txBody>
      </p:sp>
      <p:sp>
        <p:nvSpPr>
          <p:cNvPr id="3" name="Text 1"/>
          <p:cNvSpPr/>
          <p:nvPr/>
        </p:nvSpPr>
        <p:spPr>
          <a:xfrm>
            <a:off x="990600" y="2519437"/>
            <a:ext cx="16796004" cy="3158356"/>
          </a:xfrm>
          <a:prstGeom prst="rect">
            <a:avLst/>
          </a:prstGeom>
          <a:noFill/>
          <a:ln/>
        </p:spPr>
        <p:txBody>
          <a:bodyPr wrap="square" lIns="25400" tIns="25400" rIns="25400" bIns="25400" rtlCol="0" anchor="t">
            <a:normAutofit/>
          </a:bodyPr>
          <a:lstStyle/>
          <a:p>
            <a:pPr algn="l" indent="0" marL="0">
              <a:lnSpc>
                <a:spcPct val="73043"/>
              </a:lnSpc>
              <a:buNone/>
            </a:pPr>
            <a:r>
              <a:rPr lang="en-US" sz="9750" dirty="0">
                <a:solidFill>
                  <a:srgbClr val="FFFFFF"/>
                </a:solidFill>
                <a:latin typeface="Arial" pitchFamily="34" charset="0"/>
                <a:ea typeface="Arial" pitchFamily="34" charset="-122"/>
                <a:cs typeface="Arial" pitchFamily="34" charset="-120"/>
              </a:rPr>
              <a:t>BUILD → BREAK → SECURE</a:t>
            </a:r>
            <a:endParaRPr lang="en-US" sz="9750" dirty="0"/>
          </a:p>
        </p:txBody>
      </p:sp>
      <p:sp>
        <p:nvSpPr>
          <p:cNvPr id="4" name="Text 2"/>
          <p:cNvSpPr/>
          <p:nvPr/>
        </p:nvSpPr>
        <p:spPr>
          <a:xfrm>
            <a:off x="990600" y="6058793"/>
            <a:ext cx="17287875" cy="512415"/>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FFFFFF"/>
                </a:solidFill>
                <a:latin typeface="Arial" pitchFamily="34" charset="0"/>
                <a:ea typeface="Arial" pitchFamily="34" charset="-122"/>
                <a:cs typeface="Arial" pitchFamily="34" charset="-120"/>
              </a:rPr>
              <a:t>Two days. One target. Three verbs — </a:t>
            </a:r>
            <a:pPr algn="l" indent="0" marL="0">
              <a:lnSpc>
                <a:spcPct val="126410"/>
              </a:lnSpc>
              <a:buNone/>
            </a:pPr>
            <a:r>
              <a:rPr lang="en-US" sz="2550" b="1" dirty="0">
                <a:solidFill>
                  <a:srgbClr val="36CDFF"/>
                </a:solidFill>
                <a:latin typeface="Arial" pitchFamily="34" charset="0"/>
                <a:ea typeface="Arial" pitchFamily="34" charset="-122"/>
                <a:cs typeface="Arial" pitchFamily="34" charset="-120"/>
              </a:rPr>
              <a:t>every module.</a:t>
            </a:r>
            <a:endParaRPr lang="en-US" sz="2550" dirty="0"/>
          </a:p>
        </p:txBody>
      </p:sp>
      <p:sp>
        <p:nvSpPr>
          <p:cNvPr id="5" name="Text 3"/>
          <p:cNvSpPr/>
          <p:nvPr/>
        </p:nvSpPr>
        <p:spPr>
          <a:xfrm>
            <a:off x="990600" y="6780758"/>
            <a:ext cx="16187738" cy="839093"/>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Stand up a vulnerable layer, exploit it, then flip a single security flag and watch the exploit die. The diff between vulnerable and secure IS the lesson.</a:t>
            </a:r>
            <a:endParaRPr lang="en-US" sz="2175" dirty="0"/>
          </a:p>
        </p:txBody>
      </p:sp>
      <p:pic>
        <p:nvPicPr>
          <p:cNvPr id="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7" name="Text 4"/>
          <p:cNvSpPr/>
          <p:nvPr/>
        </p:nvSpPr>
        <p:spPr>
          <a:xfrm>
            <a:off x="13423329" y="9498806"/>
            <a:ext cx="4261478"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M0 · THREAT MODEL + RANGE CHECK</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23295"/>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CORE REFRAME</a:t>
            </a:r>
            <a:endParaRPr lang="en-US" sz="1650" dirty="0"/>
          </a:p>
        </p:txBody>
      </p:sp>
      <p:sp>
        <p:nvSpPr>
          <p:cNvPr id="3" name="Text 1"/>
          <p:cNvSpPr/>
          <p:nvPr/>
        </p:nvSpPr>
        <p:spPr>
          <a:xfrm>
            <a:off x="990600" y="3642420"/>
            <a:ext cx="16796004" cy="1821061"/>
          </a:xfrm>
          <a:prstGeom prst="rect">
            <a:avLst/>
          </a:prstGeom>
          <a:noFill/>
          <a:ln/>
        </p:spPr>
        <p:txBody>
          <a:bodyPr wrap="square" lIns="25400" tIns="25400" rIns="25400" bIns="25400" rtlCol="0" anchor="t">
            <a:normAutofit/>
          </a:bodyPr>
          <a:lstStyle/>
          <a:p>
            <a:pPr algn="l" indent="0" marL="0">
              <a:lnSpc>
                <a:spcPct val="78326"/>
              </a:lnSpc>
              <a:buNone/>
            </a:pPr>
            <a:r>
              <a:rPr lang="en-US" sz="7800" dirty="0">
                <a:solidFill>
                  <a:srgbClr val="FFFFFF"/>
                </a:solidFill>
                <a:latin typeface="Arial" pitchFamily="34" charset="0"/>
                <a:ea typeface="Arial" pitchFamily="34" charset="-122"/>
                <a:cs typeface="Arial" pitchFamily="34" charset="-120"/>
              </a:rPr>
              <a:t>AI ISN’T ONE THING YOU ATTACK. IT’S A </a:t>
            </a:r>
            <a:pPr algn="l" indent="0" marL="0">
              <a:lnSpc>
                <a:spcPct val="78326"/>
              </a:lnSpc>
              <a:buNone/>
            </a:pPr>
            <a:r>
              <a:rPr lang="en-US" sz="7800" dirty="0">
                <a:solidFill>
                  <a:srgbClr val="FD7EF5"/>
                </a:solidFill>
                <a:latin typeface="Arial" pitchFamily="34" charset="0"/>
                <a:ea typeface="Arial" pitchFamily="34" charset="-122"/>
                <a:cs typeface="Arial" pitchFamily="34" charset="-120"/>
              </a:rPr>
              <a:t>SUPPLY CHAIN.</a:t>
            </a:r>
            <a:endParaRPr lang="en-US" sz="7800" dirty="0"/>
          </a:p>
        </p:txBody>
      </p:sp>
      <p:sp>
        <p:nvSpPr>
          <p:cNvPr id="4" name="Text 2"/>
          <p:cNvSpPr/>
          <p:nvPr/>
        </p:nvSpPr>
        <p:spPr>
          <a:xfrm>
            <a:off x="990600" y="5844480"/>
            <a:ext cx="16187738" cy="866775"/>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People arrive thinking prompt injection is the topic. It is one attack on one layer. Real systems are a chain of components, each trusting the last, each adding attack surface. We attack the chain, in order.</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3423329" y="9498806"/>
            <a:ext cx="4261478"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M0 · THREAT MODEL + RANGE CHECK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13566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MAP FOR TWO DAYS</a:t>
            </a:r>
            <a:endParaRPr lang="en-US" sz="1500" dirty="0"/>
          </a:p>
        </p:txBody>
      </p:sp>
      <p:sp>
        <p:nvSpPr>
          <p:cNvPr id="3" name="Text 1"/>
          <p:cNvSpPr/>
          <p:nvPr/>
        </p:nvSpPr>
        <p:spPr>
          <a:xfrm>
            <a:off x="990600" y="3540472"/>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THE SPINE</a:t>
            </a:r>
            <a:endParaRPr lang="en-US" sz="6900" dirty="0"/>
          </a:p>
        </p:txBody>
      </p:sp>
      <p:sp>
        <p:nvSpPr>
          <p:cNvPr id="4" name="Shape 2"/>
          <p:cNvSpPr/>
          <p:nvPr/>
        </p:nvSpPr>
        <p:spPr>
          <a:xfrm>
            <a:off x="990600" y="4824413"/>
            <a:ext cx="2380804" cy="766763"/>
          </a:xfrm>
          <a:prstGeom prst="roundRect">
            <a:avLst>
              <a:gd name="adj" fmla="val 9938"/>
            </a:avLst>
          </a:prstGeom>
          <a:ln w="9525">
            <a:solidFill>
              <a:srgbClr val="FFFFFF">
                <a:alpha val="14000"/>
              </a:srgbClr>
            </a:solidFill>
            <a:prstDash val="solid"/>
          </a:ln>
        </p:spPr>
      </p:sp>
      <p:sp>
        <p:nvSpPr>
          <p:cNvPr id="5" name="Text 3"/>
          <p:cNvSpPr/>
          <p:nvPr/>
        </p:nvSpPr>
        <p:spPr>
          <a:xfrm>
            <a:off x="1038225" y="5062538"/>
            <a:ext cx="2285554" cy="328612"/>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Chatbot</a:t>
            </a:r>
            <a:endParaRPr lang="en-US" sz="1725" dirty="0"/>
          </a:p>
        </p:txBody>
      </p:sp>
      <p:sp>
        <p:nvSpPr>
          <p:cNvPr id="6" name="Text 4"/>
          <p:cNvSpPr/>
          <p:nvPr/>
        </p:nvSpPr>
        <p:spPr>
          <a:xfrm>
            <a:off x="3504754" y="4824413"/>
            <a:ext cx="213866" cy="804862"/>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7" name="Shape 5"/>
          <p:cNvSpPr/>
          <p:nvPr/>
        </p:nvSpPr>
        <p:spPr>
          <a:xfrm>
            <a:off x="3775770" y="4824413"/>
            <a:ext cx="2380878" cy="766763"/>
          </a:xfrm>
          <a:prstGeom prst="roundRect">
            <a:avLst>
              <a:gd name="adj" fmla="val 9938"/>
            </a:avLst>
          </a:prstGeom>
          <a:ln w="9525">
            <a:solidFill>
              <a:srgbClr val="FFFFFF">
                <a:alpha val="14000"/>
              </a:srgbClr>
            </a:solidFill>
            <a:prstDash val="solid"/>
          </a:ln>
        </p:spPr>
      </p:sp>
      <p:sp>
        <p:nvSpPr>
          <p:cNvPr id="8" name="Text 6"/>
          <p:cNvSpPr/>
          <p:nvPr/>
        </p:nvSpPr>
        <p:spPr>
          <a:xfrm>
            <a:off x="3823395" y="5062538"/>
            <a:ext cx="2285628" cy="328612"/>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RAG</a:t>
            </a:r>
            <a:endParaRPr lang="en-US" sz="1725" dirty="0"/>
          </a:p>
        </p:txBody>
      </p:sp>
      <p:sp>
        <p:nvSpPr>
          <p:cNvPr id="9" name="Text 7"/>
          <p:cNvSpPr/>
          <p:nvPr/>
        </p:nvSpPr>
        <p:spPr>
          <a:xfrm>
            <a:off x="6289997" y="4824413"/>
            <a:ext cx="213866" cy="804862"/>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0" name="Shape 8"/>
          <p:cNvSpPr/>
          <p:nvPr/>
        </p:nvSpPr>
        <p:spPr>
          <a:xfrm>
            <a:off x="6561013" y="4824413"/>
            <a:ext cx="2380804" cy="766763"/>
          </a:xfrm>
          <a:prstGeom prst="roundRect">
            <a:avLst>
              <a:gd name="adj" fmla="val 9938"/>
            </a:avLst>
          </a:prstGeom>
          <a:ln w="9525">
            <a:solidFill>
              <a:srgbClr val="FFFFFF">
                <a:alpha val="14000"/>
              </a:srgbClr>
            </a:solidFill>
            <a:prstDash val="solid"/>
          </a:ln>
        </p:spPr>
      </p:sp>
      <p:sp>
        <p:nvSpPr>
          <p:cNvPr id="11" name="Text 9"/>
          <p:cNvSpPr/>
          <p:nvPr/>
        </p:nvSpPr>
        <p:spPr>
          <a:xfrm>
            <a:off x="6608638" y="5062538"/>
            <a:ext cx="2285554" cy="328612"/>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Agent</a:t>
            </a:r>
            <a:endParaRPr lang="en-US" sz="1725" dirty="0"/>
          </a:p>
        </p:txBody>
      </p:sp>
      <p:sp>
        <p:nvSpPr>
          <p:cNvPr id="12" name="Text 10"/>
          <p:cNvSpPr/>
          <p:nvPr/>
        </p:nvSpPr>
        <p:spPr>
          <a:xfrm>
            <a:off x="9075167" y="4824413"/>
            <a:ext cx="213866" cy="804862"/>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3" name="Shape 11"/>
          <p:cNvSpPr/>
          <p:nvPr/>
        </p:nvSpPr>
        <p:spPr>
          <a:xfrm>
            <a:off x="9346183" y="4824413"/>
            <a:ext cx="2380878" cy="766763"/>
          </a:xfrm>
          <a:prstGeom prst="roundRect">
            <a:avLst>
              <a:gd name="adj" fmla="val 9938"/>
            </a:avLst>
          </a:prstGeom>
          <a:ln w="9525">
            <a:solidFill>
              <a:srgbClr val="FFFFFF">
                <a:alpha val="14000"/>
              </a:srgbClr>
            </a:solidFill>
            <a:prstDash val="solid"/>
          </a:ln>
        </p:spPr>
      </p:sp>
      <p:sp>
        <p:nvSpPr>
          <p:cNvPr id="14" name="Text 12"/>
          <p:cNvSpPr/>
          <p:nvPr/>
        </p:nvSpPr>
        <p:spPr>
          <a:xfrm>
            <a:off x="9393808" y="5062538"/>
            <a:ext cx="2285628" cy="328612"/>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MCP</a:t>
            </a:r>
            <a:endParaRPr lang="en-US" sz="1725" dirty="0"/>
          </a:p>
        </p:txBody>
      </p:sp>
      <p:sp>
        <p:nvSpPr>
          <p:cNvPr id="15" name="Text 13"/>
          <p:cNvSpPr/>
          <p:nvPr/>
        </p:nvSpPr>
        <p:spPr>
          <a:xfrm>
            <a:off x="11860411" y="4824413"/>
            <a:ext cx="213866" cy="804862"/>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6" name="Shape 14"/>
          <p:cNvSpPr/>
          <p:nvPr/>
        </p:nvSpPr>
        <p:spPr>
          <a:xfrm>
            <a:off x="12131427" y="4824413"/>
            <a:ext cx="2380804" cy="766763"/>
          </a:xfrm>
          <a:prstGeom prst="roundRect">
            <a:avLst>
              <a:gd name="adj" fmla="val 9938"/>
            </a:avLst>
          </a:prstGeom>
          <a:ln w="9525">
            <a:solidFill>
              <a:srgbClr val="FFFFFF">
                <a:alpha val="14000"/>
              </a:srgbClr>
            </a:solidFill>
            <a:prstDash val="solid"/>
          </a:ln>
        </p:spPr>
      </p:sp>
      <p:sp>
        <p:nvSpPr>
          <p:cNvPr id="17" name="Text 15"/>
          <p:cNvSpPr/>
          <p:nvPr/>
        </p:nvSpPr>
        <p:spPr>
          <a:xfrm>
            <a:off x="12179052" y="5062538"/>
            <a:ext cx="2285554" cy="328612"/>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Multi-agent</a:t>
            </a:r>
            <a:endParaRPr lang="en-US" sz="1725" dirty="0"/>
          </a:p>
        </p:txBody>
      </p:sp>
      <p:sp>
        <p:nvSpPr>
          <p:cNvPr id="18" name="Text 16"/>
          <p:cNvSpPr/>
          <p:nvPr/>
        </p:nvSpPr>
        <p:spPr>
          <a:xfrm>
            <a:off x="14645580" y="4824413"/>
            <a:ext cx="213866" cy="804862"/>
          </a:xfrm>
          <a:prstGeom prst="rect">
            <a:avLst/>
          </a:prstGeom>
          <a:noFill/>
          <a:ln/>
        </p:spPr>
        <p:txBody>
          <a:bodyPr wrap="square" lIns="25400" tIns="25400" rIns="25400" bIns="25400" rtlCol="0" anchor="ctr">
            <a:normAutofit/>
          </a:bodyPr>
          <a:lstStyle/>
          <a:p>
            <a:pPr algn="l" indent="0" marL="0">
              <a:buNone/>
            </a:pPr>
            <a:r>
              <a:rPr lang="en-US" sz="1800" dirty="0">
                <a:solidFill>
                  <a:srgbClr val="969696"/>
                </a:solidFill>
                <a:latin typeface="Courier New" pitchFamily="34" charset="0"/>
                <a:ea typeface="Courier New" pitchFamily="34" charset="-122"/>
                <a:cs typeface="Courier New" pitchFamily="34" charset="-120"/>
              </a:rPr>
              <a:t>→</a:t>
            </a:r>
            <a:endParaRPr lang="en-US" sz="1800" dirty="0"/>
          </a:p>
        </p:txBody>
      </p:sp>
      <p:sp>
        <p:nvSpPr>
          <p:cNvPr id="19" name="Shape 17"/>
          <p:cNvSpPr/>
          <p:nvPr/>
        </p:nvSpPr>
        <p:spPr>
          <a:xfrm>
            <a:off x="14916596" y="4824413"/>
            <a:ext cx="2380804" cy="766763"/>
          </a:xfrm>
          <a:prstGeom prst="roundRect">
            <a:avLst>
              <a:gd name="adj" fmla="val 9938"/>
            </a:avLst>
          </a:prstGeom>
          <a:ln w="9525">
            <a:solidFill>
              <a:srgbClr val="FFFFFF">
                <a:alpha val="14000"/>
              </a:srgbClr>
            </a:solidFill>
            <a:prstDash val="solid"/>
          </a:ln>
        </p:spPr>
      </p:sp>
      <p:sp>
        <p:nvSpPr>
          <p:cNvPr id="20" name="Text 18"/>
          <p:cNvSpPr/>
          <p:nvPr/>
        </p:nvSpPr>
        <p:spPr>
          <a:xfrm>
            <a:off x="14964221" y="5062538"/>
            <a:ext cx="2285554" cy="328612"/>
          </a:xfrm>
          <a:prstGeom prst="rect">
            <a:avLst/>
          </a:prstGeom>
          <a:noFill/>
          <a:ln/>
        </p:spPr>
        <p:txBody>
          <a:bodyPr wrap="square" lIns="25400" tIns="25400" rIns="25400" bIns="25400" rtlCol="0" anchor="t">
            <a:normAutofit/>
          </a:bodyPr>
          <a:lstStyle/>
          <a:p>
            <a:pPr algn="ctr" indent="0" marL="0">
              <a:buNone/>
            </a:pPr>
            <a:r>
              <a:rPr lang="en-US" sz="1725" dirty="0">
                <a:solidFill>
                  <a:srgbClr val="969696"/>
                </a:solidFill>
                <a:latin typeface="Courier New" pitchFamily="34" charset="0"/>
                <a:ea typeface="Courier New" pitchFamily="34" charset="-122"/>
                <a:cs typeface="Courier New" pitchFamily="34" charset="-120"/>
              </a:rPr>
              <a:t>Production</a:t>
            </a:r>
            <a:endParaRPr lang="en-US" sz="1725" dirty="0"/>
          </a:p>
        </p:txBody>
      </p:sp>
      <p:sp>
        <p:nvSpPr>
          <p:cNvPr id="21" name="Text 19"/>
          <p:cNvSpPr/>
          <p:nvPr/>
        </p:nvSpPr>
        <p:spPr>
          <a:xfrm>
            <a:off x="990600" y="6086475"/>
            <a:ext cx="17287875" cy="512415"/>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FFFFFF"/>
                </a:solidFill>
                <a:latin typeface="Arial" pitchFamily="34" charset="0"/>
                <a:ea typeface="Arial" pitchFamily="34" charset="-122"/>
                <a:cs typeface="Arial" pitchFamily="34" charset="-120"/>
              </a:rPr>
              <a:t>Each layer adds attack surface. The OWASP LLM Top 10 lands </a:t>
            </a:r>
            <a:pPr algn="l" indent="0" marL="0">
              <a:lnSpc>
                <a:spcPct val="126410"/>
              </a:lnSpc>
              <a:buNone/>
            </a:pPr>
            <a:r>
              <a:rPr lang="en-US" sz="2550" b="1" dirty="0">
                <a:solidFill>
                  <a:srgbClr val="FD7EF5"/>
                </a:solidFill>
                <a:latin typeface="Arial" pitchFamily="34" charset="0"/>
                <a:ea typeface="Arial" pitchFamily="34" charset="-122"/>
                <a:cs typeface="Arial" pitchFamily="34" charset="-120"/>
              </a:rPr>
              <a:t>where it lives </a:t>
            </a:r>
            <a:pPr algn="l" indent="0" marL="0">
              <a:lnSpc>
                <a:spcPct val="126410"/>
              </a:lnSpc>
              <a:buNone/>
            </a:pPr>
            <a:r>
              <a:rPr lang="en-US" sz="2550" dirty="0">
                <a:solidFill>
                  <a:srgbClr val="FFFFFF"/>
                </a:solidFill>
                <a:latin typeface="Arial" pitchFamily="34" charset="0"/>
                <a:ea typeface="Arial" pitchFamily="34" charset="-122"/>
                <a:cs typeface="Arial" pitchFamily="34" charset="-120"/>
              </a:rPr>
              <a:t>— not as a checklist.</a:t>
            </a:r>
            <a:endParaRPr lang="en-US" sz="2550" dirty="0"/>
          </a:p>
        </p:txBody>
      </p:sp>
      <p:pic>
        <p:nvPicPr>
          <p:cNvPr id="2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3" name="Text 20"/>
          <p:cNvSpPr/>
          <p:nvPr/>
        </p:nvSpPr>
        <p:spPr>
          <a:xfrm>
            <a:off x="13423329" y="9498806"/>
            <a:ext cx="4261478"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M0 · THREAT MODEL + RANGE CHECK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94980"/>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THE TARGET</a:t>
            </a:r>
            <a:endParaRPr lang="en-US" sz="1500" dirty="0"/>
          </a:p>
        </p:txBody>
      </p:sp>
      <p:sp>
        <p:nvSpPr>
          <p:cNvPr id="3" name="Text 1"/>
          <p:cNvSpPr/>
          <p:nvPr/>
        </p:nvSpPr>
        <p:spPr>
          <a:xfrm>
            <a:off x="990600" y="3099792"/>
            <a:ext cx="17937480" cy="826740"/>
          </a:xfrm>
          <a:prstGeom prst="rect">
            <a:avLst/>
          </a:prstGeom>
          <a:noFill/>
          <a:ln/>
        </p:spPr>
        <p:txBody>
          <a:bodyPr wrap="square" lIns="25400" tIns="25400" rIns="25400" bIns="25400" rtlCol="0" anchor="t">
            <a:normAutofit/>
          </a:bodyPr>
          <a:lstStyle/>
          <a:p>
            <a:pPr algn="l" indent="0" marL="0">
              <a:lnSpc>
                <a:spcPct val="78113"/>
              </a:lnSpc>
              <a:buNone/>
            </a:pPr>
            <a:r>
              <a:rPr lang="en-US" sz="6900" b="1" dirty="0">
                <a:solidFill>
                  <a:srgbClr val="FFFFFF"/>
                </a:solidFill>
                <a:latin typeface="Arial" pitchFamily="34" charset="0"/>
                <a:ea typeface="Arial" pitchFamily="34" charset="-122"/>
                <a:cs typeface="Arial" pitchFamily="34" charset="-120"/>
              </a:rPr>
              <a:t>MEET THE TARGET: </a:t>
            </a:r>
            <a:pPr algn="l" indent="0" marL="0">
              <a:lnSpc>
                <a:spcPct val="78113"/>
              </a:lnSpc>
              <a:buNone/>
            </a:pPr>
            <a:r>
              <a:rPr lang="en-US" sz="6900" b="1" dirty="0">
                <a:solidFill>
                  <a:srgbClr val="FD7EF5"/>
                </a:solidFill>
                <a:latin typeface="Arial" pitchFamily="34" charset="0"/>
                <a:ea typeface="Arial" pitchFamily="34" charset="-122"/>
                <a:cs typeface="Arial" pitchFamily="34" charset="-120"/>
              </a:rPr>
              <a:t>HALCYON</a:t>
            </a:r>
            <a:endParaRPr lang="en-US" sz="6900" dirty="0"/>
          </a:p>
        </p:txBody>
      </p:sp>
      <p:sp>
        <p:nvSpPr>
          <p:cNvPr id="4" name="Text 2"/>
          <p:cNvSpPr/>
          <p:nvPr/>
        </p:nvSpPr>
        <p:spPr>
          <a:xfrm>
            <a:off x="990600" y="4269432"/>
            <a:ext cx="17811750" cy="502667"/>
          </a:xfrm>
          <a:prstGeom prst="rect">
            <a:avLst/>
          </a:prstGeom>
          <a:noFill/>
          <a:ln/>
        </p:spPr>
        <p:txBody>
          <a:bodyPr wrap="square" lIns="25400" tIns="25400" rIns="25400" bIns="25400" rtlCol="0" anchor="t">
            <a:normAutofit/>
          </a:bodyPr>
          <a:lstStyle/>
          <a:p>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An AI-first </a:t>
            </a:r>
            <a:pPr algn="l" indent="0" marL="0">
              <a:lnSpc>
                <a:spcPct val="123795"/>
              </a:lnSpc>
              <a:buNone/>
            </a:pPr>
            <a:r>
              <a:rPr lang="en-US" sz="2550" b="1" dirty="0">
                <a:solidFill>
                  <a:srgbClr val="36CDFF"/>
                </a:solidFill>
                <a:latin typeface="Arial" pitchFamily="34" charset="0"/>
                <a:ea typeface="Arial" pitchFamily="34" charset="-122"/>
                <a:cs typeface="Arial" pitchFamily="34" charset="-120"/>
              </a:rPr>
              <a:t>neobank.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Its assistant is </a:t>
            </a:r>
            <a:pPr algn="l" indent="0" marL="0">
              <a:lnSpc>
                <a:spcPct val="123795"/>
              </a:lnSpc>
              <a:buNone/>
            </a:pPr>
            <a:r>
              <a:rPr lang="en-US" sz="2550" b="1" dirty="0">
                <a:solidFill>
                  <a:srgbClr val="36CDFF"/>
                </a:solidFill>
                <a:latin typeface="Arial" pitchFamily="34" charset="0"/>
                <a:ea typeface="Arial" pitchFamily="34" charset="-122"/>
                <a:cs typeface="Arial" pitchFamily="34" charset="-120"/>
              </a:rPr>
              <a:t>Halo.</a:t>
            </a:r>
            <a:endParaRPr lang="en-US" sz="2550" dirty="0"/>
          </a:p>
        </p:txBody>
      </p:sp>
      <p:sp>
        <p:nvSpPr>
          <p:cNvPr id="5" name="Text 3"/>
          <p:cNvSpPr/>
          <p:nvPr/>
        </p:nvSpPr>
        <p:spPr>
          <a:xfrm>
            <a:off x="990600" y="5019749"/>
            <a:ext cx="17811750" cy="438596"/>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Money movement plus PII means real stakes on every lab.</a:t>
            </a:r>
            <a:endParaRPr lang="en-US" sz="2175" dirty="0"/>
          </a:p>
        </p:txBody>
      </p:sp>
      <p:sp>
        <p:nvSpPr>
          <p:cNvPr id="6" name="Shape 4"/>
          <p:cNvSpPr/>
          <p:nvPr/>
        </p:nvSpPr>
        <p:spPr>
          <a:xfrm>
            <a:off x="990600" y="6991871"/>
            <a:ext cx="16192500" cy="9525"/>
          </a:xfrm>
          <a:prstGeom prst="rect">
            <a:avLst/>
          </a:prstGeom>
          <a:solidFill>
            <a:srgbClr val="FD7EF5">
              <a:alpha val="45000"/>
            </a:srgbClr>
          </a:solidFill>
          <a:ln/>
        </p:spPr>
      </p:sp>
      <p:sp>
        <p:nvSpPr>
          <p:cNvPr id="7" name="Shape 5"/>
          <p:cNvSpPr/>
          <p:nvPr/>
        </p:nvSpPr>
        <p:spPr>
          <a:xfrm>
            <a:off x="990600" y="5763146"/>
            <a:ext cx="16192500" cy="9525"/>
          </a:xfrm>
          <a:prstGeom prst="rect">
            <a:avLst/>
          </a:prstGeom>
          <a:solidFill>
            <a:srgbClr val="FD7EF5">
              <a:alpha val="45000"/>
            </a:srgbClr>
          </a:solidFill>
          <a:ln/>
        </p:spPr>
      </p:sp>
      <p:sp>
        <p:nvSpPr>
          <p:cNvPr id="8" name="Shape 6"/>
          <p:cNvSpPr/>
          <p:nvPr/>
        </p:nvSpPr>
        <p:spPr>
          <a:xfrm>
            <a:off x="990600" y="5763146"/>
            <a:ext cx="38100" cy="1238250"/>
          </a:xfrm>
          <a:prstGeom prst="rect">
            <a:avLst/>
          </a:prstGeom>
          <a:solidFill>
            <a:srgbClr val="FD7EF5"/>
          </a:solidFill>
          <a:ln/>
        </p:spPr>
      </p:sp>
      <p:sp>
        <p:nvSpPr>
          <p:cNvPr id="9" name="Shape 7"/>
          <p:cNvSpPr/>
          <p:nvPr/>
        </p:nvSpPr>
        <p:spPr>
          <a:xfrm>
            <a:off x="17173575" y="5763146"/>
            <a:ext cx="9525" cy="1238250"/>
          </a:xfrm>
          <a:prstGeom prst="rect">
            <a:avLst/>
          </a:prstGeom>
          <a:solidFill>
            <a:srgbClr val="FD7EF5">
              <a:alpha val="45000"/>
            </a:srgbClr>
          </a:solidFill>
          <a:ln/>
        </p:spPr>
      </p:sp>
      <p:sp>
        <p:nvSpPr>
          <p:cNvPr id="10" name="Text 8"/>
          <p:cNvSpPr/>
          <p:nvPr/>
        </p:nvSpPr>
        <p:spPr>
          <a:xfrm>
            <a:off x="1371600" y="6039371"/>
            <a:ext cx="17004983" cy="242888"/>
          </a:xfrm>
          <a:prstGeom prst="rect">
            <a:avLst/>
          </a:prstGeom>
          <a:noFill/>
          <a:ln/>
        </p:spPr>
        <p:txBody>
          <a:bodyPr wrap="square" lIns="25400" tIns="25400" rIns="25400" bIns="25400" rtlCol="0" anchor="t">
            <a:normAutofit/>
          </a:bodyPr>
          <a:lstStyle/>
          <a:p>
            <a:pPr algn="l" indent="0" marL="0">
              <a:buNone/>
            </a:pPr>
            <a:r>
              <a:rPr lang="en-US" sz="1200" spc="192" kern="0" dirty="0">
                <a:solidFill>
                  <a:srgbClr val="FD7EF5"/>
                </a:solidFill>
                <a:latin typeface="Courier New" pitchFamily="34" charset="0"/>
                <a:ea typeface="Courier New" pitchFamily="34" charset="-122"/>
                <a:cs typeface="Courier New" pitchFamily="34" charset="-120"/>
              </a:rPr>
              <a:t>WHY IT MATTERS</a:t>
            </a:r>
            <a:endParaRPr lang="en-US" sz="1200" dirty="0"/>
          </a:p>
        </p:txBody>
      </p:sp>
      <p:sp>
        <p:nvSpPr>
          <p:cNvPr id="11" name="Text 9"/>
          <p:cNvSpPr/>
          <p:nvPr/>
        </p:nvSpPr>
        <p:spPr>
          <a:xfrm>
            <a:off x="1371600" y="6339408"/>
            <a:ext cx="17004983" cy="423863"/>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One company for two days. You pwn Halcyon end to end — leak a secret, move money, approve a fraudulent dispute. Nothing abstract.</a:t>
            </a:r>
            <a:endParaRPr lang="en-US" sz="2025" dirty="0"/>
          </a:p>
        </p:txBody>
      </p:sp>
      <p:pic>
        <p:nvPicPr>
          <p:cNvPr id="12"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3" name="Text 10"/>
          <p:cNvSpPr/>
          <p:nvPr/>
        </p:nvSpPr>
        <p:spPr>
          <a:xfrm>
            <a:off x="13423329" y="9498806"/>
            <a:ext cx="4261478"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M0 · THREAT MODEL + RANGE CHECK</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317278"/>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COURSE MAP</a:t>
            </a:r>
            <a:endParaRPr lang="en-US" sz="1500" dirty="0"/>
          </a:p>
        </p:txBody>
      </p:sp>
      <p:sp>
        <p:nvSpPr>
          <p:cNvPr id="3" name="Text 1"/>
          <p:cNvSpPr/>
          <p:nvPr/>
        </p:nvSpPr>
        <p:spPr>
          <a:xfrm>
            <a:off x="990600" y="1722090"/>
            <a:ext cx="17937480" cy="689595"/>
          </a:xfrm>
          <a:prstGeom prst="rect">
            <a:avLst/>
          </a:prstGeom>
          <a:noFill/>
          <a:ln/>
        </p:spPr>
        <p:txBody>
          <a:bodyPr wrap="square" lIns="25400" tIns="25400" rIns="25400" bIns="25400" rtlCol="0" anchor="t">
            <a:normAutofit/>
          </a:bodyPr>
          <a:lstStyle/>
          <a:p>
            <a:pPr algn="l" indent="0" marL="0">
              <a:lnSpc>
                <a:spcPct val="78171"/>
              </a:lnSpc>
              <a:buNone/>
            </a:pPr>
            <a:r>
              <a:rPr lang="en-US" sz="5700" b="1" dirty="0">
                <a:solidFill>
                  <a:srgbClr val="FFFFFF"/>
                </a:solidFill>
                <a:latin typeface="Arial" pitchFamily="34" charset="0"/>
                <a:ea typeface="Arial" pitchFamily="34" charset="-122"/>
                <a:cs typeface="Arial" pitchFamily="34" charset="-120"/>
              </a:rPr>
              <a:t>HALO GROWS TEETH EACH MODULE</a:t>
            </a:r>
            <a:endParaRPr lang="en-US" sz="5700" dirty="0"/>
          </a:p>
        </p:txBody>
      </p:sp>
      <p:sp>
        <p:nvSpPr>
          <p:cNvPr id="4" name="Shape 2"/>
          <p:cNvSpPr/>
          <p:nvPr/>
        </p:nvSpPr>
        <p:spPr>
          <a:xfrm>
            <a:off x="990600" y="2754585"/>
            <a:ext cx="16306800" cy="19050"/>
          </a:xfrm>
          <a:prstGeom prst="rect">
            <a:avLst/>
          </a:prstGeom>
          <a:solidFill>
            <a:srgbClr val="FFFFFF">
              <a:alpha val="20000"/>
            </a:srgbClr>
          </a:solidFill>
          <a:ln/>
        </p:spPr>
      </p:sp>
      <p:sp>
        <p:nvSpPr>
          <p:cNvPr id="5" name="Text 3"/>
          <p:cNvSpPr/>
          <p:nvPr/>
        </p:nvSpPr>
        <p:spPr>
          <a:xfrm>
            <a:off x="1200150" y="2945085"/>
            <a:ext cx="4998963"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969696"/>
                </a:solidFill>
                <a:latin typeface="Courier New" pitchFamily="34" charset="0"/>
                <a:ea typeface="Courier New" pitchFamily="34" charset="-122"/>
                <a:cs typeface="Courier New" pitchFamily="34" charset="-120"/>
              </a:rPr>
              <a:t>LAYER</a:t>
            </a:r>
            <a:endParaRPr lang="en-US" sz="1350" dirty="0"/>
          </a:p>
        </p:txBody>
      </p:sp>
      <p:sp>
        <p:nvSpPr>
          <p:cNvPr id="6" name="Text 4"/>
          <p:cNvSpPr/>
          <p:nvPr/>
        </p:nvSpPr>
        <p:spPr>
          <a:xfrm>
            <a:off x="6460406" y="2945085"/>
            <a:ext cx="7707957"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36CDFF"/>
                </a:solidFill>
                <a:latin typeface="Courier New" pitchFamily="34" charset="0"/>
                <a:ea typeface="Courier New" pitchFamily="34" charset="-122"/>
                <a:cs typeface="Courier New" pitchFamily="34" charset="-120"/>
              </a:rPr>
              <a:t>WHAT’S NEW</a:t>
            </a:r>
            <a:endParaRPr lang="en-US" sz="1350" dirty="0"/>
          </a:p>
        </p:txBody>
      </p:sp>
      <p:sp>
        <p:nvSpPr>
          <p:cNvPr id="7" name="Text 5"/>
          <p:cNvSpPr/>
          <p:nvPr/>
        </p:nvSpPr>
        <p:spPr>
          <a:xfrm>
            <a:off x="14350752" y="2945085"/>
            <a:ext cx="2831784" cy="266700"/>
          </a:xfrm>
          <a:prstGeom prst="rect">
            <a:avLst/>
          </a:prstGeom>
          <a:noFill/>
          <a:ln/>
        </p:spPr>
        <p:txBody>
          <a:bodyPr wrap="square" lIns="25400" tIns="25400" rIns="25400" bIns="25400" rtlCol="0" anchor="t">
            <a:normAutofit/>
          </a:bodyPr>
          <a:lstStyle/>
          <a:p>
            <a:pPr algn="l" indent="0" marL="0">
              <a:buNone/>
            </a:pPr>
            <a:r>
              <a:rPr lang="en-US" sz="1350" spc="135" kern="0" dirty="0">
                <a:solidFill>
                  <a:srgbClr val="FD7EF5"/>
                </a:solidFill>
                <a:latin typeface="Courier New" pitchFamily="34" charset="0"/>
                <a:ea typeface="Courier New" pitchFamily="34" charset="-122"/>
                <a:cs typeface="Courier New" pitchFamily="34" charset="-120"/>
              </a:rPr>
              <a:t>MODULE</a:t>
            </a:r>
            <a:endParaRPr lang="en-US" sz="1350" dirty="0"/>
          </a:p>
        </p:txBody>
      </p:sp>
      <p:sp>
        <p:nvSpPr>
          <p:cNvPr id="8" name="Shape 6"/>
          <p:cNvSpPr/>
          <p:nvPr/>
        </p:nvSpPr>
        <p:spPr>
          <a:xfrm>
            <a:off x="990600" y="3345135"/>
            <a:ext cx="5260256" cy="9525"/>
          </a:xfrm>
          <a:prstGeom prst="rect">
            <a:avLst/>
          </a:prstGeom>
          <a:solidFill>
            <a:srgbClr val="FFFFFF">
              <a:alpha val="13000"/>
            </a:srgbClr>
          </a:solidFill>
          <a:ln/>
        </p:spPr>
      </p:sp>
      <p:sp>
        <p:nvSpPr>
          <p:cNvPr id="9" name="Text 7"/>
          <p:cNvSpPr/>
          <p:nvPr/>
        </p:nvSpPr>
        <p:spPr>
          <a:xfrm>
            <a:off x="1200150" y="3564210"/>
            <a:ext cx="4998963"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L0 chatbot</a:t>
            </a:r>
            <a:endParaRPr lang="en-US" sz="1875" dirty="0"/>
          </a:p>
        </p:txBody>
      </p:sp>
      <p:sp>
        <p:nvSpPr>
          <p:cNvPr id="10" name="Shape 8"/>
          <p:cNvSpPr/>
          <p:nvPr/>
        </p:nvSpPr>
        <p:spPr>
          <a:xfrm>
            <a:off x="6250856" y="3345135"/>
            <a:ext cx="7890346" cy="9525"/>
          </a:xfrm>
          <a:prstGeom prst="rect">
            <a:avLst/>
          </a:prstGeom>
          <a:solidFill>
            <a:srgbClr val="FFFFFF">
              <a:alpha val="13000"/>
            </a:srgbClr>
          </a:solidFill>
          <a:ln/>
        </p:spPr>
      </p:sp>
      <p:sp>
        <p:nvSpPr>
          <p:cNvPr id="11" name="Text 9"/>
          <p:cNvSpPr/>
          <p:nvPr/>
        </p:nvSpPr>
        <p:spPr>
          <a:xfrm>
            <a:off x="6460406" y="3564210"/>
            <a:ext cx="7707957"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direct injection</a:t>
            </a:r>
            <a:endParaRPr lang="en-US" sz="1875" dirty="0"/>
          </a:p>
        </p:txBody>
      </p:sp>
      <p:sp>
        <p:nvSpPr>
          <p:cNvPr id="12" name="Shape 10"/>
          <p:cNvSpPr/>
          <p:nvPr/>
        </p:nvSpPr>
        <p:spPr>
          <a:xfrm>
            <a:off x="14141202" y="3345135"/>
            <a:ext cx="3156198" cy="9525"/>
          </a:xfrm>
          <a:prstGeom prst="rect">
            <a:avLst/>
          </a:prstGeom>
          <a:solidFill>
            <a:srgbClr val="FFFFFF">
              <a:alpha val="13000"/>
            </a:srgbClr>
          </a:solidFill>
          <a:ln/>
        </p:spPr>
      </p:sp>
      <p:sp>
        <p:nvSpPr>
          <p:cNvPr id="13" name="Text 11"/>
          <p:cNvSpPr/>
          <p:nvPr/>
        </p:nvSpPr>
        <p:spPr>
          <a:xfrm>
            <a:off x="14350752" y="3564210"/>
            <a:ext cx="2831784"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M1</a:t>
            </a:r>
            <a:endParaRPr lang="en-US" sz="1875" dirty="0"/>
          </a:p>
        </p:txBody>
      </p:sp>
      <p:sp>
        <p:nvSpPr>
          <p:cNvPr id="14" name="Shape 12"/>
          <p:cNvSpPr/>
          <p:nvPr/>
        </p:nvSpPr>
        <p:spPr>
          <a:xfrm>
            <a:off x="990600" y="4095229"/>
            <a:ext cx="5260256" cy="750094"/>
          </a:xfrm>
          <a:prstGeom prst="rect">
            <a:avLst/>
          </a:prstGeom>
          <a:solidFill>
            <a:srgbClr val="36CDFF">
              <a:alpha val="7000"/>
            </a:srgbClr>
          </a:solidFill>
          <a:ln/>
        </p:spPr>
      </p:sp>
      <p:sp>
        <p:nvSpPr>
          <p:cNvPr id="15" name="Shape 13"/>
          <p:cNvSpPr/>
          <p:nvPr/>
        </p:nvSpPr>
        <p:spPr>
          <a:xfrm>
            <a:off x="990600" y="4095229"/>
            <a:ext cx="5260256" cy="9525"/>
          </a:xfrm>
          <a:prstGeom prst="rect">
            <a:avLst/>
          </a:prstGeom>
          <a:solidFill>
            <a:srgbClr val="FFFFFF">
              <a:alpha val="13000"/>
            </a:srgbClr>
          </a:solidFill>
          <a:ln/>
        </p:spPr>
      </p:sp>
      <p:sp>
        <p:nvSpPr>
          <p:cNvPr id="16" name="Text 14"/>
          <p:cNvSpPr/>
          <p:nvPr/>
        </p:nvSpPr>
        <p:spPr>
          <a:xfrm>
            <a:off x="1200150" y="4314304"/>
            <a:ext cx="4998963"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L1 RAG</a:t>
            </a:r>
            <a:endParaRPr lang="en-US" sz="1875" dirty="0"/>
          </a:p>
        </p:txBody>
      </p:sp>
      <p:sp>
        <p:nvSpPr>
          <p:cNvPr id="17" name="Shape 15"/>
          <p:cNvSpPr/>
          <p:nvPr/>
        </p:nvSpPr>
        <p:spPr>
          <a:xfrm>
            <a:off x="6250856" y="4095229"/>
            <a:ext cx="7890346" cy="750094"/>
          </a:xfrm>
          <a:prstGeom prst="rect">
            <a:avLst/>
          </a:prstGeom>
          <a:solidFill>
            <a:srgbClr val="36CDFF">
              <a:alpha val="7000"/>
            </a:srgbClr>
          </a:solidFill>
          <a:ln/>
        </p:spPr>
      </p:sp>
      <p:sp>
        <p:nvSpPr>
          <p:cNvPr id="18" name="Shape 16"/>
          <p:cNvSpPr/>
          <p:nvPr/>
        </p:nvSpPr>
        <p:spPr>
          <a:xfrm>
            <a:off x="6250856" y="4095229"/>
            <a:ext cx="7890346" cy="9525"/>
          </a:xfrm>
          <a:prstGeom prst="rect">
            <a:avLst/>
          </a:prstGeom>
          <a:solidFill>
            <a:srgbClr val="FFFFFF">
              <a:alpha val="13000"/>
            </a:srgbClr>
          </a:solidFill>
          <a:ln/>
        </p:spPr>
      </p:sp>
      <p:sp>
        <p:nvSpPr>
          <p:cNvPr id="19" name="Text 17"/>
          <p:cNvSpPr/>
          <p:nvPr/>
        </p:nvSpPr>
        <p:spPr>
          <a:xfrm>
            <a:off x="6460406" y="4314304"/>
            <a:ext cx="7707957"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indirect injection</a:t>
            </a:r>
            <a:endParaRPr lang="en-US" sz="1875" dirty="0"/>
          </a:p>
        </p:txBody>
      </p:sp>
      <p:sp>
        <p:nvSpPr>
          <p:cNvPr id="20" name="Shape 18"/>
          <p:cNvSpPr/>
          <p:nvPr/>
        </p:nvSpPr>
        <p:spPr>
          <a:xfrm>
            <a:off x="14141202" y="4095229"/>
            <a:ext cx="3156198" cy="750094"/>
          </a:xfrm>
          <a:prstGeom prst="rect">
            <a:avLst/>
          </a:prstGeom>
          <a:solidFill>
            <a:srgbClr val="36CDFF">
              <a:alpha val="7000"/>
            </a:srgbClr>
          </a:solidFill>
          <a:ln/>
        </p:spPr>
      </p:sp>
      <p:sp>
        <p:nvSpPr>
          <p:cNvPr id="21" name="Shape 19"/>
          <p:cNvSpPr/>
          <p:nvPr/>
        </p:nvSpPr>
        <p:spPr>
          <a:xfrm>
            <a:off x="14141202" y="4095229"/>
            <a:ext cx="3156198" cy="9525"/>
          </a:xfrm>
          <a:prstGeom prst="rect">
            <a:avLst/>
          </a:prstGeom>
          <a:solidFill>
            <a:srgbClr val="FFFFFF">
              <a:alpha val="13000"/>
            </a:srgbClr>
          </a:solidFill>
          <a:ln/>
        </p:spPr>
      </p:sp>
      <p:sp>
        <p:nvSpPr>
          <p:cNvPr id="22" name="Text 20"/>
          <p:cNvSpPr/>
          <p:nvPr/>
        </p:nvSpPr>
        <p:spPr>
          <a:xfrm>
            <a:off x="14350752" y="4314304"/>
            <a:ext cx="2831784"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M3</a:t>
            </a:r>
            <a:endParaRPr lang="en-US" sz="1875" dirty="0"/>
          </a:p>
        </p:txBody>
      </p:sp>
      <p:sp>
        <p:nvSpPr>
          <p:cNvPr id="23" name="Shape 21"/>
          <p:cNvSpPr/>
          <p:nvPr/>
        </p:nvSpPr>
        <p:spPr>
          <a:xfrm>
            <a:off x="990600" y="4845323"/>
            <a:ext cx="5260256" cy="9525"/>
          </a:xfrm>
          <a:prstGeom prst="rect">
            <a:avLst/>
          </a:prstGeom>
          <a:solidFill>
            <a:srgbClr val="FFFFFF">
              <a:alpha val="13000"/>
            </a:srgbClr>
          </a:solidFill>
          <a:ln/>
        </p:spPr>
      </p:sp>
      <p:sp>
        <p:nvSpPr>
          <p:cNvPr id="24" name="Text 22"/>
          <p:cNvSpPr/>
          <p:nvPr/>
        </p:nvSpPr>
        <p:spPr>
          <a:xfrm>
            <a:off x="1200150" y="5064398"/>
            <a:ext cx="4998963"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L2 agent</a:t>
            </a:r>
            <a:endParaRPr lang="en-US" sz="1875" dirty="0"/>
          </a:p>
        </p:txBody>
      </p:sp>
      <p:sp>
        <p:nvSpPr>
          <p:cNvPr id="25" name="Shape 23"/>
          <p:cNvSpPr/>
          <p:nvPr/>
        </p:nvSpPr>
        <p:spPr>
          <a:xfrm>
            <a:off x="6250856" y="4845323"/>
            <a:ext cx="7890346" cy="9525"/>
          </a:xfrm>
          <a:prstGeom prst="rect">
            <a:avLst/>
          </a:prstGeom>
          <a:solidFill>
            <a:srgbClr val="FFFFFF">
              <a:alpha val="13000"/>
            </a:srgbClr>
          </a:solidFill>
          <a:ln/>
        </p:spPr>
      </p:sp>
      <p:sp>
        <p:nvSpPr>
          <p:cNvPr id="26" name="Text 24"/>
          <p:cNvSpPr/>
          <p:nvPr/>
        </p:nvSpPr>
        <p:spPr>
          <a:xfrm>
            <a:off x="6460406" y="5064398"/>
            <a:ext cx="7707957"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tool abuse</a:t>
            </a:r>
            <a:endParaRPr lang="en-US" sz="1875" dirty="0"/>
          </a:p>
        </p:txBody>
      </p:sp>
      <p:sp>
        <p:nvSpPr>
          <p:cNvPr id="27" name="Shape 25"/>
          <p:cNvSpPr/>
          <p:nvPr/>
        </p:nvSpPr>
        <p:spPr>
          <a:xfrm>
            <a:off x="14141202" y="4845323"/>
            <a:ext cx="3156198" cy="9525"/>
          </a:xfrm>
          <a:prstGeom prst="rect">
            <a:avLst/>
          </a:prstGeom>
          <a:solidFill>
            <a:srgbClr val="FFFFFF">
              <a:alpha val="13000"/>
            </a:srgbClr>
          </a:solidFill>
          <a:ln/>
        </p:spPr>
      </p:sp>
      <p:sp>
        <p:nvSpPr>
          <p:cNvPr id="28" name="Text 26"/>
          <p:cNvSpPr/>
          <p:nvPr/>
        </p:nvSpPr>
        <p:spPr>
          <a:xfrm>
            <a:off x="14350752" y="5064398"/>
            <a:ext cx="2831784"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M5</a:t>
            </a:r>
            <a:endParaRPr lang="en-US" sz="1875" dirty="0"/>
          </a:p>
        </p:txBody>
      </p:sp>
      <p:sp>
        <p:nvSpPr>
          <p:cNvPr id="29" name="Shape 27"/>
          <p:cNvSpPr/>
          <p:nvPr/>
        </p:nvSpPr>
        <p:spPr>
          <a:xfrm>
            <a:off x="990600" y="5595417"/>
            <a:ext cx="5260256" cy="750094"/>
          </a:xfrm>
          <a:prstGeom prst="rect">
            <a:avLst/>
          </a:prstGeom>
          <a:solidFill>
            <a:srgbClr val="36CDFF">
              <a:alpha val="7000"/>
            </a:srgbClr>
          </a:solidFill>
          <a:ln/>
        </p:spPr>
      </p:sp>
      <p:sp>
        <p:nvSpPr>
          <p:cNvPr id="30" name="Shape 28"/>
          <p:cNvSpPr/>
          <p:nvPr/>
        </p:nvSpPr>
        <p:spPr>
          <a:xfrm>
            <a:off x="990600" y="5595417"/>
            <a:ext cx="5260256" cy="9525"/>
          </a:xfrm>
          <a:prstGeom prst="rect">
            <a:avLst/>
          </a:prstGeom>
          <a:solidFill>
            <a:srgbClr val="FFFFFF">
              <a:alpha val="13000"/>
            </a:srgbClr>
          </a:solidFill>
          <a:ln/>
        </p:spPr>
      </p:sp>
      <p:sp>
        <p:nvSpPr>
          <p:cNvPr id="31" name="Text 29"/>
          <p:cNvSpPr/>
          <p:nvPr/>
        </p:nvSpPr>
        <p:spPr>
          <a:xfrm>
            <a:off x="1200150" y="5814492"/>
            <a:ext cx="4998963"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L3 MCP</a:t>
            </a:r>
            <a:endParaRPr lang="en-US" sz="1875" dirty="0"/>
          </a:p>
        </p:txBody>
      </p:sp>
      <p:sp>
        <p:nvSpPr>
          <p:cNvPr id="32" name="Shape 30"/>
          <p:cNvSpPr/>
          <p:nvPr/>
        </p:nvSpPr>
        <p:spPr>
          <a:xfrm>
            <a:off x="6250856" y="5595417"/>
            <a:ext cx="7890346" cy="750094"/>
          </a:xfrm>
          <a:prstGeom prst="rect">
            <a:avLst/>
          </a:prstGeom>
          <a:solidFill>
            <a:srgbClr val="36CDFF">
              <a:alpha val="7000"/>
            </a:srgbClr>
          </a:solidFill>
          <a:ln/>
        </p:spPr>
      </p:sp>
      <p:sp>
        <p:nvSpPr>
          <p:cNvPr id="33" name="Shape 31"/>
          <p:cNvSpPr/>
          <p:nvPr/>
        </p:nvSpPr>
        <p:spPr>
          <a:xfrm>
            <a:off x="6250856" y="5595417"/>
            <a:ext cx="7890346" cy="9525"/>
          </a:xfrm>
          <a:prstGeom prst="rect">
            <a:avLst/>
          </a:prstGeom>
          <a:solidFill>
            <a:srgbClr val="FFFFFF">
              <a:alpha val="13000"/>
            </a:srgbClr>
          </a:solidFill>
          <a:ln/>
        </p:spPr>
      </p:sp>
      <p:sp>
        <p:nvSpPr>
          <p:cNvPr id="34" name="Text 32"/>
          <p:cNvSpPr/>
          <p:nvPr/>
        </p:nvSpPr>
        <p:spPr>
          <a:xfrm>
            <a:off x="6460406" y="5814492"/>
            <a:ext cx="7707957"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tool poisoning</a:t>
            </a:r>
            <a:endParaRPr lang="en-US" sz="1875" dirty="0"/>
          </a:p>
        </p:txBody>
      </p:sp>
      <p:sp>
        <p:nvSpPr>
          <p:cNvPr id="35" name="Shape 33"/>
          <p:cNvSpPr/>
          <p:nvPr/>
        </p:nvSpPr>
        <p:spPr>
          <a:xfrm>
            <a:off x="14141202" y="5595417"/>
            <a:ext cx="3156198" cy="750094"/>
          </a:xfrm>
          <a:prstGeom prst="rect">
            <a:avLst/>
          </a:prstGeom>
          <a:solidFill>
            <a:srgbClr val="36CDFF">
              <a:alpha val="7000"/>
            </a:srgbClr>
          </a:solidFill>
          <a:ln/>
        </p:spPr>
      </p:sp>
      <p:sp>
        <p:nvSpPr>
          <p:cNvPr id="36" name="Shape 34"/>
          <p:cNvSpPr/>
          <p:nvPr/>
        </p:nvSpPr>
        <p:spPr>
          <a:xfrm>
            <a:off x="14141202" y="5595417"/>
            <a:ext cx="3156198" cy="9525"/>
          </a:xfrm>
          <a:prstGeom prst="rect">
            <a:avLst/>
          </a:prstGeom>
          <a:solidFill>
            <a:srgbClr val="FFFFFF">
              <a:alpha val="13000"/>
            </a:srgbClr>
          </a:solidFill>
          <a:ln/>
        </p:spPr>
      </p:sp>
      <p:sp>
        <p:nvSpPr>
          <p:cNvPr id="37" name="Text 35"/>
          <p:cNvSpPr/>
          <p:nvPr/>
        </p:nvSpPr>
        <p:spPr>
          <a:xfrm>
            <a:off x="14350752" y="5814492"/>
            <a:ext cx="2831784"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M6</a:t>
            </a:r>
            <a:endParaRPr lang="en-US" sz="1875" dirty="0"/>
          </a:p>
        </p:txBody>
      </p:sp>
      <p:sp>
        <p:nvSpPr>
          <p:cNvPr id="38" name="Shape 36"/>
          <p:cNvSpPr/>
          <p:nvPr/>
        </p:nvSpPr>
        <p:spPr>
          <a:xfrm>
            <a:off x="990600" y="6345510"/>
            <a:ext cx="5260256" cy="9525"/>
          </a:xfrm>
          <a:prstGeom prst="rect">
            <a:avLst/>
          </a:prstGeom>
          <a:solidFill>
            <a:srgbClr val="FFFFFF">
              <a:alpha val="13000"/>
            </a:srgbClr>
          </a:solidFill>
          <a:ln/>
        </p:spPr>
      </p:sp>
      <p:sp>
        <p:nvSpPr>
          <p:cNvPr id="39" name="Text 37"/>
          <p:cNvSpPr/>
          <p:nvPr/>
        </p:nvSpPr>
        <p:spPr>
          <a:xfrm>
            <a:off x="1200150" y="6564585"/>
            <a:ext cx="4998963"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L4 multi-agent</a:t>
            </a:r>
            <a:endParaRPr lang="en-US" sz="1875" dirty="0"/>
          </a:p>
        </p:txBody>
      </p:sp>
      <p:sp>
        <p:nvSpPr>
          <p:cNvPr id="40" name="Shape 38"/>
          <p:cNvSpPr/>
          <p:nvPr/>
        </p:nvSpPr>
        <p:spPr>
          <a:xfrm>
            <a:off x="6250856" y="6345510"/>
            <a:ext cx="7890346" cy="9525"/>
          </a:xfrm>
          <a:prstGeom prst="rect">
            <a:avLst/>
          </a:prstGeom>
          <a:solidFill>
            <a:srgbClr val="FFFFFF">
              <a:alpha val="13000"/>
            </a:srgbClr>
          </a:solidFill>
          <a:ln/>
        </p:spPr>
      </p:sp>
      <p:sp>
        <p:nvSpPr>
          <p:cNvPr id="41" name="Text 39"/>
          <p:cNvSpPr/>
          <p:nvPr/>
        </p:nvSpPr>
        <p:spPr>
          <a:xfrm>
            <a:off x="6460406" y="6564585"/>
            <a:ext cx="7707957"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cascading trust</a:t>
            </a:r>
            <a:endParaRPr lang="en-US" sz="1875" dirty="0"/>
          </a:p>
        </p:txBody>
      </p:sp>
      <p:sp>
        <p:nvSpPr>
          <p:cNvPr id="42" name="Shape 40"/>
          <p:cNvSpPr/>
          <p:nvPr/>
        </p:nvSpPr>
        <p:spPr>
          <a:xfrm>
            <a:off x="14141202" y="6345510"/>
            <a:ext cx="3156198" cy="9525"/>
          </a:xfrm>
          <a:prstGeom prst="rect">
            <a:avLst/>
          </a:prstGeom>
          <a:solidFill>
            <a:srgbClr val="FFFFFF">
              <a:alpha val="13000"/>
            </a:srgbClr>
          </a:solidFill>
          <a:ln/>
        </p:spPr>
      </p:sp>
      <p:sp>
        <p:nvSpPr>
          <p:cNvPr id="43" name="Text 41"/>
          <p:cNvSpPr/>
          <p:nvPr/>
        </p:nvSpPr>
        <p:spPr>
          <a:xfrm>
            <a:off x="14350752" y="6564585"/>
            <a:ext cx="2831784"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M7</a:t>
            </a:r>
            <a:endParaRPr lang="en-US" sz="1875" dirty="0"/>
          </a:p>
        </p:txBody>
      </p:sp>
      <p:sp>
        <p:nvSpPr>
          <p:cNvPr id="44" name="Shape 42"/>
          <p:cNvSpPr/>
          <p:nvPr/>
        </p:nvSpPr>
        <p:spPr>
          <a:xfrm>
            <a:off x="990600" y="7095604"/>
            <a:ext cx="5260256" cy="750094"/>
          </a:xfrm>
          <a:prstGeom prst="rect">
            <a:avLst/>
          </a:prstGeom>
          <a:solidFill>
            <a:srgbClr val="36CDFF">
              <a:alpha val="7000"/>
            </a:srgbClr>
          </a:solidFill>
          <a:ln/>
        </p:spPr>
      </p:sp>
      <p:sp>
        <p:nvSpPr>
          <p:cNvPr id="45" name="Shape 43"/>
          <p:cNvSpPr/>
          <p:nvPr/>
        </p:nvSpPr>
        <p:spPr>
          <a:xfrm>
            <a:off x="990600" y="7095604"/>
            <a:ext cx="5260256" cy="9525"/>
          </a:xfrm>
          <a:prstGeom prst="rect">
            <a:avLst/>
          </a:prstGeom>
          <a:solidFill>
            <a:srgbClr val="FFFFFF">
              <a:alpha val="13000"/>
            </a:srgbClr>
          </a:solidFill>
          <a:ln/>
        </p:spPr>
      </p:sp>
      <p:sp>
        <p:nvSpPr>
          <p:cNvPr id="46" name="Text 44"/>
          <p:cNvSpPr/>
          <p:nvPr/>
        </p:nvSpPr>
        <p:spPr>
          <a:xfrm>
            <a:off x="1200150" y="7314679"/>
            <a:ext cx="4998963"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b="1" dirty="0">
                <a:solidFill>
                  <a:srgbClr val="FFFFFF"/>
                </a:solidFill>
                <a:latin typeface="Arial" pitchFamily="34" charset="0"/>
                <a:ea typeface="Arial" pitchFamily="34" charset="-122"/>
                <a:cs typeface="Arial" pitchFamily="34" charset="-120"/>
              </a:rPr>
              <a:t>L5 production</a:t>
            </a:r>
            <a:endParaRPr lang="en-US" sz="1875" dirty="0"/>
          </a:p>
        </p:txBody>
      </p:sp>
      <p:sp>
        <p:nvSpPr>
          <p:cNvPr id="47" name="Shape 45"/>
          <p:cNvSpPr/>
          <p:nvPr/>
        </p:nvSpPr>
        <p:spPr>
          <a:xfrm>
            <a:off x="6250856" y="7095604"/>
            <a:ext cx="7890346" cy="750094"/>
          </a:xfrm>
          <a:prstGeom prst="rect">
            <a:avLst/>
          </a:prstGeom>
          <a:solidFill>
            <a:srgbClr val="36CDFF">
              <a:alpha val="7000"/>
            </a:srgbClr>
          </a:solidFill>
          <a:ln/>
        </p:spPr>
      </p:sp>
      <p:sp>
        <p:nvSpPr>
          <p:cNvPr id="48" name="Shape 46"/>
          <p:cNvSpPr/>
          <p:nvPr/>
        </p:nvSpPr>
        <p:spPr>
          <a:xfrm>
            <a:off x="6250856" y="7095604"/>
            <a:ext cx="7890346" cy="9525"/>
          </a:xfrm>
          <a:prstGeom prst="rect">
            <a:avLst/>
          </a:prstGeom>
          <a:solidFill>
            <a:srgbClr val="FFFFFF">
              <a:alpha val="13000"/>
            </a:srgbClr>
          </a:solidFill>
          <a:ln/>
        </p:spPr>
      </p:sp>
      <p:sp>
        <p:nvSpPr>
          <p:cNvPr id="49" name="Text 47"/>
          <p:cNvSpPr/>
          <p:nvPr/>
        </p:nvSpPr>
        <p:spPr>
          <a:xfrm>
            <a:off x="6460406" y="7314679"/>
            <a:ext cx="7707957"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bypass plus defend</a:t>
            </a:r>
            <a:endParaRPr lang="en-US" sz="1875" dirty="0"/>
          </a:p>
        </p:txBody>
      </p:sp>
      <p:sp>
        <p:nvSpPr>
          <p:cNvPr id="50" name="Shape 48"/>
          <p:cNvSpPr/>
          <p:nvPr/>
        </p:nvSpPr>
        <p:spPr>
          <a:xfrm>
            <a:off x="14141202" y="7095604"/>
            <a:ext cx="3156198" cy="750094"/>
          </a:xfrm>
          <a:prstGeom prst="rect">
            <a:avLst/>
          </a:prstGeom>
          <a:solidFill>
            <a:srgbClr val="36CDFF">
              <a:alpha val="7000"/>
            </a:srgbClr>
          </a:solidFill>
          <a:ln/>
        </p:spPr>
      </p:sp>
      <p:sp>
        <p:nvSpPr>
          <p:cNvPr id="51" name="Shape 49"/>
          <p:cNvSpPr/>
          <p:nvPr/>
        </p:nvSpPr>
        <p:spPr>
          <a:xfrm>
            <a:off x="14141202" y="7095604"/>
            <a:ext cx="3156198" cy="9525"/>
          </a:xfrm>
          <a:prstGeom prst="rect">
            <a:avLst/>
          </a:prstGeom>
          <a:solidFill>
            <a:srgbClr val="FFFFFF">
              <a:alpha val="13000"/>
            </a:srgbClr>
          </a:solidFill>
          <a:ln/>
        </p:spPr>
      </p:sp>
      <p:sp>
        <p:nvSpPr>
          <p:cNvPr id="52" name="Text 50"/>
          <p:cNvSpPr/>
          <p:nvPr/>
        </p:nvSpPr>
        <p:spPr>
          <a:xfrm>
            <a:off x="14350752" y="7314679"/>
            <a:ext cx="2831784" cy="359569"/>
          </a:xfrm>
          <a:prstGeom prst="rect">
            <a:avLst/>
          </a:prstGeom>
          <a:noFill/>
          <a:ln/>
        </p:spPr>
        <p:txBody>
          <a:bodyPr wrap="square" lIns="25400" tIns="25400" rIns="25400" bIns="25400" rtlCol="0" anchor="t">
            <a:normAutofit/>
          </a:bodyPr>
          <a:lstStyle/>
          <a:p>
            <a:pPr algn="l" indent="0" marL="0">
              <a:lnSpc>
                <a:spcPct val="116379"/>
              </a:lnSpc>
              <a:buNone/>
            </a:pPr>
            <a:r>
              <a:rPr lang="en-US" sz="1875" dirty="0">
                <a:solidFill>
                  <a:srgbClr val="C8C8C8"/>
                </a:solidFill>
                <a:latin typeface="Arial" pitchFamily="34" charset="0"/>
                <a:ea typeface="Arial" pitchFamily="34" charset="-122"/>
                <a:cs typeface="Arial" pitchFamily="34" charset="-120"/>
              </a:rPr>
              <a:t>M8</a:t>
            </a:r>
            <a:endParaRPr lang="en-US" sz="1875" dirty="0"/>
          </a:p>
        </p:txBody>
      </p:sp>
      <p:sp>
        <p:nvSpPr>
          <p:cNvPr id="53" name="Text 51"/>
          <p:cNvSpPr/>
          <p:nvPr/>
        </p:nvSpPr>
        <p:spPr>
          <a:xfrm>
            <a:off x="990600" y="8131448"/>
            <a:ext cx="17811750" cy="285750"/>
          </a:xfrm>
          <a:prstGeom prst="rect">
            <a:avLst/>
          </a:prstGeom>
          <a:noFill/>
          <a:ln/>
        </p:spPr>
        <p:txBody>
          <a:bodyPr wrap="square" lIns="25400" tIns="25400" rIns="25400" bIns="25400" rtlCol="0" anchor="t">
            <a:normAutofit/>
          </a:bodyPr>
          <a:lstStyle/>
          <a:p>
            <a:pPr algn="l" indent="0" marL="0">
              <a:buNone/>
            </a:pPr>
            <a:r>
              <a:rPr lang="en-US" sz="1800" dirty="0">
                <a:solidFill>
                  <a:srgbClr val="969696"/>
                </a:solidFill>
                <a:latin typeface="Arial" pitchFamily="34" charset="0"/>
                <a:ea typeface="Arial" pitchFamily="34" charset="-122"/>
                <a:cs typeface="Arial" pitchFamily="34" charset="-120"/>
              </a:rPr>
              <a:t>M2 (output handling) rides on L0/L1 · M4 (supply-chain poisoning) targets the L1 data and model — same layers, new attacks.</a:t>
            </a:r>
            <a:endParaRPr lang="en-US" sz="1800" dirty="0"/>
          </a:p>
        </p:txBody>
      </p:sp>
      <p:pic>
        <p:nvPicPr>
          <p:cNvPr id="54"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55" name="Text 52"/>
          <p:cNvSpPr/>
          <p:nvPr/>
        </p:nvSpPr>
        <p:spPr>
          <a:xfrm>
            <a:off x="13423329" y="9498806"/>
            <a:ext cx="4261478"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M0 · THREAT MODEL + RANGE CHECK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973363"/>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GRADING</a:t>
            </a:r>
            <a:endParaRPr lang="en-US" sz="1500" dirty="0"/>
          </a:p>
        </p:txBody>
      </p:sp>
      <p:sp>
        <p:nvSpPr>
          <p:cNvPr id="3" name="Text 1"/>
          <p:cNvSpPr/>
          <p:nvPr/>
        </p:nvSpPr>
        <p:spPr>
          <a:xfrm>
            <a:off x="990600" y="3378175"/>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HOW YOU KNOW YOU WON</a:t>
            </a:r>
            <a:endParaRPr lang="en-US" sz="7200" dirty="0"/>
          </a:p>
        </p:txBody>
      </p:sp>
      <p:sp>
        <p:nvSpPr>
          <p:cNvPr id="4" name="Text 2"/>
          <p:cNvSpPr/>
          <p:nvPr/>
        </p:nvSpPr>
        <p:spPr>
          <a:xfrm>
            <a:off x="990600" y="4582120"/>
            <a:ext cx="17811750" cy="502667"/>
          </a:xfrm>
          <a:prstGeom prst="rect">
            <a:avLst/>
          </a:prstGeom>
          <a:noFill/>
          <a:ln/>
        </p:spPr>
        <p:txBody>
          <a:bodyPr wrap="square" lIns="25400" tIns="25400" rIns="25400" bIns="25400" rtlCol="0" anchor="t">
            <a:normAutofit/>
          </a:bodyPr>
          <a:lstStyle/>
          <a:p>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Pass/fail is a </a:t>
            </a:r>
            <a:pPr algn="l" indent="0" marL="0">
              <a:lnSpc>
                <a:spcPct val="123795"/>
              </a:lnSpc>
              <a:buNone/>
            </a:pPr>
            <a:r>
              <a:rPr lang="en-US" sz="2550" b="1" dirty="0">
                <a:solidFill>
                  <a:srgbClr val="36CDFF"/>
                </a:solidFill>
                <a:latin typeface="Arial" pitchFamily="34" charset="0"/>
                <a:ea typeface="Arial" pitchFamily="34" charset="-122"/>
                <a:cs typeface="Arial" pitchFamily="34" charset="-120"/>
              </a:rPr>
              <a:t>server-side audit log </a:t>
            </a:r>
            <a:pPr algn="l" indent="0" marL="0">
              <a:lnSpc>
                <a:spcPct val="123795"/>
              </a:lnSpc>
              <a:buNone/>
            </a:pPr>
            <a:r>
              <a:rPr lang="en-US" sz="2550" dirty="0">
                <a:solidFill>
                  <a:srgbClr val="FFFFFF"/>
                </a:solidFill>
                <a:latin typeface="Arial" pitchFamily="34" charset="0"/>
                <a:ea typeface="Arial" pitchFamily="34" charset="-122"/>
                <a:cs typeface="Arial" pitchFamily="34" charset="-120"/>
              </a:rPr>
              <a:t>— not what the model </a:t>
            </a:r>
            <a:pPr algn="l" indent="0" marL="0">
              <a:lnSpc>
                <a:spcPct val="123795"/>
              </a:lnSpc>
              <a:buNone/>
            </a:pPr>
            <a:r>
              <a:rPr lang="en-US" sz="2550" i="1" dirty="0">
                <a:solidFill>
                  <a:srgbClr val="FFFFFF"/>
                </a:solidFill>
                <a:latin typeface="Arial" pitchFamily="34" charset="0"/>
                <a:ea typeface="Arial" pitchFamily="34" charset="-122"/>
                <a:cs typeface="Arial" pitchFamily="34" charset="-120"/>
              </a:rPr>
              <a:t>said.</a:t>
            </a:r>
            <a:endParaRPr lang="en-US" sz="2550" dirty="0"/>
          </a:p>
        </p:txBody>
      </p:sp>
      <p:sp>
        <p:nvSpPr>
          <p:cNvPr id="5" name="Shape 3"/>
          <p:cNvSpPr/>
          <p:nvPr/>
        </p:nvSpPr>
        <p:spPr>
          <a:xfrm>
            <a:off x="990600" y="6713562"/>
            <a:ext cx="16192500" cy="9525"/>
          </a:xfrm>
          <a:prstGeom prst="rect">
            <a:avLst/>
          </a:prstGeom>
          <a:solidFill>
            <a:srgbClr val="36CDFF">
              <a:alpha val="40000"/>
            </a:srgbClr>
          </a:solidFill>
          <a:ln/>
        </p:spPr>
      </p:sp>
      <p:sp>
        <p:nvSpPr>
          <p:cNvPr id="6" name="Shape 4"/>
          <p:cNvSpPr/>
          <p:nvPr/>
        </p:nvSpPr>
        <p:spPr>
          <a:xfrm>
            <a:off x="990600" y="5389587"/>
            <a:ext cx="16192500" cy="9525"/>
          </a:xfrm>
          <a:prstGeom prst="rect">
            <a:avLst/>
          </a:prstGeom>
          <a:solidFill>
            <a:srgbClr val="36CDFF">
              <a:alpha val="40000"/>
            </a:srgbClr>
          </a:solidFill>
          <a:ln/>
        </p:spPr>
      </p:sp>
      <p:sp>
        <p:nvSpPr>
          <p:cNvPr id="7" name="Shape 5"/>
          <p:cNvSpPr/>
          <p:nvPr/>
        </p:nvSpPr>
        <p:spPr>
          <a:xfrm>
            <a:off x="990600" y="5389587"/>
            <a:ext cx="38100" cy="1333500"/>
          </a:xfrm>
          <a:prstGeom prst="rect">
            <a:avLst/>
          </a:prstGeom>
          <a:solidFill>
            <a:srgbClr val="36CDFF"/>
          </a:solidFill>
          <a:ln/>
        </p:spPr>
      </p:sp>
      <p:sp>
        <p:nvSpPr>
          <p:cNvPr id="8" name="Shape 6"/>
          <p:cNvSpPr/>
          <p:nvPr/>
        </p:nvSpPr>
        <p:spPr>
          <a:xfrm>
            <a:off x="17173575" y="5389587"/>
            <a:ext cx="9525" cy="1333500"/>
          </a:xfrm>
          <a:prstGeom prst="rect">
            <a:avLst/>
          </a:prstGeom>
          <a:solidFill>
            <a:srgbClr val="36CDFF">
              <a:alpha val="40000"/>
            </a:srgbClr>
          </a:solidFill>
          <a:ln/>
        </p:spPr>
      </p:sp>
      <p:sp>
        <p:nvSpPr>
          <p:cNvPr id="9" name="Text 7"/>
          <p:cNvSpPr/>
          <p:nvPr/>
        </p:nvSpPr>
        <p:spPr>
          <a:xfrm>
            <a:off x="1371600" y="5665812"/>
            <a:ext cx="15922847" cy="819150"/>
          </a:xfrm>
          <a:prstGeom prst="rect">
            <a:avLst/>
          </a:prstGeom>
          <a:noFill/>
          <a:ln/>
        </p:spPr>
        <p:txBody>
          <a:bodyPr wrap="square" lIns="25400" tIns="25400" rIns="25400" bIns="25400" rtlCol="0" anchor="t">
            <a:normAutofit/>
          </a:bodyPr>
          <a:lstStyle/>
          <a:p>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LLMs are non-deterministic, so we never grade on words. Every objective is validated by a mechanism query: did the exploit actually fire? You will see </a:t>
            </a:r>
            <a:pPr algn="l" indent="0" marL="0">
              <a:lnSpc>
                <a:spcPct val="130645"/>
              </a:lnSpc>
              <a:buNone/>
            </a:pPr>
            <a:r>
              <a:rPr lang="en-US" sz="2025" dirty="0">
                <a:solidFill>
                  <a:srgbClr val="FFFFFF"/>
                </a:solidFill>
                <a:latin typeface="Courier New" pitchFamily="34" charset="0"/>
                <a:ea typeface="Courier New" pitchFamily="34" charset="-122"/>
                <a:cs typeface="Courier New" pitchFamily="34" charset="-120"/>
              </a:rPr>
              <a:t>/validate </a:t>
            </a:r>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return </a:t>
            </a:r>
            <a:pPr algn="l" indent="0" marL="0">
              <a:lnSpc>
                <a:spcPct val="130645"/>
              </a:lnSpc>
              <a:buNone/>
            </a:pPr>
            <a:r>
              <a:rPr lang="en-US" sz="2025" dirty="0">
                <a:solidFill>
                  <a:srgbClr val="FFFFFF"/>
                </a:solidFill>
                <a:latin typeface="Courier New" pitchFamily="34" charset="0"/>
                <a:ea typeface="Courier New" pitchFamily="34" charset="-122"/>
                <a:cs typeface="Courier New" pitchFamily="34" charset="-120"/>
              </a:rPr>
              <a:t>core: pass</a:t>
            </a:r>
            <a:pPr algn="l" indent="0" marL="0">
              <a:lnSpc>
                <a:spcPct val="130645"/>
              </a:lnSpc>
              <a:buNone/>
            </a:pPr>
            <a:r>
              <a:rPr lang="en-US" sz="2025" dirty="0">
                <a:solidFill>
                  <a:srgbClr val="C8C8C8"/>
                </a:solidFill>
                <a:latin typeface="Arial" pitchFamily="34" charset="0"/>
                <a:ea typeface="Arial" pitchFamily="34" charset="-122"/>
                <a:cs typeface="Arial" pitchFamily="34" charset="-120"/>
              </a:rPr>
              <a:t>.</a:t>
            </a:r>
            <a:endParaRPr lang="en-US" sz="2025" dirty="0"/>
          </a:p>
        </p:txBody>
      </p:sp>
      <p:pic>
        <p:nvPicPr>
          <p:cNvPr id="10"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11" name="Text 8"/>
          <p:cNvSpPr/>
          <p:nvPr/>
        </p:nvSpPr>
        <p:spPr>
          <a:xfrm>
            <a:off x="13423329" y="9498806"/>
            <a:ext cx="4261478"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M0 · THREAT MODEL + RANGE CHECK</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1586359"/>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LOGISTICS</a:t>
            </a:r>
            <a:endParaRPr lang="en-US" sz="1500" dirty="0"/>
          </a:p>
        </p:txBody>
      </p:sp>
      <p:sp>
        <p:nvSpPr>
          <p:cNvPr id="3" name="Text 1"/>
          <p:cNvSpPr/>
          <p:nvPr/>
        </p:nvSpPr>
        <p:spPr>
          <a:xfrm>
            <a:off x="990600" y="1991171"/>
            <a:ext cx="17937480" cy="861045"/>
          </a:xfrm>
          <a:prstGeom prst="rect">
            <a:avLst/>
          </a:prstGeom>
          <a:noFill/>
          <a:ln/>
        </p:spPr>
        <p:txBody>
          <a:bodyPr wrap="square" lIns="25400" tIns="25400" rIns="25400" bIns="25400" rtlCol="0" anchor="t">
            <a:normAutofit/>
          </a:bodyPr>
          <a:lstStyle/>
          <a:p>
            <a:pPr algn="l" indent="0" marL="0">
              <a:lnSpc>
                <a:spcPct val="78190"/>
              </a:lnSpc>
              <a:buNone/>
            </a:pPr>
            <a:r>
              <a:rPr lang="en-US" sz="7200" b="1" dirty="0">
                <a:solidFill>
                  <a:srgbClr val="FFFFFF"/>
                </a:solidFill>
                <a:latin typeface="Arial" pitchFamily="34" charset="0"/>
                <a:ea typeface="Arial" pitchFamily="34" charset="-122"/>
                <a:cs typeface="Arial" pitchFamily="34" charset="-120"/>
              </a:rPr>
              <a:t>RULES OF THE RANGE</a:t>
            </a:r>
            <a:endParaRPr lang="en-US" sz="7200" dirty="0"/>
          </a:p>
        </p:txBody>
      </p:sp>
      <p:sp>
        <p:nvSpPr>
          <p:cNvPr id="4" name="Shape 2"/>
          <p:cNvSpPr/>
          <p:nvPr/>
        </p:nvSpPr>
        <p:spPr>
          <a:xfrm>
            <a:off x="990600" y="3233217"/>
            <a:ext cx="16306800" cy="19050"/>
          </a:xfrm>
          <a:prstGeom prst="rect">
            <a:avLst/>
          </a:prstGeom>
          <a:solidFill>
            <a:srgbClr val="FFFFFF">
              <a:alpha val="16000"/>
            </a:srgbClr>
          </a:solidFill>
          <a:ln/>
        </p:spPr>
      </p:sp>
      <p:sp>
        <p:nvSpPr>
          <p:cNvPr id="5" name="Text 3"/>
          <p:cNvSpPr/>
          <p:nvPr/>
        </p:nvSpPr>
        <p:spPr>
          <a:xfrm>
            <a:off x="990600" y="3538017"/>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1508820" y="3461817"/>
            <a:ext cx="6468055"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One build, one flag</a:t>
            </a:r>
            <a:endParaRPr lang="en-US" sz="2400" dirty="0"/>
          </a:p>
        </p:txBody>
      </p:sp>
      <p:sp>
        <p:nvSpPr>
          <p:cNvPr id="7" name="Text 5"/>
          <p:cNvSpPr/>
          <p:nvPr/>
        </p:nvSpPr>
        <p:spPr>
          <a:xfrm>
            <a:off x="1508820" y="3919017"/>
            <a:ext cx="6468055" cy="392906"/>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Courier New" pitchFamily="34" charset="0"/>
                <a:ea typeface="Courier New" pitchFamily="34" charset="-122"/>
                <a:cs typeface="Courier New" pitchFamily="34" charset="-120"/>
              </a:rPr>
              <a:t>vulnerable </a:t>
            </a:r>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 </a:t>
            </a:r>
            <a:pPr algn="l" indent="0" marL="0">
              <a:lnSpc>
                <a:spcPct val="125000"/>
              </a:lnSpc>
              <a:buNone/>
            </a:pPr>
            <a:r>
              <a:rPr lang="en-US" sz="1875" dirty="0">
                <a:solidFill>
                  <a:srgbClr val="969696"/>
                </a:solidFill>
                <a:latin typeface="Courier New" pitchFamily="34" charset="0"/>
                <a:ea typeface="Courier New" pitchFamily="34" charset="-122"/>
                <a:cs typeface="Courier New" pitchFamily="34" charset="-120"/>
              </a:rPr>
              <a:t>secure</a:t>
            </a:r>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 Same codebase, flags flipped.</a:t>
            </a:r>
            <a:endParaRPr lang="en-US" sz="1875" dirty="0"/>
          </a:p>
        </p:txBody>
      </p:sp>
      <p:sp>
        <p:nvSpPr>
          <p:cNvPr id="8" name="Shape 6"/>
          <p:cNvSpPr/>
          <p:nvPr/>
        </p:nvSpPr>
        <p:spPr>
          <a:xfrm>
            <a:off x="990600" y="4521473"/>
            <a:ext cx="16306800" cy="19050"/>
          </a:xfrm>
          <a:prstGeom prst="rect">
            <a:avLst/>
          </a:prstGeom>
          <a:solidFill>
            <a:srgbClr val="FFFFFF">
              <a:alpha val="16000"/>
            </a:srgbClr>
          </a:solidFill>
          <a:ln/>
        </p:spPr>
      </p:sp>
      <p:sp>
        <p:nvSpPr>
          <p:cNvPr id="9" name="Text 7"/>
          <p:cNvSpPr/>
          <p:nvPr/>
        </p:nvSpPr>
        <p:spPr>
          <a:xfrm>
            <a:off x="990600" y="4826273"/>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1508820" y="4750073"/>
            <a:ext cx="4462269"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Reset any module, any time</a:t>
            </a:r>
            <a:endParaRPr lang="en-US" sz="2400" dirty="0"/>
          </a:p>
        </p:txBody>
      </p:sp>
      <p:sp>
        <p:nvSpPr>
          <p:cNvPr id="11" name="Text 9"/>
          <p:cNvSpPr/>
          <p:nvPr/>
        </p:nvSpPr>
        <p:spPr>
          <a:xfrm>
            <a:off x="1508820" y="5207273"/>
            <a:ext cx="4462269"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Break something? Reset it. No penalty.</a:t>
            </a:r>
            <a:endParaRPr lang="en-US" sz="1875" dirty="0"/>
          </a:p>
        </p:txBody>
      </p:sp>
      <p:sp>
        <p:nvSpPr>
          <p:cNvPr id="12" name="Shape 10"/>
          <p:cNvSpPr/>
          <p:nvPr/>
        </p:nvSpPr>
        <p:spPr>
          <a:xfrm>
            <a:off x="990600" y="5800204"/>
            <a:ext cx="16306800" cy="19050"/>
          </a:xfrm>
          <a:prstGeom prst="rect">
            <a:avLst/>
          </a:prstGeom>
          <a:solidFill>
            <a:srgbClr val="FFFFFF">
              <a:alpha val="16000"/>
            </a:srgbClr>
          </a:solidFill>
          <a:ln/>
        </p:spPr>
      </p:sp>
      <p:sp>
        <p:nvSpPr>
          <p:cNvPr id="13" name="Text 11"/>
          <p:cNvSpPr/>
          <p:nvPr/>
        </p:nvSpPr>
        <p:spPr>
          <a:xfrm>
            <a:off x="990600" y="6105004"/>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FD7EF5"/>
                </a:solidFill>
                <a:latin typeface="Courier New" pitchFamily="34" charset="0"/>
                <a:ea typeface="Courier New" pitchFamily="34" charset="-122"/>
                <a:cs typeface="Courier New" pitchFamily="34" charset="-120"/>
              </a:rPr>
              <a:t>03</a:t>
            </a:r>
            <a:endParaRPr lang="en-US" sz="1650" dirty="0"/>
          </a:p>
        </p:txBody>
      </p:sp>
      <p:sp>
        <p:nvSpPr>
          <p:cNvPr id="14" name="Text 12"/>
          <p:cNvSpPr/>
          <p:nvPr/>
        </p:nvSpPr>
        <p:spPr>
          <a:xfrm>
            <a:off x="1508820" y="6028804"/>
            <a:ext cx="6335613"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Core for everyone, stretch for fast finishers</a:t>
            </a:r>
            <a:endParaRPr lang="en-US" sz="2400" dirty="0"/>
          </a:p>
        </p:txBody>
      </p:sp>
      <p:sp>
        <p:nvSpPr>
          <p:cNvPr id="15" name="Text 13"/>
          <p:cNvSpPr/>
          <p:nvPr/>
        </p:nvSpPr>
        <p:spPr>
          <a:xfrm>
            <a:off x="1508820" y="6486004"/>
            <a:ext cx="6335613"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No difficulty ladder — a floor and a ceiling.</a:t>
            </a:r>
            <a:endParaRPr lang="en-US" sz="1875" dirty="0"/>
          </a:p>
        </p:txBody>
      </p:sp>
      <p:sp>
        <p:nvSpPr>
          <p:cNvPr id="16" name="Shape 14"/>
          <p:cNvSpPr/>
          <p:nvPr/>
        </p:nvSpPr>
        <p:spPr>
          <a:xfrm>
            <a:off x="990600" y="7078935"/>
            <a:ext cx="16306800" cy="19050"/>
          </a:xfrm>
          <a:prstGeom prst="rect">
            <a:avLst/>
          </a:prstGeom>
          <a:solidFill>
            <a:srgbClr val="FFFFFF">
              <a:alpha val="16000"/>
            </a:srgbClr>
          </a:solidFill>
          <a:ln/>
        </p:spPr>
      </p:sp>
      <p:sp>
        <p:nvSpPr>
          <p:cNvPr id="17" name="Text 15"/>
          <p:cNvSpPr/>
          <p:nvPr/>
        </p:nvSpPr>
        <p:spPr>
          <a:xfrm>
            <a:off x="990600" y="7383735"/>
            <a:ext cx="327720" cy="314325"/>
          </a:xfrm>
          <a:prstGeom prst="rect">
            <a:avLst/>
          </a:prstGeom>
          <a:noFill/>
          <a:ln/>
        </p:spPr>
        <p:txBody>
          <a:bodyPr wrap="square" lIns="25400" tIns="25400" rIns="25400" bIns="25400" rtlCol="0" anchor="t">
            <a:normAutofit/>
          </a:bodyPr>
          <a:lstStyle/>
          <a:p>
            <a:pPr algn="l" indent="0" marL="0">
              <a:buNone/>
            </a:pPr>
            <a:r>
              <a:rPr lang="en-US" sz="1650" dirty="0">
                <a:solidFill>
                  <a:srgbClr val="36CDFF"/>
                </a:solidFill>
                <a:latin typeface="Courier New" pitchFamily="34" charset="0"/>
                <a:ea typeface="Courier New" pitchFamily="34" charset="-122"/>
                <a:cs typeface="Courier New" pitchFamily="34" charset="-120"/>
              </a:rPr>
              <a:t>04</a:t>
            </a:r>
            <a:endParaRPr lang="en-US" sz="1650" dirty="0"/>
          </a:p>
        </p:txBody>
      </p:sp>
      <p:sp>
        <p:nvSpPr>
          <p:cNvPr id="18" name="Text 16"/>
          <p:cNvSpPr/>
          <p:nvPr/>
        </p:nvSpPr>
        <p:spPr>
          <a:xfrm>
            <a:off x="1508820" y="7307535"/>
            <a:ext cx="9516599"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FFFFFF"/>
                </a:solidFill>
                <a:latin typeface="Arial" pitchFamily="34" charset="0"/>
                <a:ea typeface="Arial" pitchFamily="34" charset="-122"/>
                <a:cs typeface="Arial" pitchFamily="34" charset="-120"/>
              </a:rPr>
              <a:t>Day 1 keyless, Day 2 your own key</a:t>
            </a:r>
            <a:endParaRPr lang="en-US" sz="2400" dirty="0"/>
          </a:p>
        </p:txBody>
      </p:sp>
      <p:sp>
        <p:nvSpPr>
          <p:cNvPr id="19" name="Text 17"/>
          <p:cNvSpPr/>
          <p:nvPr/>
        </p:nvSpPr>
        <p:spPr>
          <a:xfrm>
            <a:off x="1508820" y="7764735"/>
            <a:ext cx="9516599" cy="383381"/>
          </a:xfrm>
          <a:prstGeom prst="rect">
            <a:avLst/>
          </a:prstGeom>
          <a:noFill/>
          <a:ln/>
        </p:spPr>
        <p:txBody>
          <a:bodyPr wrap="square" lIns="25400" tIns="25400" rIns="25400" bIns="25400" rtlCol="0" anchor="t">
            <a:normAutofit/>
          </a:bodyPr>
          <a:lstStyle/>
          <a:p>
            <a:pPr algn="l" indent="0" marL="0">
              <a:lnSpc>
                <a:spcPct val="125000"/>
              </a:lnSpc>
              <a:buNone/>
            </a:pPr>
            <a:r>
              <a:rPr lang="en-US" sz="1875" dirty="0">
                <a:solidFill>
                  <a:srgbClr val="969696"/>
                </a:solidFill>
                <a:latin typeface="Arial" pitchFamily="34" charset="0"/>
                <a:ea typeface="Arial" pitchFamily="34" charset="-122"/>
                <a:cs typeface="Arial" pitchFamily="34" charset="-120"/>
              </a:rPr>
              <a:t>Both days run in your browser against our hosted target. Nothing to install but Burp.</a:t>
            </a:r>
            <a:endParaRPr lang="en-US" sz="1875" dirty="0"/>
          </a:p>
        </p:txBody>
      </p:sp>
      <p:pic>
        <p:nvPicPr>
          <p:cNvPr id="20"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21" name="Text 18"/>
          <p:cNvSpPr/>
          <p:nvPr/>
        </p:nvSpPr>
        <p:spPr>
          <a:xfrm>
            <a:off x="13423329" y="9498806"/>
            <a:ext cx="4261478"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M0 · THREAT MODEL + RANGE CHECK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FD7EF5"/>
          </a:solidFill>
          <a:ln/>
        </p:spPr>
      </p:sp>
      <p:sp>
        <p:nvSpPr>
          <p:cNvPr id="3" name="Text 1"/>
          <p:cNvSpPr/>
          <p:nvPr/>
        </p:nvSpPr>
        <p:spPr>
          <a:xfrm>
            <a:off x="990600" y="3340447"/>
            <a:ext cx="17937480" cy="366713"/>
          </a:xfrm>
          <a:prstGeom prst="rect">
            <a:avLst/>
          </a:prstGeom>
          <a:noFill/>
          <a:ln/>
        </p:spPr>
        <p:txBody>
          <a:bodyPr wrap="square" lIns="25400" tIns="25400" rIns="25400" bIns="25400" rtlCol="0" anchor="t">
            <a:normAutofit/>
          </a:bodyPr>
          <a:lstStyle/>
          <a:p>
            <a:pPr algn="l" indent="0" marL="0">
              <a:buNone/>
            </a:pPr>
            <a:r>
              <a:rPr lang="en-US" sz="1950" spc="663" kern="0" dirty="0">
                <a:solidFill>
                  <a:srgbClr val="FD7EF5"/>
                </a:solidFill>
                <a:latin typeface="Courier New" pitchFamily="34" charset="0"/>
                <a:ea typeface="Courier New" pitchFamily="34" charset="-122"/>
                <a:cs typeface="Courier New" pitchFamily="34" charset="-120"/>
              </a:rPr>
              <a:t>▶ DEMO / DO IT</a:t>
            </a:r>
            <a:endParaRPr lang="en-US" sz="1950" dirty="0"/>
          </a:p>
        </p:txBody>
      </p:sp>
      <p:sp>
        <p:nvSpPr>
          <p:cNvPr id="4" name="Text 2"/>
          <p:cNvSpPr/>
          <p:nvPr/>
        </p:nvSpPr>
        <p:spPr>
          <a:xfrm>
            <a:off x="990600" y="3954810"/>
            <a:ext cx="17937480" cy="1600200"/>
          </a:xfrm>
          <a:prstGeom prst="rect">
            <a:avLst/>
          </a:prstGeom>
          <a:noFill/>
          <a:ln/>
        </p:spPr>
        <p:txBody>
          <a:bodyPr wrap="square" lIns="25400" tIns="25400" rIns="25400" bIns="25400" rtlCol="0" anchor="t">
            <a:normAutofit/>
          </a:bodyPr>
          <a:lstStyle/>
          <a:p>
            <a:pPr algn="l" indent="0" marL="0">
              <a:lnSpc>
                <a:spcPct val="71304"/>
              </a:lnSpc>
              <a:buNone/>
            </a:pPr>
            <a:r>
              <a:rPr lang="en-US" sz="15000" b="1" dirty="0">
                <a:solidFill>
                  <a:srgbClr val="FFFFFF"/>
                </a:solidFill>
                <a:latin typeface="Arial" pitchFamily="34" charset="0"/>
                <a:ea typeface="Arial" pitchFamily="34" charset="-122"/>
                <a:cs typeface="Arial" pitchFamily="34" charset="-120"/>
              </a:rPr>
              <a:t>GET GREEN</a:t>
            </a:r>
            <a:endParaRPr lang="en-US" sz="15000" dirty="0"/>
          </a:p>
        </p:txBody>
      </p:sp>
      <p:sp>
        <p:nvSpPr>
          <p:cNvPr id="5" name="Text 3"/>
          <p:cNvSpPr/>
          <p:nvPr/>
        </p:nvSpPr>
        <p:spPr>
          <a:xfrm>
            <a:off x="990600" y="5897910"/>
            <a:ext cx="15716250" cy="496193"/>
          </a:xfrm>
          <a:prstGeom prst="rect">
            <a:avLst/>
          </a:prstGeom>
          <a:noFill/>
          <a:ln/>
        </p:spPr>
        <p:txBody>
          <a:bodyPr wrap="square" lIns="25400" tIns="25400" rIns="25400" bIns="25400" rtlCol="0" anchor="t">
            <a:normAutofit/>
          </a:bodyPr>
          <a:lstStyle/>
          <a:p>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Reach-test: </a:t>
            </a:r>
            <a:pPr algn="l" indent="0" marL="0">
              <a:lnSpc>
                <a:spcPct val="122051"/>
              </a:lnSpc>
              <a:buNone/>
            </a:pPr>
            <a:r>
              <a:rPr lang="en-US" sz="2550" b="1" dirty="0">
                <a:solidFill>
                  <a:srgbClr val="FFFFFF"/>
                </a:solidFill>
                <a:latin typeface="Arial" pitchFamily="34" charset="0"/>
                <a:ea typeface="Arial" pitchFamily="34" charset="-122"/>
                <a:cs typeface="Arial" pitchFamily="34" charset="-120"/>
              </a:rPr>
              <a:t>reach the target · Burp proxy · (Day 2) key.</a:t>
            </a:r>
            <a:endParaRPr lang="en-US" sz="2550" dirty="0"/>
          </a:p>
        </p:txBody>
      </p:sp>
      <p:pic>
        <p:nvPicPr>
          <p:cNvPr id="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7" name="Text 4"/>
          <p:cNvSpPr/>
          <p:nvPr/>
        </p:nvSpPr>
        <p:spPr>
          <a:xfrm>
            <a:off x="13423329" y="9498806"/>
            <a:ext cx="4261478"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M0 · THREAT MODEL + RANGE CHECK</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8288000" cy="57150"/>
          </a:xfrm>
          <a:prstGeom prst="rect">
            <a:avLst/>
          </a:prstGeom>
          <a:solidFill>
            <a:srgbClr val="36CDFF"/>
          </a:solidFill>
          <a:ln/>
        </p:spPr>
      </p:sp>
      <p:sp>
        <p:nvSpPr>
          <p:cNvPr id="3" name="Text 1"/>
          <p:cNvSpPr/>
          <p:nvPr/>
        </p:nvSpPr>
        <p:spPr>
          <a:xfrm>
            <a:off x="990600" y="3264694"/>
            <a:ext cx="17937480" cy="366713"/>
          </a:xfrm>
          <a:prstGeom prst="rect">
            <a:avLst/>
          </a:prstGeom>
          <a:noFill/>
          <a:ln/>
        </p:spPr>
        <p:txBody>
          <a:bodyPr wrap="square" lIns="25400" tIns="25400" rIns="25400" bIns="25400" rtlCol="0" anchor="t">
            <a:normAutofit/>
          </a:bodyPr>
          <a:lstStyle/>
          <a:p>
            <a:pPr algn="l" indent="0" marL="0">
              <a:buNone/>
            </a:pPr>
            <a:r>
              <a:rPr lang="en-US" sz="1950" spc="663" kern="0" dirty="0">
                <a:solidFill>
                  <a:srgbClr val="36CDFF"/>
                </a:solidFill>
                <a:latin typeface="Courier New" pitchFamily="34" charset="0"/>
                <a:ea typeface="Courier New" pitchFamily="34" charset="-122"/>
                <a:cs typeface="Courier New" pitchFamily="34" charset="-120"/>
              </a:rPr>
              <a:t>▶ DEMO / WARM UP</a:t>
            </a:r>
            <a:endParaRPr lang="en-US" sz="1950" dirty="0"/>
          </a:p>
        </p:txBody>
      </p:sp>
      <p:sp>
        <p:nvSpPr>
          <p:cNvPr id="4" name="Text 2"/>
          <p:cNvSpPr/>
          <p:nvPr/>
        </p:nvSpPr>
        <p:spPr>
          <a:xfrm>
            <a:off x="990600" y="3879056"/>
            <a:ext cx="17937480" cy="1756395"/>
          </a:xfrm>
          <a:prstGeom prst="rect">
            <a:avLst/>
          </a:prstGeom>
          <a:noFill/>
          <a:ln/>
        </p:spPr>
        <p:txBody>
          <a:bodyPr wrap="square" lIns="25400" tIns="25400" rIns="25400" bIns="25400" rtlCol="0" anchor="t">
            <a:normAutofit/>
          </a:bodyPr>
          <a:lstStyle/>
          <a:p>
            <a:pPr algn="l" indent="0" marL="0">
              <a:lnSpc>
                <a:spcPct val="71446"/>
              </a:lnSpc>
              <a:buNone/>
            </a:pPr>
            <a:r>
              <a:rPr lang="en-US" sz="16500" b="1" dirty="0">
                <a:solidFill>
                  <a:srgbClr val="FFFFFF"/>
                </a:solidFill>
                <a:latin typeface="Arial" pitchFamily="34" charset="0"/>
                <a:ea typeface="Arial" pitchFamily="34" charset="-122"/>
                <a:cs typeface="Arial" pitchFamily="34" charset="-120"/>
              </a:rPr>
              <a:t>GANDALF</a:t>
            </a:r>
            <a:endParaRPr lang="en-US" sz="16500" dirty="0"/>
          </a:p>
        </p:txBody>
      </p:sp>
      <p:sp>
        <p:nvSpPr>
          <p:cNvPr id="5" name="Text 3"/>
          <p:cNvSpPr/>
          <p:nvPr/>
        </p:nvSpPr>
        <p:spPr>
          <a:xfrm>
            <a:off x="990600" y="5978351"/>
            <a:ext cx="15716250" cy="491430"/>
          </a:xfrm>
          <a:prstGeom prst="rect">
            <a:avLst/>
          </a:prstGeom>
          <a:noFill/>
          <a:ln/>
        </p:spPr>
        <p:txBody>
          <a:bodyPr wrap="square" lIns="25400" tIns="25400" rIns="25400" bIns="25400" rtlCol="0" anchor="t">
            <a:normAutofit/>
          </a:bodyPr>
          <a:lstStyle/>
          <a:p>
            <a:pPr algn="l" indent="0" marL="0">
              <a:lnSpc>
                <a:spcPct val="122051"/>
              </a:lnSpc>
              <a:buNone/>
            </a:pPr>
            <a:r>
              <a:rPr lang="en-US" sz="2550" dirty="0">
                <a:solidFill>
                  <a:srgbClr val="C8C8C8"/>
                </a:solidFill>
                <a:latin typeface="Arial" pitchFamily="34" charset="0"/>
                <a:ea typeface="Arial" pitchFamily="34" charset="-122"/>
                <a:cs typeface="Arial" pitchFamily="34" charset="-120"/>
              </a:rPr>
              <a:t>Talk a chatbot out of a secret it was told to protect.</a:t>
            </a:r>
            <a:endParaRPr lang="en-US" sz="2550" dirty="0"/>
          </a:p>
        </p:txBody>
      </p:sp>
      <p:pic>
        <p:nvPicPr>
          <p:cNvPr id="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7" name="Text 4"/>
          <p:cNvSpPr/>
          <p:nvPr/>
        </p:nvSpPr>
        <p:spPr>
          <a:xfrm>
            <a:off x="13423329" y="9498806"/>
            <a:ext cx="4261478"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M0 · THREAT MODEL + RANGE CHECK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731815"/>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FD7EF5"/>
                </a:solidFill>
                <a:latin typeface="Courier New" pitchFamily="34" charset="0"/>
                <a:ea typeface="Courier New" pitchFamily="34" charset="-122"/>
                <a:cs typeface="Courier New" pitchFamily="34" charset="-120"/>
              </a:rPr>
              <a:t>THE ONE IDEA TO CARRY ALL WEEK</a:t>
            </a:r>
            <a:endParaRPr lang="en-US" sz="1650" dirty="0"/>
          </a:p>
        </p:txBody>
      </p:sp>
      <p:sp>
        <p:nvSpPr>
          <p:cNvPr id="3" name="Text 1"/>
          <p:cNvSpPr/>
          <p:nvPr/>
        </p:nvSpPr>
        <p:spPr>
          <a:xfrm>
            <a:off x="990600" y="3350940"/>
            <a:ext cx="16796004" cy="2404021"/>
          </a:xfrm>
          <a:prstGeom prst="rect">
            <a:avLst/>
          </a:prstGeom>
          <a:noFill/>
          <a:ln/>
        </p:spPr>
        <p:txBody>
          <a:bodyPr wrap="square" lIns="25400" tIns="25400" rIns="25400" bIns="25400" rtlCol="0" anchor="t">
            <a:normAutofit/>
          </a:bodyPr>
          <a:lstStyle/>
          <a:p>
            <a:pPr algn="l" indent="0" marL="0">
              <a:lnSpc>
                <a:spcPct val="78113"/>
              </a:lnSpc>
              <a:buNone/>
            </a:pPr>
            <a:r>
              <a:rPr lang="en-US" sz="6900" dirty="0">
                <a:solidFill>
                  <a:srgbClr val="FFFFFF"/>
                </a:solidFill>
                <a:latin typeface="Arial" pitchFamily="34" charset="0"/>
                <a:ea typeface="Arial" pitchFamily="34" charset="-122"/>
                <a:cs typeface="Arial" pitchFamily="34" charset="-120"/>
              </a:rPr>
              <a:t>YOU’RE NOT PROMPTING. YOU’RE SUPPLYING </a:t>
            </a:r>
            <a:pPr algn="l" indent="0" marL="0">
              <a:lnSpc>
                <a:spcPct val="78113"/>
              </a:lnSpc>
              <a:buNone/>
            </a:pPr>
            <a:r>
              <a:rPr lang="en-US" sz="6900" dirty="0">
                <a:solidFill>
                  <a:srgbClr val="FD7EF5"/>
                </a:solidFill>
                <a:latin typeface="Arial" pitchFamily="34" charset="0"/>
                <a:ea typeface="Arial" pitchFamily="34" charset="-122"/>
                <a:cs typeface="Arial" pitchFamily="34" charset="-120"/>
              </a:rPr>
              <a:t>UNTRUSTED INPUT THAT BECOMES INSTRUCTIONS.</a:t>
            </a:r>
            <a:endParaRPr lang="en-US" sz="6900" dirty="0"/>
          </a:p>
        </p:txBody>
      </p:sp>
      <p:sp>
        <p:nvSpPr>
          <p:cNvPr id="4" name="Text 2"/>
          <p:cNvSpPr/>
          <p:nvPr/>
        </p:nvSpPr>
        <p:spPr>
          <a:xfrm>
            <a:off x="990600" y="6135960"/>
            <a:ext cx="16187738" cy="866775"/>
          </a:xfrm>
          <a:prstGeom prst="rect">
            <a:avLst/>
          </a:prstGeom>
          <a:noFill/>
          <a:ln/>
        </p:spPr>
        <p:txBody>
          <a:bodyPr wrap="square" lIns="25400" tIns="25400" rIns="25400" bIns="25400" rtlCol="0" anchor="t">
            <a:normAutofit/>
          </a:bodyPr>
          <a:lstStyle/>
          <a:p>
            <a:pPr algn="l" indent="0" marL="0">
              <a:lnSpc>
                <a:spcPct val="126087"/>
              </a:lnSpc>
              <a:buNone/>
            </a:pPr>
            <a:r>
              <a:rPr lang="en-US" sz="2250" dirty="0">
                <a:solidFill>
                  <a:srgbClr val="C8C8C8"/>
                </a:solidFill>
                <a:latin typeface="Arial" pitchFamily="34" charset="0"/>
                <a:ea typeface="Arial" pitchFamily="34" charset="-122"/>
                <a:cs typeface="Arial" pitchFamily="34" charset="-120"/>
              </a:rPr>
              <a:t>Every layer we attack has a boundary where data crosses into instruction — the prompt, a retrieved doc, a tool description, another agent’s message. Find that boundary, own the system.</a:t>
            </a:r>
            <a:endParaRPr lang="en-US" sz="2250" dirty="0"/>
          </a:p>
        </p:txBody>
      </p:sp>
      <p:pic>
        <p:nvPicPr>
          <p:cNvPr id="5"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6" name="Text 3"/>
          <p:cNvSpPr/>
          <p:nvPr/>
        </p:nvSpPr>
        <p:spPr>
          <a:xfrm>
            <a:off x="13423329" y="9498806"/>
            <a:ext cx="4261478"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M0 · THREAT MODEL + RANGE CHECK</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2677269"/>
            <a:ext cx="17937480" cy="290513"/>
          </a:xfrm>
          <a:prstGeom prst="rect">
            <a:avLst/>
          </a:prstGeom>
          <a:noFill/>
          <a:ln/>
        </p:spPr>
        <p:txBody>
          <a:bodyPr wrap="square" lIns="25400" tIns="25400" rIns="25400" bIns="25400" rtlCol="0" anchor="t">
            <a:normAutofit/>
          </a:bodyPr>
          <a:lstStyle/>
          <a:p>
            <a:pPr algn="l" indent="0" marL="0">
              <a:buNone/>
            </a:pPr>
            <a:r>
              <a:rPr lang="en-US" sz="1500" spc="450" kern="0" dirty="0">
                <a:solidFill>
                  <a:srgbClr val="36CDFF"/>
                </a:solidFill>
                <a:latin typeface="Courier New" pitchFamily="34" charset="0"/>
                <a:ea typeface="Courier New" pitchFamily="34" charset="-122"/>
                <a:cs typeface="Courier New" pitchFamily="34" charset="-120"/>
              </a:rPr>
              <a:t>NEXT UP · M1</a:t>
            </a:r>
            <a:endParaRPr lang="en-US" sz="1500" dirty="0"/>
          </a:p>
        </p:txBody>
      </p:sp>
      <p:sp>
        <p:nvSpPr>
          <p:cNvPr id="3" name="Text 1"/>
          <p:cNvSpPr/>
          <p:nvPr/>
        </p:nvSpPr>
        <p:spPr>
          <a:xfrm>
            <a:off x="990600" y="3082082"/>
            <a:ext cx="16796004" cy="2438400"/>
          </a:xfrm>
          <a:prstGeom prst="rect">
            <a:avLst/>
          </a:prstGeom>
          <a:noFill/>
          <a:ln/>
        </p:spPr>
        <p:txBody>
          <a:bodyPr wrap="square" lIns="25400" tIns="25400" rIns="25400" bIns="25400" rtlCol="0" anchor="t">
            <a:normAutofit/>
          </a:bodyPr>
          <a:lstStyle/>
          <a:p>
            <a:pPr algn="l" indent="0" marL="0">
              <a:lnSpc>
                <a:spcPct val="72832"/>
              </a:lnSpc>
              <a:buNone/>
            </a:pPr>
            <a:r>
              <a:rPr lang="en-US" sz="11250" dirty="0">
                <a:solidFill>
                  <a:srgbClr val="FFFFFF"/>
                </a:solidFill>
                <a:latin typeface="Arial" pitchFamily="34" charset="0"/>
                <a:ea typeface="Arial" pitchFamily="34" charset="-122"/>
                <a:cs typeface="Arial" pitchFamily="34" charset="-120"/>
              </a:rPr>
              <a:t>PROMPT INJECTION</a:t>
            </a:r>
            <a:endParaRPr lang="en-US" sz="11250" dirty="0"/>
          </a:p>
        </p:txBody>
      </p:sp>
      <p:sp>
        <p:nvSpPr>
          <p:cNvPr id="4" name="Text 2"/>
          <p:cNvSpPr/>
          <p:nvPr/>
        </p:nvSpPr>
        <p:spPr>
          <a:xfrm>
            <a:off x="990600" y="5901482"/>
            <a:ext cx="17287875" cy="507653"/>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FFFFFF"/>
                </a:solidFill>
                <a:latin typeface="Arial" pitchFamily="34" charset="0"/>
                <a:ea typeface="Arial" pitchFamily="34" charset="-122"/>
                <a:cs typeface="Arial" pitchFamily="34" charset="-120"/>
              </a:rPr>
              <a:t>The flat surface. The crown jewel.</a:t>
            </a:r>
            <a:endParaRPr lang="en-US" sz="2550" dirty="0"/>
          </a:p>
        </p:txBody>
      </p:sp>
      <p:sp>
        <p:nvSpPr>
          <p:cNvPr id="5" name="Text 3"/>
          <p:cNvSpPr/>
          <p:nvPr/>
        </p:nvSpPr>
        <p:spPr>
          <a:xfrm>
            <a:off x="990600" y="6618684"/>
            <a:ext cx="17287875" cy="438596"/>
          </a:xfrm>
          <a:prstGeom prst="rect">
            <a:avLst/>
          </a:prstGeom>
          <a:noFill/>
          <a:ln/>
        </p:spPr>
        <p:txBody>
          <a:bodyPr wrap="square" lIns="25400" tIns="25400" rIns="25400" bIns="25400" rtlCol="0" anchor="t">
            <a:normAutofit/>
          </a:bodyPr>
          <a:lstStyle/>
          <a:p>
            <a:pPr algn="l" indent="0" marL="0">
              <a:lnSpc>
                <a:spcPct val="125522"/>
              </a:lnSpc>
              <a:buNone/>
            </a:pPr>
            <a:r>
              <a:rPr lang="en-US" sz="2175" dirty="0">
                <a:solidFill>
                  <a:srgbClr val="C8C8C8"/>
                </a:solidFill>
                <a:latin typeface="Arial" pitchFamily="34" charset="0"/>
                <a:ea typeface="Arial" pitchFamily="34" charset="-122"/>
                <a:cs typeface="Arial" pitchFamily="34" charset="-120"/>
              </a:rPr>
              <a:t>We start where the attacker’s input meets the model directly — extract a secret Halo was explicitly told to guard.</a:t>
            </a:r>
            <a:endParaRPr lang="en-US" sz="2175" dirty="0"/>
          </a:p>
        </p:txBody>
      </p:sp>
      <p:pic>
        <p:nvPicPr>
          <p:cNvPr id="6" name="Image 0" descr="preencoded.png">    </p:cNvPr>
          <p:cNvPicPr>
            <a:picLocks noChangeAspect="1"/>
          </p:cNvPicPr>
          <p:nvPr/>
        </p:nvPicPr>
        <p:blipFill>
          <a:blip r:embed="rId1"/>
          <a:stretch>
            <a:fillRect/>
          </a:stretch>
        </p:blipFill>
        <p:spPr>
          <a:xfrm>
            <a:off x="990600" y="9410700"/>
            <a:ext cx="1333500" cy="381000"/>
          </a:xfrm>
          <a:prstGeom prst="rect">
            <a:avLst/>
          </a:prstGeom>
        </p:spPr>
      </p:pic>
      <p:sp>
        <p:nvSpPr>
          <p:cNvPr id="7" name="Text 4"/>
          <p:cNvSpPr/>
          <p:nvPr/>
        </p:nvSpPr>
        <p:spPr>
          <a:xfrm>
            <a:off x="13423329" y="9498806"/>
            <a:ext cx="4261478"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M0 · THREAT MODEL + RANGE CHECK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990600" y="3018011"/>
            <a:ext cx="17937480" cy="314325"/>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36CDFF"/>
                </a:solidFill>
                <a:latin typeface="Courier New" pitchFamily="34" charset="0"/>
                <a:ea typeface="Courier New" pitchFamily="34" charset="-122"/>
                <a:cs typeface="Courier New" pitchFamily="34" charset="-120"/>
              </a:rPr>
              <a:t>MODULE M0 COMPLETE</a:t>
            </a:r>
            <a:endParaRPr lang="en-US" sz="1650" dirty="0"/>
          </a:p>
        </p:txBody>
      </p:sp>
      <p:sp>
        <p:nvSpPr>
          <p:cNvPr id="3" name="Text 1"/>
          <p:cNvSpPr/>
          <p:nvPr/>
        </p:nvSpPr>
        <p:spPr>
          <a:xfrm>
            <a:off x="990600" y="3579986"/>
            <a:ext cx="17937480" cy="2324100"/>
          </a:xfrm>
          <a:prstGeom prst="rect">
            <a:avLst/>
          </a:prstGeom>
          <a:noFill/>
          <a:ln/>
        </p:spPr>
        <p:txBody>
          <a:bodyPr wrap="square" lIns="25400" tIns="25400" rIns="25400" bIns="25400" rtlCol="0" anchor="t">
            <a:normAutofit/>
          </a:bodyPr>
          <a:lstStyle/>
          <a:p>
            <a:pPr algn="l" indent="0" marL="0">
              <a:lnSpc>
                <a:spcPct val="69565"/>
              </a:lnSpc>
              <a:buNone/>
            </a:pPr>
            <a:r>
              <a:rPr lang="en-US" sz="22500" b="1" dirty="0">
                <a:solidFill>
                  <a:srgbClr val="FFFFFF"/>
                </a:solidFill>
                <a:latin typeface="Arial" pitchFamily="34" charset="0"/>
                <a:ea typeface="Arial" pitchFamily="34" charset="-122"/>
                <a:cs typeface="Arial" pitchFamily="34" charset="-120"/>
              </a:rPr>
              <a:t>M0</a:t>
            </a:r>
            <a:pPr algn="l" indent="0" marL="0">
              <a:lnSpc>
                <a:spcPct val="69565"/>
              </a:lnSpc>
              <a:buNone/>
            </a:pPr>
            <a:r>
              <a:rPr lang="en-US" sz="22500" b="1" dirty="0">
                <a:solidFill>
                  <a:srgbClr val="FD7EF5"/>
                </a:solidFill>
                <a:latin typeface="Arial" pitchFamily="34" charset="0"/>
                <a:ea typeface="Arial" pitchFamily="34" charset="-122"/>
                <a:cs typeface="Arial" pitchFamily="34" charset="-120"/>
              </a:rPr>
              <a:t>.</a:t>
            </a:r>
            <a:endParaRPr lang="en-US" sz="22500" dirty="0"/>
          </a:p>
        </p:txBody>
      </p:sp>
      <p:sp>
        <p:nvSpPr>
          <p:cNvPr id="4" name="Text 2"/>
          <p:cNvSpPr/>
          <p:nvPr/>
        </p:nvSpPr>
        <p:spPr>
          <a:xfrm>
            <a:off x="990600" y="6208886"/>
            <a:ext cx="15716250" cy="507653"/>
          </a:xfrm>
          <a:prstGeom prst="rect">
            <a:avLst/>
          </a:prstGeom>
          <a:noFill/>
          <a:ln/>
        </p:spPr>
        <p:txBody>
          <a:bodyPr wrap="square" lIns="25400" tIns="25400" rIns="25400" bIns="25400" rtlCol="0" anchor="t">
            <a:normAutofit/>
          </a:bodyPr>
          <a:lstStyle/>
          <a:p>
            <a:pPr algn="l" indent="0" marL="0">
              <a:lnSpc>
                <a:spcPct val="126410"/>
              </a:lnSpc>
              <a:buNone/>
            </a:pPr>
            <a:r>
              <a:rPr lang="en-US" sz="2550" dirty="0">
                <a:solidFill>
                  <a:srgbClr val="C8C8C8"/>
                </a:solidFill>
                <a:latin typeface="Arial" pitchFamily="34" charset="0"/>
                <a:ea typeface="Arial" pitchFamily="34" charset="-122"/>
                <a:cs typeface="Arial" pitchFamily="34" charset="-120"/>
              </a:rPr>
              <a:t>Everyone green. Map installed. Let’s break something.</a:t>
            </a:r>
            <a:endParaRPr lang="en-US" sz="2550" dirty="0"/>
          </a:p>
        </p:txBody>
      </p:sp>
      <p:pic>
        <p:nvPicPr>
          <p:cNvPr id="5" name="Image 0" descr="preencoded.png">    </p:cNvPr>
          <p:cNvPicPr>
            <a:picLocks noChangeAspect="1"/>
          </p:cNvPicPr>
          <p:nvPr/>
        </p:nvPicPr>
        <p:blipFill>
          <a:blip r:embed="rId1"/>
          <a:stretch>
            <a:fillRect/>
          </a:stretch>
        </p:blipFill>
        <p:spPr>
          <a:xfrm>
            <a:off x="990600" y="9315450"/>
            <a:ext cx="1666875" cy="476250"/>
          </a:xfrm>
          <a:prstGeom prst="rect">
            <a:avLst/>
          </a:prstGeom>
        </p:spPr>
      </p:pic>
      <p:sp>
        <p:nvSpPr>
          <p:cNvPr id="6" name="Text 3"/>
          <p:cNvSpPr/>
          <p:nvPr/>
        </p:nvSpPr>
        <p:spPr>
          <a:xfrm>
            <a:off x="14797980" y="9451181"/>
            <a:ext cx="2749361" cy="242888"/>
          </a:xfrm>
          <a:prstGeom prst="rect">
            <a:avLst/>
          </a:prstGeom>
          <a:noFill/>
          <a:ln/>
        </p:spPr>
        <p:txBody>
          <a:bodyPr wrap="square" lIns="25400" tIns="25400" rIns="25400" bIns="25400" rtlCol="0" anchor="t">
            <a:normAutofit/>
          </a:bodyPr>
          <a:lstStyle/>
          <a:p>
            <a:pPr algn="l" indent="0" marL="0">
              <a:buNone/>
            </a:pPr>
            <a:r>
              <a:rPr lang="en-US" sz="1200" spc="264" kern="0" dirty="0">
                <a:solidFill>
                  <a:srgbClr val="969696"/>
                </a:solidFill>
                <a:latin typeface="Courier New" pitchFamily="34" charset="0"/>
                <a:ea typeface="Courier New" pitchFamily="34" charset="-122"/>
                <a:cs typeface="Courier New" pitchFamily="34" charset="-120"/>
              </a:rPr>
              <a:t>USA 2026 · TRAININGS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2026-07-31T03:55:11Z</dcterms:created>
  <dcterms:modified xsi:type="dcterms:W3CDTF">2026-07-31T03:55:11Z</dcterms:modified>
</cp:coreProperties>
</file>