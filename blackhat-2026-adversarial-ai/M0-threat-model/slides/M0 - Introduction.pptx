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7" r:id="rId12"/>
    <p:sldId id="269" r:id="rId13"/>
    <p:sldId id="266" r:id="rId14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523"/>
    <p:restoredTop sz="84993"/>
  </p:normalViewPr>
  <p:slideViewPr>
    <p:cSldViewPr snapToGrid="0" snapToObjects="1">
      <p:cViewPr varScale="1">
        <p:scale>
          <a:sx n="70" d="100"/>
          <a:sy n="70" d="100"/>
        </p:scale>
        <p:origin x="1032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605815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57150"/>
          </a:xfrm>
          <a:prstGeom prst="rect">
            <a:avLst/>
          </a:prstGeom>
          <a:gradFill rotWithShape="1">
            <a:gsLst>
              <a:gs pos="0">
                <a:srgbClr val="FD7EF5">
                  <a:alpha val="100000"/>
                </a:srgbClr>
              </a:gs>
              <a:gs pos="50000">
                <a:srgbClr val="FD7EF5">
                  <a:alpha val="100000"/>
                </a:srgbClr>
              </a:gs>
              <a:gs pos="50000">
                <a:srgbClr val="36CDFF">
                  <a:alpha val="100000"/>
                </a:srgbClr>
              </a:gs>
              <a:gs pos="100000">
                <a:srgbClr val="36CDFF">
                  <a:alpha val="100000"/>
                </a:srgbClr>
              </a:gs>
            </a:gsLst>
            <a:lin ang="0" scaled="0"/>
          </a:gra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762000"/>
            <a:ext cx="5005164" cy="1066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90600" y="3337620"/>
            <a:ext cx="1793748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kern="0" spc="495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BLACK HAT USA 2026 · KK MOOKHEY</a:t>
            </a:r>
            <a:endParaRPr lang="en-US" sz="1650" dirty="0"/>
          </a:p>
        </p:txBody>
      </p:sp>
      <p:sp>
        <p:nvSpPr>
          <p:cNvPr id="5" name="Text 2"/>
          <p:cNvSpPr/>
          <p:nvPr/>
        </p:nvSpPr>
        <p:spPr>
          <a:xfrm>
            <a:off x="990600" y="3880545"/>
            <a:ext cx="16796004" cy="27259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2174"/>
              </a:lnSpc>
              <a:buNone/>
            </a:pPr>
            <a:r>
              <a:rPr lang="en-US" sz="12750" b="1" kern="0" spc="127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ADVERSARIAL </a:t>
            </a:r>
            <a:r>
              <a:rPr lang="en-US" sz="12750" b="1" kern="0" spc="127" dirty="0">
                <a:solidFill>
                  <a:srgbClr val="FD7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</a:t>
            </a:r>
            <a:endParaRPr lang="en-US" sz="12750" dirty="0"/>
          </a:p>
        </p:txBody>
      </p:sp>
      <p:sp>
        <p:nvSpPr>
          <p:cNvPr id="6" name="Text 3"/>
          <p:cNvSpPr/>
          <p:nvPr/>
        </p:nvSpPr>
        <p:spPr>
          <a:xfrm>
            <a:off x="990600" y="6892230"/>
            <a:ext cx="14668500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739"/>
              </a:lnSpc>
              <a:buNone/>
            </a:pPr>
            <a:r>
              <a:rPr lang="en-US" sz="225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Red-Teaming the AI Supply Chain. Two days, one target, hands-on.</a:t>
            </a:r>
            <a:endParaRPr lang="en-US" sz="225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0600" y="9315450"/>
            <a:ext cx="1666875" cy="47625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1373240" y="9241185"/>
            <a:ext cx="5924160" cy="31335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52105"/>
              </a:lnSpc>
              <a:buNone/>
            </a:pPr>
            <a:r>
              <a:rPr lang="en-US" sz="1275" kern="0" spc="179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ADVERSARIAL AI · RED-TEAMING THE AI SUPPLY CHAIN</a:t>
            </a:r>
            <a:endParaRPr lang="en-US" sz="1275" dirty="0"/>
          </a:p>
        </p:txBody>
      </p:sp>
      <p:sp>
        <p:nvSpPr>
          <p:cNvPr id="9" name="Text 5"/>
          <p:cNvSpPr/>
          <p:nvPr/>
        </p:nvSpPr>
        <p:spPr>
          <a:xfrm>
            <a:off x="11373240" y="9516442"/>
            <a:ext cx="5924160" cy="31335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52105"/>
              </a:lnSpc>
              <a:buNone/>
            </a:pPr>
            <a:r>
              <a:rPr lang="en-US" sz="1275" kern="0" spc="179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DAY 1 · MODULE M0</a:t>
            </a:r>
            <a:endParaRPr lang="en-US" sz="1275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57150"/>
          </a:xfrm>
          <a:prstGeom prst="rect">
            <a:avLst/>
          </a:prstGeom>
          <a:solidFill>
            <a:srgbClr val="36CD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990600" y="3186633"/>
            <a:ext cx="17937480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kern="0" spc="663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MODULE M0</a:t>
            </a:r>
            <a:endParaRPr lang="en-US" sz="1950" dirty="0"/>
          </a:p>
        </p:txBody>
      </p:sp>
      <p:sp>
        <p:nvSpPr>
          <p:cNvPr id="4" name="Text 2"/>
          <p:cNvSpPr/>
          <p:nvPr/>
        </p:nvSpPr>
        <p:spPr>
          <a:xfrm>
            <a:off x="990600" y="3800996"/>
            <a:ext cx="16796004" cy="19125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1304"/>
              </a:lnSpc>
              <a:buNone/>
            </a:pPr>
            <a:r>
              <a:rPr lang="en-US" sz="9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THREAT MODEL + RANGE CHECK</a:t>
            </a:r>
            <a:endParaRPr lang="en-US" sz="9000" dirty="0"/>
          </a:p>
        </p:txBody>
      </p:sp>
      <p:sp>
        <p:nvSpPr>
          <p:cNvPr id="5" name="Text 3"/>
          <p:cNvSpPr/>
          <p:nvPr/>
        </p:nvSpPr>
        <p:spPr>
          <a:xfrm>
            <a:off x="990600" y="6056486"/>
            <a:ext cx="15716250" cy="4914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22051"/>
              </a:lnSpc>
              <a:buNone/>
            </a:pPr>
            <a:endParaRPr lang="en-US" sz="255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9410700"/>
            <a:ext cx="1333500" cy="3810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423329" y="9498806"/>
            <a:ext cx="4261478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264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M0 · THREAT MODEL + RANGE CHECK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2114624"/>
            <a:ext cx="17937480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kern="0" spc="45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RHYTHM OF EVERY MODULE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990600" y="2519437"/>
            <a:ext cx="16796004" cy="31583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3043"/>
              </a:lnSpc>
              <a:buNone/>
            </a:pPr>
            <a:r>
              <a:rPr lang="en-US" sz="97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→ BREAK → SECURE</a:t>
            </a:r>
            <a:endParaRPr lang="en-US" sz="9750" dirty="0"/>
          </a:p>
        </p:txBody>
      </p:sp>
      <p:sp>
        <p:nvSpPr>
          <p:cNvPr id="4" name="Text 2"/>
          <p:cNvSpPr/>
          <p:nvPr/>
        </p:nvSpPr>
        <p:spPr>
          <a:xfrm>
            <a:off x="990600" y="6058793"/>
            <a:ext cx="17287875" cy="5124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6410"/>
              </a:lnSpc>
              <a:buNone/>
            </a:pPr>
            <a:r>
              <a:rPr lang="en-US" sz="25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days. One target. Three verbs — </a:t>
            </a:r>
            <a:r>
              <a:rPr lang="en-US" sz="2550" b="1" dirty="0">
                <a:solidFill>
                  <a:srgbClr val="36C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module.</a:t>
            </a:r>
            <a:endParaRPr lang="en-US" sz="2550" dirty="0"/>
          </a:p>
        </p:txBody>
      </p:sp>
      <p:sp>
        <p:nvSpPr>
          <p:cNvPr id="5" name="Text 3"/>
          <p:cNvSpPr/>
          <p:nvPr/>
        </p:nvSpPr>
        <p:spPr>
          <a:xfrm>
            <a:off x="990600" y="6780758"/>
            <a:ext cx="16187738" cy="83909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522"/>
              </a:lnSpc>
              <a:buNone/>
            </a:pPr>
            <a:r>
              <a:rPr lang="en-US" sz="2175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 up a vulnerable layer, exploit it, then flip a single security flag and watch the exploit die. The diff between vulnerable and secure IS the lesson.</a:t>
            </a:r>
            <a:endParaRPr lang="en-US" sz="2175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9410700"/>
            <a:ext cx="1333500" cy="3810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423329" y="9498806"/>
            <a:ext cx="4261478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264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M0 · THREAT MODEL + RANGE CHECK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3023295"/>
            <a:ext cx="1793748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kern="0" spc="495" dirty="0">
                <a:solidFill>
                  <a:srgbClr val="FD7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CORE REFRAME</a:t>
            </a:r>
            <a:endParaRPr lang="en-US" sz="1650" dirty="0"/>
          </a:p>
        </p:txBody>
      </p:sp>
      <p:sp>
        <p:nvSpPr>
          <p:cNvPr id="3" name="Text 1"/>
          <p:cNvSpPr/>
          <p:nvPr/>
        </p:nvSpPr>
        <p:spPr>
          <a:xfrm>
            <a:off x="990600" y="3642420"/>
            <a:ext cx="16796004" cy="18210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8326"/>
              </a:lnSpc>
              <a:buNone/>
            </a:pPr>
            <a:r>
              <a:rPr lang="en-US" sz="7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ISN’T ONE THING YOU ATTACK. IT’S A </a:t>
            </a:r>
            <a:r>
              <a:rPr lang="en-US" sz="7800" dirty="0">
                <a:solidFill>
                  <a:srgbClr val="FD7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SUPPLY CHAIN.</a:t>
            </a:r>
            <a:endParaRPr lang="en-US" sz="78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9410700"/>
            <a:ext cx="1333500" cy="3810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3423329" y="9498806"/>
            <a:ext cx="4261478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264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M0 · THREAT MODEL + RANGE CHECK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3135660"/>
            <a:ext cx="17937480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kern="0" spc="45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MAP FOR TWO DAYS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990600" y="3540472"/>
            <a:ext cx="17937480" cy="8267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8113"/>
              </a:lnSpc>
              <a:buNone/>
            </a:pPr>
            <a:r>
              <a:rPr lang="en-US" sz="6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SPINE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90600" y="4824413"/>
            <a:ext cx="2380804" cy="766763"/>
          </a:xfrm>
          <a:prstGeom prst="roundRect">
            <a:avLst>
              <a:gd name="adj" fmla="val 9938"/>
            </a:avLst>
          </a:prstGeom>
          <a:ln w="9525">
            <a:solidFill>
              <a:srgbClr val="FFFFFF">
                <a:alpha val="14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38225" y="5062538"/>
            <a:ext cx="2285554" cy="3286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725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Chatbot</a:t>
            </a:r>
            <a:endParaRPr lang="en-US" sz="1725" dirty="0"/>
          </a:p>
        </p:txBody>
      </p:sp>
      <p:sp>
        <p:nvSpPr>
          <p:cNvPr id="6" name="Text 4"/>
          <p:cNvSpPr/>
          <p:nvPr/>
        </p:nvSpPr>
        <p:spPr>
          <a:xfrm>
            <a:off x="3504754" y="4824413"/>
            <a:ext cx="213866" cy="8048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3775770" y="4824413"/>
            <a:ext cx="2380878" cy="766763"/>
          </a:xfrm>
          <a:prstGeom prst="roundRect">
            <a:avLst>
              <a:gd name="adj" fmla="val 9938"/>
            </a:avLst>
          </a:prstGeom>
          <a:ln w="9525">
            <a:solidFill>
              <a:srgbClr val="FFFFFF">
                <a:alpha val="14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823395" y="5062538"/>
            <a:ext cx="2285628" cy="3286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725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RAG</a:t>
            </a:r>
            <a:endParaRPr lang="en-US" sz="1725" dirty="0"/>
          </a:p>
        </p:txBody>
      </p:sp>
      <p:sp>
        <p:nvSpPr>
          <p:cNvPr id="9" name="Text 7"/>
          <p:cNvSpPr/>
          <p:nvPr/>
        </p:nvSpPr>
        <p:spPr>
          <a:xfrm>
            <a:off x="6289997" y="4824413"/>
            <a:ext cx="213866" cy="8048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561013" y="4824413"/>
            <a:ext cx="2380804" cy="766763"/>
          </a:xfrm>
          <a:prstGeom prst="roundRect">
            <a:avLst>
              <a:gd name="adj" fmla="val 9938"/>
            </a:avLst>
          </a:prstGeom>
          <a:ln w="9525">
            <a:solidFill>
              <a:srgbClr val="FFFFFF">
                <a:alpha val="14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608638" y="5062538"/>
            <a:ext cx="2285554" cy="3286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725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</a:t>
            </a:r>
            <a:endParaRPr lang="en-US" sz="1725" dirty="0"/>
          </a:p>
        </p:txBody>
      </p:sp>
      <p:sp>
        <p:nvSpPr>
          <p:cNvPr id="12" name="Text 10"/>
          <p:cNvSpPr/>
          <p:nvPr/>
        </p:nvSpPr>
        <p:spPr>
          <a:xfrm>
            <a:off x="9075167" y="4824413"/>
            <a:ext cx="213866" cy="8048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9346183" y="4824413"/>
            <a:ext cx="2380878" cy="766763"/>
          </a:xfrm>
          <a:prstGeom prst="roundRect">
            <a:avLst>
              <a:gd name="adj" fmla="val 9938"/>
            </a:avLst>
          </a:prstGeom>
          <a:ln w="9525">
            <a:solidFill>
              <a:srgbClr val="FFFFFF">
                <a:alpha val="14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9393808" y="5062538"/>
            <a:ext cx="2285628" cy="3286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725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MCP</a:t>
            </a:r>
            <a:endParaRPr lang="en-US" sz="1725" dirty="0"/>
          </a:p>
        </p:txBody>
      </p:sp>
      <p:sp>
        <p:nvSpPr>
          <p:cNvPr id="15" name="Text 13"/>
          <p:cNvSpPr/>
          <p:nvPr/>
        </p:nvSpPr>
        <p:spPr>
          <a:xfrm>
            <a:off x="11860411" y="4824413"/>
            <a:ext cx="213866" cy="8048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12131427" y="4824413"/>
            <a:ext cx="2380804" cy="766763"/>
          </a:xfrm>
          <a:prstGeom prst="roundRect">
            <a:avLst>
              <a:gd name="adj" fmla="val 9938"/>
            </a:avLst>
          </a:prstGeom>
          <a:ln w="9525">
            <a:solidFill>
              <a:srgbClr val="FFFFFF">
                <a:alpha val="14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12179052" y="5062538"/>
            <a:ext cx="2285554" cy="3286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725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Multi-agent</a:t>
            </a:r>
            <a:endParaRPr lang="en-US" sz="1725" dirty="0"/>
          </a:p>
        </p:txBody>
      </p:sp>
      <p:sp>
        <p:nvSpPr>
          <p:cNvPr id="18" name="Text 16"/>
          <p:cNvSpPr/>
          <p:nvPr/>
        </p:nvSpPr>
        <p:spPr>
          <a:xfrm>
            <a:off x="14645580" y="4824413"/>
            <a:ext cx="213866" cy="8048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14916596" y="4824413"/>
            <a:ext cx="2380804" cy="766763"/>
          </a:xfrm>
          <a:prstGeom prst="roundRect">
            <a:avLst>
              <a:gd name="adj" fmla="val 9938"/>
            </a:avLst>
          </a:prstGeom>
          <a:ln w="9525">
            <a:solidFill>
              <a:srgbClr val="FFFFFF">
                <a:alpha val="14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14964221" y="5062538"/>
            <a:ext cx="2285554" cy="3286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725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Production</a:t>
            </a:r>
            <a:endParaRPr lang="en-US" sz="1725" dirty="0"/>
          </a:p>
        </p:txBody>
      </p:sp>
      <p:sp>
        <p:nvSpPr>
          <p:cNvPr id="21" name="Text 19"/>
          <p:cNvSpPr/>
          <p:nvPr/>
        </p:nvSpPr>
        <p:spPr>
          <a:xfrm>
            <a:off x="990600" y="6086475"/>
            <a:ext cx="17287875" cy="5124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6410"/>
              </a:lnSpc>
              <a:buNone/>
            </a:pPr>
            <a:r>
              <a:rPr lang="en-US" sz="25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layer adds attack surface. The OWASP LLM Top 10 lands </a:t>
            </a:r>
            <a:r>
              <a:rPr lang="en-US" sz="2550" b="1" dirty="0">
                <a:solidFill>
                  <a:srgbClr val="FD7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it lives </a:t>
            </a:r>
            <a:r>
              <a:rPr lang="en-US" sz="25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not as a checklist.</a:t>
            </a:r>
            <a:endParaRPr lang="en-US" sz="2550" dirty="0"/>
          </a:p>
        </p:txBody>
      </p:sp>
      <p:pic>
        <p:nvPicPr>
          <p:cNvPr id="2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9410700"/>
            <a:ext cx="1333500" cy="381000"/>
          </a:xfrm>
          <a:prstGeom prst="rect">
            <a:avLst/>
          </a:prstGeom>
        </p:spPr>
      </p:pic>
      <p:sp>
        <p:nvSpPr>
          <p:cNvPr id="23" name="Text 20"/>
          <p:cNvSpPr/>
          <p:nvPr/>
        </p:nvSpPr>
        <p:spPr>
          <a:xfrm>
            <a:off x="13423329" y="9498806"/>
            <a:ext cx="4261478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264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M0 · THREAT MODEL + RANGE CHECK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2694980"/>
            <a:ext cx="17937480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kern="0" spc="45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TARGET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990600" y="3099792"/>
            <a:ext cx="17937480" cy="8267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8113"/>
              </a:lnSpc>
              <a:buNone/>
            </a:pPr>
            <a:r>
              <a:rPr lang="en-US" sz="6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MEET THE TARGET: </a:t>
            </a:r>
            <a:r>
              <a:rPr lang="en-US" sz="6900" b="1" dirty="0">
                <a:solidFill>
                  <a:srgbClr val="FD7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EIGER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90600" y="4269432"/>
            <a:ext cx="17811750" cy="50266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3795"/>
              </a:lnSpc>
              <a:buNone/>
            </a:pPr>
            <a:r>
              <a:rPr lang="en-US" sz="25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AI-first </a:t>
            </a:r>
            <a:r>
              <a:rPr lang="en-US" sz="2550" b="1" dirty="0">
                <a:solidFill>
                  <a:srgbClr val="36C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neobank. </a:t>
            </a:r>
            <a:r>
              <a:rPr lang="en-US" sz="25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Its assistant is </a:t>
            </a:r>
            <a:r>
              <a:rPr lang="en-US" sz="2550" b="1" dirty="0">
                <a:solidFill>
                  <a:srgbClr val="36C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Iggy.</a:t>
            </a:r>
            <a:endParaRPr lang="en-US" sz="2550" dirty="0"/>
          </a:p>
        </p:txBody>
      </p:sp>
      <p:sp>
        <p:nvSpPr>
          <p:cNvPr id="5" name="Text 3"/>
          <p:cNvSpPr/>
          <p:nvPr/>
        </p:nvSpPr>
        <p:spPr>
          <a:xfrm>
            <a:off x="990600" y="5019749"/>
            <a:ext cx="17811750" cy="4385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522"/>
              </a:lnSpc>
              <a:buNone/>
            </a:pPr>
            <a:r>
              <a:rPr lang="en-US" sz="2175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Money movement plus PII means real stakes on every lab.</a:t>
            </a:r>
            <a:endParaRPr lang="en-US" sz="2175" dirty="0"/>
          </a:p>
        </p:txBody>
      </p:sp>
      <p:sp>
        <p:nvSpPr>
          <p:cNvPr id="6" name="Shape 4"/>
          <p:cNvSpPr/>
          <p:nvPr/>
        </p:nvSpPr>
        <p:spPr>
          <a:xfrm>
            <a:off x="990600" y="6991871"/>
            <a:ext cx="16192500" cy="9525"/>
          </a:xfrm>
          <a:prstGeom prst="rect">
            <a:avLst/>
          </a:prstGeom>
          <a:solidFill>
            <a:srgbClr val="FD7EF5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990600" y="5763146"/>
            <a:ext cx="16192500" cy="9525"/>
          </a:xfrm>
          <a:prstGeom prst="rect">
            <a:avLst/>
          </a:prstGeom>
          <a:solidFill>
            <a:srgbClr val="FD7EF5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990600" y="5763146"/>
            <a:ext cx="38100" cy="1238250"/>
          </a:xfrm>
          <a:prstGeom prst="rect">
            <a:avLst/>
          </a:prstGeom>
          <a:solidFill>
            <a:srgbClr val="FD7E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17173575" y="5763146"/>
            <a:ext cx="9525" cy="1238250"/>
          </a:xfrm>
          <a:prstGeom prst="rect">
            <a:avLst/>
          </a:prstGeom>
          <a:solidFill>
            <a:srgbClr val="FD7EF5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1371600" y="6039371"/>
            <a:ext cx="17004983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192" dirty="0">
                <a:solidFill>
                  <a:srgbClr val="FD7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WHY IT MATTERS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371600" y="6339408"/>
            <a:ext cx="17004983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0645"/>
              </a:lnSpc>
              <a:buNone/>
            </a:pPr>
            <a:r>
              <a:rPr lang="en-US" sz="2025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company for two days. You </a:t>
            </a:r>
            <a:r>
              <a:rPr lang="en-US" sz="2025" dirty="0" err="1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pwn</a:t>
            </a:r>
            <a:r>
              <a:rPr lang="en-US" sz="2025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EIGER end to end — leak a secret, move money, approve a fraudulent dispute. Nothing abstract.</a:t>
            </a:r>
            <a:endParaRPr lang="en-US" sz="2025" dirty="0"/>
          </a:p>
        </p:txBody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9410700"/>
            <a:ext cx="1333500" cy="38100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13423329" y="9498806"/>
            <a:ext cx="4261478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264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M0 · THREAT MODEL + RANGE CHECK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1317278"/>
            <a:ext cx="17937480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kern="0" spc="45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COURSE MAP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990600" y="1722090"/>
            <a:ext cx="17937480" cy="6895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8171"/>
              </a:lnSpc>
              <a:buNone/>
            </a:pPr>
            <a:r>
              <a:rPr lang="en-US" sz="5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IGGY GROWS TEETH EACH MODULE</a:t>
            </a:r>
            <a:endParaRPr lang="en-US" sz="5700" dirty="0"/>
          </a:p>
        </p:txBody>
      </p:sp>
      <p:sp>
        <p:nvSpPr>
          <p:cNvPr id="4" name="Shape 2"/>
          <p:cNvSpPr/>
          <p:nvPr/>
        </p:nvSpPr>
        <p:spPr>
          <a:xfrm>
            <a:off x="990600" y="2754585"/>
            <a:ext cx="16306800" cy="19050"/>
          </a:xfrm>
          <a:prstGeom prst="rect">
            <a:avLst/>
          </a:pr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200150" y="2945085"/>
            <a:ext cx="4998963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135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LAYER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460406" y="2945085"/>
            <a:ext cx="7707957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135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WHAT’S NEW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14350752" y="2945085"/>
            <a:ext cx="2831784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135" dirty="0">
                <a:solidFill>
                  <a:srgbClr val="FD7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MODULE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990600" y="3345135"/>
            <a:ext cx="5260256" cy="9525"/>
          </a:xfrm>
          <a:prstGeom prst="rect">
            <a:avLst/>
          </a:prstGeom>
          <a:solidFill>
            <a:srgbClr val="FFFFFF">
              <a:alpha val="13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200150" y="3564210"/>
            <a:ext cx="4998963" cy="35956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6379"/>
              </a:lnSpc>
              <a:buNone/>
            </a:pPr>
            <a:r>
              <a:rPr lang="en-US" sz="187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L0 chatbot</a:t>
            </a:r>
            <a:endParaRPr lang="en-US" sz="1875" dirty="0"/>
          </a:p>
        </p:txBody>
      </p:sp>
      <p:sp>
        <p:nvSpPr>
          <p:cNvPr id="10" name="Shape 8"/>
          <p:cNvSpPr/>
          <p:nvPr/>
        </p:nvSpPr>
        <p:spPr>
          <a:xfrm>
            <a:off x="6250856" y="3345135"/>
            <a:ext cx="7890346" cy="9525"/>
          </a:xfrm>
          <a:prstGeom prst="rect">
            <a:avLst/>
          </a:prstGeom>
          <a:solidFill>
            <a:srgbClr val="FFFFFF">
              <a:alpha val="13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460406" y="3564210"/>
            <a:ext cx="7707957" cy="35956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6379"/>
              </a:lnSpc>
              <a:buNone/>
            </a:pPr>
            <a:r>
              <a:rPr lang="en-US" sz="1875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injection</a:t>
            </a:r>
            <a:endParaRPr lang="en-US" sz="1875" dirty="0"/>
          </a:p>
        </p:txBody>
      </p:sp>
      <p:sp>
        <p:nvSpPr>
          <p:cNvPr id="12" name="Shape 10"/>
          <p:cNvSpPr/>
          <p:nvPr/>
        </p:nvSpPr>
        <p:spPr>
          <a:xfrm>
            <a:off x="14141202" y="3345135"/>
            <a:ext cx="3156198" cy="9525"/>
          </a:xfrm>
          <a:prstGeom prst="rect">
            <a:avLst/>
          </a:prstGeom>
          <a:solidFill>
            <a:srgbClr val="FFFFFF">
              <a:alpha val="13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14350752" y="3564210"/>
            <a:ext cx="2831784" cy="35956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6379"/>
              </a:lnSpc>
              <a:buNone/>
            </a:pPr>
            <a:r>
              <a:rPr lang="en-US" sz="1875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</a:t>
            </a:r>
            <a:endParaRPr lang="en-US" sz="1875" dirty="0"/>
          </a:p>
        </p:txBody>
      </p:sp>
      <p:sp>
        <p:nvSpPr>
          <p:cNvPr id="14" name="Shape 12"/>
          <p:cNvSpPr/>
          <p:nvPr/>
        </p:nvSpPr>
        <p:spPr>
          <a:xfrm>
            <a:off x="990600" y="4095229"/>
            <a:ext cx="5260256" cy="750094"/>
          </a:xfrm>
          <a:prstGeom prst="rect">
            <a:avLst/>
          </a:prstGeom>
          <a:solidFill>
            <a:srgbClr val="36CDFF">
              <a:alpha val="7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990600" y="4095229"/>
            <a:ext cx="5260256" cy="9525"/>
          </a:xfrm>
          <a:prstGeom prst="rect">
            <a:avLst/>
          </a:prstGeom>
          <a:solidFill>
            <a:srgbClr val="FFFFFF">
              <a:alpha val="13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1200150" y="4314304"/>
            <a:ext cx="4998963" cy="35956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6379"/>
              </a:lnSpc>
              <a:buNone/>
            </a:pPr>
            <a:r>
              <a:rPr lang="en-US" sz="187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L1 RAG</a:t>
            </a:r>
            <a:endParaRPr lang="en-US" sz="1875" dirty="0"/>
          </a:p>
        </p:txBody>
      </p:sp>
      <p:sp>
        <p:nvSpPr>
          <p:cNvPr id="17" name="Shape 15"/>
          <p:cNvSpPr/>
          <p:nvPr/>
        </p:nvSpPr>
        <p:spPr>
          <a:xfrm>
            <a:off x="6250856" y="4095229"/>
            <a:ext cx="7890346" cy="750094"/>
          </a:xfrm>
          <a:prstGeom prst="rect">
            <a:avLst/>
          </a:prstGeom>
          <a:solidFill>
            <a:srgbClr val="36CDFF">
              <a:alpha val="7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6250856" y="4095229"/>
            <a:ext cx="7890346" cy="9525"/>
          </a:xfrm>
          <a:prstGeom prst="rect">
            <a:avLst/>
          </a:prstGeom>
          <a:solidFill>
            <a:srgbClr val="FFFFFF">
              <a:alpha val="13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460406" y="4314304"/>
            <a:ext cx="7707957" cy="35956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6379"/>
              </a:lnSpc>
              <a:buNone/>
            </a:pPr>
            <a:r>
              <a:rPr lang="en-US" sz="1875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indirect injection</a:t>
            </a:r>
            <a:endParaRPr lang="en-US" sz="1875" dirty="0"/>
          </a:p>
        </p:txBody>
      </p:sp>
      <p:sp>
        <p:nvSpPr>
          <p:cNvPr id="20" name="Shape 18"/>
          <p:cNvSpPr/>
          <p:nvPr/>
        </p:nvSpPr>
        <p:spPr>
          <a:xfrm>
            <a:off x="14141202" y="4095229"/>
            <a:ext cx="3156198" cy="750094"/>
          </a:xfrm>
          <a:prstGeom prst="rect">
            <a:avLst/>
          </a:prstGeom>
          <a:solidFill>
            <a:srgbClr val="36CDFF">
              <a:alpha val="7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14141202" y="4095229"/>
            <a:ext cx="3156198" cy="9525"/>
          </a:xfrm>
          <a:prstGeom prst="rect">
            <a:avLst/>
          </a:prstGeom>
          <a:solidFill>
            <a:srgbClr val="FFFFFF">
              <a:alpha val="13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14350752" y="4314304"/>
            <a:ext cx="2831784" cy="35956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6379"/>
              </a:lnSpc>
              <a:buNone/>
            </a:pPr>
            <a:r>
              <a:rPr lang="en-US" sz="1875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</a:t>
            </a:r>
            <a:endParaRPr lang="en-US" sz="1875" dirty="0"/>
          </a:p>
        </p:txBody>
      </p:sp>
      <p:sp>
        <p:nvSpPr>
          <p:cNvPr id="23" name="Shape 21"/>
          <p:cNvSpPr/>
          <p:nvPr/>
        </p:nvSpPr>
        <p:spPr>
          <a:xfrm>
            <a:off x="990600" y="4845323"/>
            <a:ext cx="5260256" cy="9525"/>
          </a:xfrm>
          <a:prstGeom prst="rect">
            <a:avLst/>
          </a:prstGeom>
          <a:solidFill>
            <a:srgbClr val="FFFFFF">
              <a:alpha val="13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1200150" y="5064398"/>
            <a:ext cx="4998963" cy="35956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6379"/>
              </a:lnSpc>
              <a:buNone/>
            </a:pPr>
            <a:r>
              <a:rPr lang="en-US" sz="187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L2 agent</a:t>
            </a:r>
            <a:endParaRPr lang="en-US" sz="1875" dirty="0"/>
          </a:p>
        </p:txBody>
      </p:sp>
      <p:sp>
        <p:nvSpPr>
          <p:cNvPr id="25" name="Shape 23"/>
          <p:cNvSpPr/>
          <p:nvPr/>
        </p:nvSpPr>
        <p:spPr>
          <a:xfrm>
            <a:off x="6250856" y="4845323"/>
            <a:ext cx="7890346" cy="9525"/>
          </a:xfrm>
          <a:prstGeom prst="rect">
            <a:avLst/>
          </a:prstGeom>
          <a:solidFill>
            <a:srgbClr val="FFFFFF">
              <a:alpha val="13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6460406" y="5064398"/>
            <a:ext cx="7707957" cy="35956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6379"/>
              </a:lnSpc>
              <a:buNone/>
            </a:pPr>
            <a:r>
              <a:rPr lang="en-US" sz="1875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 abuse</a:t>
            </a:r>
            <a:endParaRPr lang="en-US" sz="1875" dirty="0"/>
          </a:p>
        </p:txBody>
      </p:sp>
      <p:sp>
        <p:nvSpPr>
          <p:cNvPr id="27" name="Shape 25"/>
          <p:cNvSpPr/>
          <p:nvPr/>
        </p:nvSpPr>
        <p:spPr>
          <a:xfrm>
            <a:off x="14141202" y="4845323"/>
            <a:ext cx="3156198" cy="9525"/>
          </a:xfrm>
          <a:prstGeom prst="rect">
            <a:avLst/>
          </a:prstGeom>
          <a:solidFill>
            <a:srgbClr val="FFFFFF">
              <a:alpha val="13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14350752" y="5064398"/>
            <a:ext cx="2831784" cy="35956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6379"/>
              </a:lnSpc>
              <a:buNone/>
            </a:pPr>
            <a:r>
              <a:rPr lang="en-US" sz="1875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M5</a:t>
            </a:r>
            <a:endParaRPr lang="en-US" sz="1875" dirty="0"/>
          </a:p>
        </p:txBody>
      </p:sp>
      <p:sp>
        <p:nvSpPr>
          <p:cNvPr id="29" name="Shape 27"/>
          <p:cNvSpPr/>
          <p:nvPr/>
        </p:nvSpPr>
        <p:spPr>
          <a:xfrm>
            <a:off x="990600" y="5595417"/>
            <a:ext cx="5260256" cy="750094"/>
          </a:xfrm>
          <a:prstGeom prst="rect">
            <a:avLst/>
          </a:prstGeom>
          <a:solidFill>
            <a:srgbClr val="36CDFF">
              <a:alpha val="7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990600" y="5595417"/>
            <a:ext cx="5260256" cy="9525"/>
          </a:xfrm>
          <a:prstGeom prst="rect">
            <a:avLst/>
          </a:prstGeom>
          <a:solidFill>
            <a:srgbClr val="FFFFFF">
              <a:alpha val="13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1200150" y="5814492"/>
            <a:ext cx="4998963" cy="35956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6379"/>
              </a:lnSpc>
              <a:buNone/>
            </a:pPr>
            <a:r>
              <a:rPr lang="en-US" sz="187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L3 MCP</a:t>
            </a:r>
            <a:endParaRPr lang="en-US" sz="1875" dirty="0"/>
          </a:p>
        </p:txBody>
      </p:sp>
      <p:sp>
        <p:nvSpPr>
          <p:cNvPr id="32" name="Shape 30"/>
          <p:cNvSpPr/>
          <p:nvPr/>
        </p:nvSpPr>
        <p:spPr>
          <a:xfrm>
            <a:off x="6250856" y="5595417"/>
            <a:ext cx="7890346" cy="750094"/>
          </a:xfrm>
          <a:prstGeom prst="rect">
            <a:avLst/>
          </a:prstGeom>
          <a:solidFill>
            <a:srgbClr val="36CDFF">
              <a:alpha val="7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6250856" y="5595417"/>
            <a:ext cx="7890346" cy="9525"/>
          </a:xfrm>
          <a:prstGeom prst="rect">
            <a:avLst/>
          </a:prstGeom>
          <a:solidFill>
            <a:srgbClr val="FFFFFF">
              <a:alpha val="13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6460406" y="5814492"/>
            <a:ext cx="7707957" cy="35956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6379"/>
              </a:lnSpc>
              <a:buNone/>
            </a:pPr>
            <a:r>
              <a:rPr lang="en-US" sz="1875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 poisoning</a:t>
            </a:r>
            <a:endParaRPr lang="en-US" sz="1875" dirty="0"/>
          </a:p>
        </p:txBody>
      </p:sp>
      <p:sp>
        <p:nvSpPr>
          <p:cNvPr id="35" name="Shape 33"/>
          <p:cNvSpPr/>
          <p:nvPr/>
        </p:nvSpPr>
        <p:spPr>
          <a:xfrm>
            <a:off x="14141202" y="5595417"/>
            <a:ext cx="3156198" cy="750094"/>
          </a:xfrm>
          <a:prstGeom prst="rect">
            <a:avLst/>
          </a:prstGeom>
          <a:solidFill>
            <a:srgbClr val="36CDFF">
              <a:alpha val="7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14141202" y="5595417"/>
            <a:ext cx="3156198" cy="9525"/>
          </a:xfrm>
          <a:prstGeom prst="rect">
            <a:avLst/>
          </a:prstGeom>
          <a:solidFill>
            <a:srgbClr val="FFFFFF">
              <a:alpha val="13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14350752" y="5814492"/>
            <a:ext cx="2831784" cy="35956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6379"/>
              </a:lnSpc>
              <a:buNone/>
            </a:pPr>
            <a:r>
              <a:rPr lang="en-US" sz="1875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M6</a:t>
            </a:r>
            <a:endParaRPr lang="en-US" sz="1875" dirty="0"/>
          </a:p>
        </p:txBody>
      </p:sp>
      <p:sp>
        <p:nvSpPr>
          <p:cNvPr id="38" name="Shape 36"/>
          <p:cNvSpPr/>
          <p:nvPr/>
        </p:nvSpPr>
        <p:spPr>
          <a:xfrm>
            <a:off x="990600" y="6345510"/>
            <a:ext cx="5260256" cy="9525"/>
          </a:xfrm>
          <a:prstGeom prst="rect">
            <a:avLst/>
          </a:prstGeom>
          <a:solidFill>
            <a:srgbClr val="FFFFFF">
              <a:alpha val="13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1200150" y="6564585"/>
            <a:ext cx="4998963" cy="35956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6379"/>
              </a:lnSpc>
              <a:buNone/>
            </a:pPr>
            <a:r>
              <a:rPr lang="en-US" sz="187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L4 multi-agent</a:t>
            </a:r>
            <a:endParaRPr lang="en-US" sz="1875" dirty="0"/>
          </a:p>
        </p:txBody>
      </p:sp>
      <p:sp>
        <p:nvSpPr>
          <p:cNvPr id="40" name="Shape 38"/>
          <p:cNvSpPr/>
          <p:nvPr/>
        </p:nvSpPr>
        <p:spPr>
          <a:xfrm>
            <a:off x="6250856" y="6345510"/>
            <a:ext cx="7890346" cy="9525"/>
          </a:xfrm>
          <a:prstGeom prst="rect">
            <a:avLst/>
          </a:prstGeom>
          <a:solidFill>
            <a:srgbClr val="FFFFFF">
              <a:alpha val="13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6460406" y="6564585"/>
            <a:ext cx="7707957" cy="35956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6379"/>
              </a:lnSpc>
              <a:buNone/>
            </a:pPr>
            <a:r>
              <a:rPr lang="en-US" sz="1875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cascading trust</a:t>
            </a:r>
            <a:endParaRPr lang="en-US" sz="1875" dirty="0"/>
          </a:p>
        </p:txBody>
      </p:sp>
      <p:sp>
        <p:nvSpPr>
          <p:cNvPr id="42" name="Shape 40"/>
          <p:cNvSpPr/>
          <p:nvPr/>
        </p:nvSpPr>
        <p:spPr>
          <a:xfrm>
            <a:off x="14141202" y="6345510"/>
            <a:ext cx="3156198" cy="9525"/>
          </a:xfrm>
          <a:prstGeom prst="rect">
            <a:avLst/>
          </a:prstGeom>
          <a:solidFill>
            <a:srgbClr val="FFFFFF">
              <a:alpha val="13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14350752" y="6564585"/>
            <a:ext cx="2831784" cy="35956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6379"/>
              </a:lnSpc>
              <a:buNone/>
            </a:pPr>
            <a:r>
              <a:rPr lang="en-US" sz="1875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M7</a:t>
            </a:r>
            <a:endParaRPr lang="en-US" sz="1875" dirty="0"/>
          </a:p>
        </p:txBody>
      </p:sp>
      <p:sp>
        <p:nvSpPr>
          <p:cNvPr id="44" name="Shape 42"/>
          <p:cNvSpPr/>
          <p:nvPr/>
        </p:nvSpPr>
        <p:spPr>
          <a:xfrm>
            <a:off x="990600" y="7095604"/>
            <a:ext cx="5260256" cy="750094"/>
          </a:xfrm>
          <a:prstGeom prst="rect">
            <a:avLst/>
          </a:prstGeom>
          <a:solidFill>
            <a:srgbClr val="36CDFF">
              <a:alpha val="7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5" name="Shape 43"/>
          <p:cNvSpPr/>
          <p:nvPr/>
        </p:nvSpPr>
        <p:spPr>
          <a:xfrm>
            <a:off x="990600" y="7095604"/>
            <a:ext cx="5260256" cy="9525"/>
          </a:xfrm>
          <a:prstGeom prst="rect">
            <a:avLst/>
          </a:prstGeom>
          <a:solidFill>
            <a:srgbClr val="FFFFFF">
              <a:alpha val="13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6" name="Text 44"/>
          <p:cNvSpPr/>
          <p:nvPr/>
        </p:nvSpPr>
        <p:spPr>
          <a:xfrm>
            <a:off x="1200150" y="7314679"/>
            <a:ext cx="4998963" cy="35956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6379"/>
              </a:lnSpc>
              <a:buNone/>
            </a:pPr>
            <a:r>
              <a:rPr lang="en-US" sz="187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L5 production</a:t>
            </a:r>
            <a:endParaRPr lang="en-US" sz="1875" dirty="0"/>
          </a:p>
        </p:txBody>
      </p:sp>
      <p:sp>
        <p:nvSpPr>
          <p:cNvPr id="47" name="Shape 45"/>
          <p:cNvSpPr/>
          <p:nvPr/>
        </p:nvSpPr>
        <p:spPr>
          <a:xfrm>
            <a:off x="6250856" y="7095604"/>
            <a:ext cx="7890346" cy="750094"/>
          </a:xfrm>
          <a:prstGeom prst="rect">
            <a:avLst/>
          </a:prstGeom>
          <a:solidFill>
            <a:srgbClr val="36CDFF">
              <a:alpha val="7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8" name="Shape 46"/>
          <p:cNvSpPr/>
          <p:nvPr/>
        </p:nvSpPr>
        <p:spPr>
          <a:xfrm>
            <a:off x="6250856" y="7095604"/>
            <a:ext cx="7890346" cy="9525"/>
          </a:xfrm>
          <a:prstGeom prst="rect">
            <a:avLst/>
          </a:prstGeom>
          <a:solidFill>
            <a:srgbClr val="FFFFFF">
              <a:alpha val="13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9" name="Text 47"/>
          <p:cNvSpPr/>
          <p:nvPr/>
        </p:nvSpPr>
        <p:spPr>
          <a:xfrm>
            <a:off x="6460406" y="7314679"/>
            <a:ext cx="7707957" cy="35956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6379"/>
              </a:lnSpc>
              <a:buNone/>
            </a:pPr>
            <a:r>
              <a:rPr lang="en-US" sz="1875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bypass plus defend</a:t>
            </a:r>
            <a:endParaRPr lang="en-US" sz="1875" dirty="0"/>
          </a:p>
        </p:txBody>
      </p:sp>
      <p:sp>
        <p:nvSpPr>
          <p:cNvPr id="50" name="Shape 48"/>
          <p:cNvSpPr/>
          <p:nvPr/>
        </p:nvSpPr>
        <p:spPr>
          <a:xfrm>
            <a:off x="14141202" y="7095604"/>
            <a:ext cx="3156198" cy="750094"/>
          </a:xfrm>
          <a:prstGeom prst="rect">
            <a:avLst/>
          </a:prstGeom>
          <a:solidFill>
            <a:srgbClr val="36CDFF">
              <a:alpha val="7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1" name="Shape 49"/>
          <p:cNvSpPr/>
          <p:nvPr/>
        </p:nvSpPr>
        <p:spPr>
          <a:xfrm>
            <a:off x="14141202" y="7095604"/>
            <a:ext cx="3156198" cy="9525"/>
          </a:xfrm>
          <a:prstGeom prst="rect">
            <a:avLst/>
          </a:prstGeom>
          <a:solidFill>
            <a:srgbClr val="FFFFFF">
              <a:alpha val="13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2" name="Text 50"/>
          <p:cNvSpPr/>
          <p:nvPr/>
        </p:nvSpPr>
        <p:spPr>
          <a:xfrm>
            <a:off x="14350752" y="7314679"/>
            <a:ext cx="2831784" cy="35956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6379"/>
              </a:lnSpc>
              <a:buNone/>
            </a:pPr>
            <a:r>
              <a:rPr lang="en-US" sz="1875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M8</a:t>
            </a:r>
            <a:endParaRPr lang="en-US" sz="1875" dirty="0"/>
          </a:p>
        </p:txBody>
      </p:sp>
      <p:sp>
        <p:nvSpPr>
          <p:cNvPr id="53" name="Text 51"/>
          <p:cNvSpPr/>
          <p:nvPr/>
        </p:nvSpPr>
        <p:spPr>
          <a:xfrm>
            <a:off x="990600" y="8131448"/>
            <a:ext cx="17811750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696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 (output handling) rides on L0/L1 · M4 (supply-chain poisoning) targets the L1 data and model — same layers, new attacks.</a:t>
            </a:r>
            <a:endParaRPr lang="en-US" sz="1800" dirty="0"/>
          </a:p>
        </p:txBody>
      </p:sp>
      <p:pic>
        <p:nvPicPr>
          <p:cNvPr id="5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9410700"/>
            <a:ext cx="1333500" cy="381000"/>
          </a:xfrm>
          <a:prstGeom prst="rect">
            <a:avLst/>
          </a:prstGeom>
        </p:spPr>
      </p:pic>
      <p:sp>
        <p:nvSpPr>
          <p:cNvPr id="55" name="Text 52"/>
          <p:cNvSpPr/>
          <p:nvPr/>
        </p:nvSpPr>
        <p:spPr>
          <a:xfrm>
            <a:off x="13423329" y="9498806"/>
            <a:ext cx="4261478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264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M0 · THREAT MODEL + RANGE CHECK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2973363"/>
            <a:ext cx="17937480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kern="0" spc="45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GRADING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990600" y="3378175"/>
            <a:ext cx="17937480" cy="8610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8190"/>
              </a:lnSpc>
              <a:buNone/>
            </a:pPr>
            <a:r>
              <a:rPr lang="en-US" sz="7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YOU KNOW YOU WON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90600" y="4582120"/>
            <a:ext cx="17811750" cy="50266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3795"/>
              </a:lnSpc>
              <a:buNone/>
            </a:pPr>
            <a:r>
              <a:rPr lang="en-US" sz="25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Pass/fail is a </a:t>
            </a:r>
            <a:r>
              <a:rPr lang="en-US" sz="2550" b="1" dirty="0">
                <a:solidFill>
                  <a:srgbClr val="36C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server-side audit log </a:t>
            </a:r>
            <a:r>
              <a:rPr lang="en-US" sz="25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not what the model </a:t>
            </a:r>
            <a:r>
              <a:rPr lang="en-US" sz="255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said.</a:t>
            </a:r>
            <a:endParaRPr lang="en-US" sz="2550" dirty="0"/>
          </a:p>
        </p:txBody>
      </p:sp>
      <p:sp>
        <p:nvSpPr>
          <p:cNvPr id="5" name="Shape 3"/>
          <p:cNvSpPr/>
          <p:nvPr/>
        </p:nvSpPr>
        <p:spPr>
          <a:xfrm>
            <a:off x="990600" y="6713562"/>
            <a:ext cx="16192500" cy="9525"/>
          </a:xfrm>
          <a:prstGeom prst="rect">
            <a:avLst/>
          </a:prstGeom>
          <a:solidFill>
            <a:srgbClr val="36CDFF">
              <a:alpha val="4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990600" y="5389587"/>
            <a:ext cx="16192500" cy="9525"/>
          </a:xfrm>
          <a:prstGeom prst="rect">
            <a:avLst/>
          </a:prstGeom>
          <a:solidFill>
            <a:srgbClr val="36CDFF">
              <a:alpha val="4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990600" y="5389587"/>
            <a:ext cx="38100" cy="1333500"/>
          </a:xfrm>
          <a:prstGeom prst="rect">
            <a:avLst/>
          </a:prstGeom>
          <a:solidFill>
            <a:srgbClr val="36CD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17173575" y="5389587"/>
            <a:ext cx="9525" cy="1333500"/>
          </a:xfrm>
          <a:prstGeom prst="rect">
            <a:avLst/>
          </a:prstGeom>
          <a:solidFill>
            <a:srgbClr val="36CDFF">
              <a:alpha val="4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371600" y="5665812"/>
            <a:ext cx="15922847" cy="819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0645"/>
              </a:lnSpc>
              <a:buNone/>
            </a:pPr>
            <a:r>
              <a:rPr lang="en-US" sz="2025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LLMs are non-deterministic, so we never grade on words. Every objective is validated by a mechanism query: did the exploit actually fire? You will see </a:t>
            </a:r>
            <a:r>
              <a:rPr lang="en-US" sz="2025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/validate </a:t>
            </a:r>
            <a:r>
              <a:rPr lang="en-US" sz="2025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return </a:t>
            </a:r>
            <a:r>
              <a:rPr lang="en-US" sz="2025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core: pass</a:t>
            </a:r>
            <a:r>
              <a:rPr lang="en-US" sz="2025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2025" dirty="0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9410700"/>
            <a:ext cx="1333500" cy="3810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3423329" y="9498806"/>
            <a:ext cx="4261478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264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M0 · THREAT MODEL + RANGE CHECK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1586359"/>
            <a:ext cx="17937480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kern="0" spc="45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LOGISTICS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990600" y="1991171"/>
            <a:ext cx="17937480" cy="8610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8190"/>
              </a:lnSpc>
              <a:buNone/>
            </a:pPr>
            <a:r>
              <a:rPr lang="en-US" sz="7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 OF THE RANGE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90600" y="3233217"/>
            <a:ext cx="16306800" cy="19050"/>
          </a:xfrm>
          <a:prstGeom prst="rect">
            <a:avLst/>
          </a:prstGeom>
          <a:solidFill>
            <a:srgbClr val="FFFFFF">
              <a:alpha val="16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90600" y="3538017"/>
            <a:ext cx="32772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1508820" y="3461817"/>
            <a:ext cx="6468055" cy="419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8108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build, one flag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508820" y="3919017"/>
            <a:ext cx="6468055" cy="39290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875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vulnerable </a:t>
            </a:r>
            <a:r>
              <a:rPr lang="en-US" sz="1875" dirty="0">
                <a:solidFill>
                  <a:srgbClr val="9696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↔ </a:t>
            </a:r>
            <a:r>
              <a:rPr lang="en-US" sz="1875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secure</a:t>
            </a:r>
            <a:r>
              <a:rPr lang="en-US" sz="1875" dirty="0">
                <a:solidFill>
                  <a:srgbClr val="9696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Same codebase, flags flipped.</a:t>
            </a:r>
            <a:endParaRPr lang="en-US" sz="1875" dirty="0"/>
          </a:p>
        </p:txBody>
      </p:sp>
      <p:sp>
        <p:nvSpPr>
          <p:cNvPr id="8" name="Shape 6"/>
          <p:cNvSpPr/>
          <p:nvPr/>
        </p:nvSpPr>
        <p:spPr>
          <a:xfrm>
            <a:off x="990600" y="4521473"/>
            <a:ext cx="16306800" cy="19050"/>
          </a:xfrm>
          <a:prstGeom prst="rect">
            <a:avLst/>
          </a:prstGeom>
          <a:solidFill>
            <a:srgbClr val="FFFFFF">
              <a:alpha val="16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990600" y="4826273"/>
            <a:ext cx="32772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650" dirty="0"/>
          </a:p>
        </p:txBody>
      </p:sp>
      <p:sp>
        <p:nvSpPr>
          <p:cNvPr id="10" name="Text 8"/>
          <p:cNvSpPr/>
          <p:nvPr/>
        </p:nvSpPr>
        <p:spPr>
          <a:xfrm>
            <a:off x="1508820" y="4750073"/>
            <a:ext cx="4462269" cy="419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8108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Reset any module, any time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508820" y="5207273"/>
            <a:ext cx="4462269" cy="38338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875" dirty="0">
                <a:solidFill>
                  <a:srgbClr val="9696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 something? Reset it. No penalty.</a:t>
            </a:r>
            <a:endParaRPr lang="en-US" sz="1875" dirty="0"/>
          </a:p>
        </p:txBody>
      </p:sp>
      <p:sp>
        <p:nvSpPr>
          <p:cNvPr id="12" name="Shape 10"/>
          <p:cNvSpPr/>
          <p:nvPr/>
        </p:nvSpPr>
        <p:spPr>
          <a:xfrm>
            <a:off x="990600" y="5800204"/>
            <a:ext cx="16306800" cy="19050"/>
          </a:xfrm>
          <a:prstGeom prst="rect">
            <a:avLst/>
          </a:prstGeom>
          <a:solidFill>
            <a:srgbClr val="FFFFFF">
              <a:alpha val="16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990600" y="6105004"/>
            <a:ext cx="32772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FD7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1508820" y="6028804"/>
            <a:ext cx="6335613" cy="419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8108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for everyone, stretch for fast finishers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1508820" y="6486004"/>
            <a:ext cx="6335613" cy="38338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875" dirty="0">
                <a:solidFill>
                  <a:srgbClr val="9696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difficulty ladder — a floor and a ceiling.</a:t>
            </a:r>
            <a:endParaRPr lang="en-US" sz="1875" dirty="0"/>
          </a:p>
        </p:txBody>
      </p:sp>
      <p:sp>
        <p:nvSpPr>
          <p:cNvPr id="16" name="Shape 14"/>
          <p:cNvSpPr/>
          <p:nvPr/>
        </p:nvSpPr>
        <p:spPr>
          <a:xfrm>
            <a:off x="990600" y="7078935"/>
            <a:ext cx="16306800" cy="19050"/>
          </a:xfrm>
          <a:prstGeom prst="rect">
            <a:avLst/>
          </a:prstGeom>
          <a:solidFill>
            <a:srgbClr val="FFFFFF">
              <a:alpha val="16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990600" y="7383735"/>
            <a:ext cx="32772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1508820" y="7307535"/>
            <a:ext cx="9516599" cy="419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8108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1 keyless, Day 2 your own key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1508820" y="7764735"/>
            <a:ext cx="9516599" cy="38338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875" dirty="0">
                <a:solidFill>
                  <a:srgbClr val="9696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days run in your browser against our hosted target. Nothing to install.</a:t>
            </a:r>
            <a:endParaRPr lang="en-US" sz="1875" dirty="0"/>
          </a:p>
        </p:txBody>
      </p:sp>
      <p:pic>
        <p:nvPicPr>
          <p:cNvPr id="2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9410700"/>
            <a:ext cx="1333500" cy="381000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13423329" y="9498806"/>
            <a:ext cx="4261478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264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M0 · THREAT MODEL + RANGE CHECK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57150"/>
          </a:xfrm>
          <a:prstGeom prst="rect">
            <a:avLst/>
          </a:prstGeom>
          <a:solidFill>
            <a:srgbClr val="FD7E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990600" y="3340447"/>
            <a:ext cx="17937480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kern="0" spc="663" dirty="0">
                <a:solidFill>
                  <a:srgbClr val="FD7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▶ DEMO / DO IT</a:t>
            </a:r>
            <a:endParaRPr lang="en-US" sz="1950" dirty="0"/>
          </a:p>
        </p:txBody>
      </p:sp>
      <p:sp>
        <p:nvSpPr>
          <p:cNvPr id="4" name="Text 2"/>
          <p:cNvSpPr/>
          <p:nvPr/>
        </p:nvSpPr>
        <p:spPr>
          <a:xfrm>
            <a:off x="990600" y="3954810"/>
            <a:ext cx="17937480" cy="1600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1304"/>
              </a:lnSpc>
              <a:buNone/>
            </a:pPr>
            <a:r>
              <a:rPr lang="en-US" sz="1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 GREEN</a:t>
            </a:r>
            <a:endParaRPr lang="en-US" sz="15000" dirty="0"/>
          </a:p>
        </p:txBody>
      </p:sp>
      <p:sp>
        <p:nvSpPr>
          <p:cNvPr id="5" name="Text 3"/>
          <p:cNvSpPr/>
          <p:nvPr/>
        </p:nvSpPr>
        <p:spPr>
          <a:xfrm>
            <a:off x="990600" y="5897910"/>
            <a:ext cx="15716250" cy="49619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2051"/>
              </a:lnSpc>
              <a:buNone/>
            </a:pPr>
            <a:r>
              <a:rPr lang="en-US" sz="255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Reach-test: </a:t>
            </a:r>
            <a:r>
              <a:rPr lang="en-US" sz="2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reach the target · (Day 2) key.</a:t>
            </a:r>
            <a:endParaRPr lang="en-US" sz="255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9410700"/>
            <a:ext cx="1333500" cy="3810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423329" y="9498806"/>
            <a:ext cx="4261478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264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M0 · THREAT MODEL + RANGE CHECK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2731815"/>
            <a:ext cx="1793748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kern="0" spc="495" dirty="0">
                <a:solidFill>
                  <a:srgbClr val="FD7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ONE IDEA TO CARRY ALL WEEK</a:t>
            </a:r>
            <a:endParaRPr lang="en-US" sz="1650" dirty="0"/>
          </a:p>
        </p:txBody>
      </p:sp>
      <p:sp>
        <p:nvSpPr>
          <p:cNvPr id="3" name="Text 1"/>
          <p:cNvSpPr/>
          <p:nvPr/>
        </p:nvSpPr>
        <p:spPr>
          <a:xfrm>
            <a:off x="990600" y="3350940"/>
            <a:ext cx="16796004" cy="24040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8113"/>
              </a:lnSpc>
              <a:buNone/>
            </a:pPr>
            <a:r>
              <a:rPr lang="en-US" sz="6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YOU’RE NOT PROMPTING. YOU’RE SUPPLYING </a:t>
            </a:r>
            <a:r>
              <a:rPr lang="en-US" sz="6900" dirty="0">
                <a:solidFill>
                  <a:srgbClr val="FD7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UNTRUSTED INPUT THAT BECOMES INSTRUCTIONS.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90600" y="6135960"/>
            <a:ext cx="16187738" cy="8667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6087"/>
              </a:lnSpc>
              <a:buNone/>
            </a:pPr>
            <a:r>
              <a:rPr lang="en-US" sz="225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layer we attack has a boundary where data crosses into instruction — the prompt, a retrieved doc, a tool description, another agent’s message. Find that boundary, own the system.</a:t>
            </a:r>
            <a:endParaRPr lang="en-US" sz="225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9410700"/>
            <a:ext cx="1333500" cy="3810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3423329" y="9498806"/>
            <a:ext cx="4261478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264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M0 · THREAT MODEL + RANGE CHECK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3018011"/>
            <a:ext cx="1793748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kern="0" spc="495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MODULE M0 COMPLETE</a:t>
            </a:r>
            <a:endParaRPr lang="en-US" sz="1650" dirty="0"/>
          </a:p>
        </p:txBody>
      </p:sp>
      <p:sp>
        <p:nvSpPr>
          <p:cNvPr id="3" name="Text 1"/>
          <p:cNvSpPr/>
          <p:nvPr/>
        </p:nvSpPr>
        <p:spPr>
          <a:xfrm>
            <a:off x="990600" y="3579986"/>
            <a:ext cx="17937480" cy="2324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69565"/>
              </a:lnSpc>
              <a:buNone/>
            </a:pPr>
            <a:r>
              <a:rPr lang="en-US" sz="2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</a:t>
            </a:r>
            <a:r>
              <a:rPr lang="en-US" sz="22500" b="1" dirty="0">
                <a:solidFill>
                  <a:srgbClr val="FD7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22500" dirty="0"/>
          </a:p>
        </p:txBody>
      </p:sp>
      <p:sp>
        <p:nvSpPr>
          <p:cNvPr id="4" name="Text 2"/>
          <p:cNvSpPr/>
          <p:nvPr/>
        </p:nvSpPr>
        <p:spPr>
          <a:xfrm>
            <a:off x="990600" y="6208886"/>
            <a:ext cx="15716250" cy="5076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6410"/>
              </a:lnSpc>
              <a:buNone/>
            </a:pPr>
            <a:r>
              <a:rPr lang="en-US" sz="255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Everyone green. Map installed. Let’s break something.</a:t>
            </a:r>
            <a:endParaRPr lang="en-US" sz="255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9315450"/>
            <a:ext cx="1666875" cy="47625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797980" y="9451181"/>
            <a:ext cx="2749361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264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USA 2026 · TRAININGS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57150"/>
          </a:xfrm>
          <a:prstGeom prst="rect">
            <a:avLst/>
          </a:prstGeom>
          <a:solidFill>
            <a:srgbClr val="36CD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990600" y="3264694"/>
            <a:ext cx="17937480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kern="0" spc="663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▶ DEMO / WARM UP</a:t>
            </a:r>
            <a:endParaRPr lang="en-US" sz="1950" dirty="0"/>
          </a:p>
        </p:txBody>
      </p:sp>
      <p:sp>
        <p:nvSpPr>
          <p:cNvPr id="4" name="Text 2"/>
          <p:cNvSpPr/>
          <p:nvPr/>
        </p:nvSpPr>
        <p:spPr>
          <a:xfrm>
            <a:off x="990600" y="3879056"/>
            <a:ext cx="17937480" cy="1756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1446"/>
              </a:lnSpc>
              <a:buNone/>
            </a:pPr>
            <a:r>
              <a:rPr lang="en-US" sz="16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GANDALF</a:t>
            </a:r>
            <a:endParaRPr lang="en-US" sz="16500" dirty="0"/>
          </a:p>
        </p:txBody>
      </p:sp>
      <p:sp>
        <p:nvSpPr>
          <p:cNvPr id="5" name="Text 3"/>
          <p:cNvSpPr/>
          <p:nvPr/>
        </p:nvSpPr>
        <p:spPr>
          <a:xfrm>
            <a:off x="990600" y="5978351"/>
            <a:ext cx="15716250" cy="4914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2051"/>
              </a:lnSpc>
              <a:buNone/>
            </a:pPr>
            <a:r>
              <a:rPr lang="en-US" sz="255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Talk a chatbot out of a secret it was told to protect.</a:t>
            </a:r>
            <a:endParaRPr lang="en-US" sz="255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9410700"/>
            <a:ext cx="1333500" cy="3810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423329" y="9498806"/>
            <a:ext cx="4261478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264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M0 · THREAT MODEL + RANGE CHECK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619</Words>
  <Application>Microsoft Macintosh PowerPoint</Application>
  <PresentationFormat>Custom</PresentationFormat>
  <Paragraphs>112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KK Mookhey</cp:lastModifiedBy>
  <cp:revision>5</cp:revision>
  <dcterms:created xsi:type="dcterms:W3CDTF">2026-07-31T03:55:11Z</dcterms:created>
  <dcterms:modified xsi:type="dcterms:W3CDTF">2026-08-20T02:55:38Z</dcterms:modified>
</cp:coreProperties>
</file>