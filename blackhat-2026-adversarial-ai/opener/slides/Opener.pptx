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Warm open. One sentence: for two days you will attack one AI application across every layer it is built from, then secure each one. Set the tone now — this is a lab, not a lecture; you will spend most of your time in the browser breaking things.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single-target, growing-surface design is the whole pedagogy — one coherent story instead of eight disconnected toys. Build/Break/Secure is the rhythm of every module. Say it once here and they will recognise it all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mirrors the run of show exactly. Day 1 is the model and its data — F0 foundations, then L0 chatbot (M1 injection, M2 output), L1 RAG (M3), L2 agent (M4 supply chain, M5 excessive agency) — all keyless on the shared model. Day 2 is the model with hands — L3 MCP (M6), L4 multi-agent (M7), L5 production plus the AI-vs-AI finale (M8). Set BYOK loudly: M6 poisoning and the finale need a frontier key to chain tool calls reliably; keyless llama shows the plumbing and is actually the more reliable choice for M5/M7. Anyone without a key: pair up. Note L2 (agent) is on Day 1 and runs keyless — M5 is a simple single tool-call the shared model handles. The BYOK line is really about M6 and the finale.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for this cohort — name the builder lane as a real choice, not a footnote. Most will attack the hosted app; the roughly one-third who want a methodology to take home run the code locally and read the actual guard. The builder lane is the on-ramp to the same Claude-Code-against-real-code method you will watch with Anna — the direct answer to: can I use this in my own environment?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spine of the rebuilt flow — same five beats every module, so nobody is lost about where we are. Beats 3 and 4 are the hands-on core; Secure is never sacrificed for time. Beat 5 (Anna) lands at four points across the two days. Mechanism not words is why 32 people attacking a non-deterministic model grades reliably — and it is how they should instrument their own AI for detection.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through-line and the energiser — introduce Anna now (Anchor 1). The room raises hypotheses and we investigate live at L0/L1, then L3 (MCP) and L4 (multi-agent). This is the direct answer to the recurring ask — can I use this in my own environment? — yes, and this is exactly how. Keep the intro to a minute; the payoff is the live investigations.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to 30 seconds; the room cares more about what they will do today than your CV. Add any founding or career highlights you want to call out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Venkat: 30 seconds, same as KK. Frame the credibility that matters for this room — you build the agentic systems the class is about to attack, so the failure modes in Day 2 are ones you have hit in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set expectations that prevent 80% of the is-it-broken moments. The patience point especially — name it before the first slow response, not after. The sanctioned-payload point saves people from concluding they failed when they actually out-attacked the grader.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ethics line matters at Black Hat — say it plainly. Then get out of the way: the reach-test and M0 are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 cut to M0. Gandalf is the self-serve warm-up — prompt injection and guardrail evasion in miniature, foreshadowing M1 and M8; anyone who cracks it early moves to the other Lakera games or Prompt Airlines. Momentum is everything in the first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gradFill rotWithShape="1">
            <a:gsLst>
              <a:gs pos="0">
                <a:srgbClr val="FD7EF5">
                  <a:alpha val="100000"/>
                </a:srgbClr>
              </a:gs>
              <a:gs pos="50000">
                <a:srgbClr val="FD7EF5">
                  <a:alpha val="100000"/>
                </a:srgbClr>
              </a:gs>
              <a:gs pos="50000">
                <a:srgbClr val="36CDFF">
                  <a:alpha val="100000"/>
                </a:srgbClr>
              </a:gs>
              <a:gs pos="100000">
                <a:srgbClr val="36CDFF">
                  <a:alpha val="100000"/>
                </a:srgbClr>
              </a:gs>
            </a:gsLst>
            <a:lin ang="0" scaled="0"/>
          </a:gra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762000"/>
            <a:ext cx="5005164" cy="1066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90600" y="3495675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495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BLACK HAT USA 2026 · TRAININGS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990600" y="4038600"/>
            <a:ext cx="16796004" cy="2409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1965"/>
              </a:lnSpc>
              <a:buNone/>
            </a:pPr>
            <a:r>
              <a:rPr lang="en-US" sz="11250" b="1" spc="113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</a:t>
            </a:r>
            <a:pPr algn="l" indent="0" marL="0">
              <a:lnSpc>
                <a:spcPct val="71965"/>
              </a:lnSpc>
              <a:buNone/>
            </a:pPr>
            <a:r>
              <a:rPr lang="en-US" sz="11250" b="1" spc="113" kern="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1250" dirty="0"/>
          </a:p>
        </p:txBody>
      </p:sp>
      <p:sp>
        <p:nvSpPr>
          <p:cNvPr id="6" name="Text 3"/>
          <p:cNvSpPr/>
          <p:nvPr/>
        </p:nvSpPr>
        <p:spPr>
          <a:xfrm>
            <a:off x="990600" y="6734175"/>
            <a:ext cx="146685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39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Red-Teaming the AI Stack, Layer by Layer — two days, hands-on. KK Mookhey &amp; Venkat Pothamsetty.</a:t>
            </a:r>
            <a:endParaRPr lang="en-US" sz="22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9315450"/>
            <a:ext cx="1666875" cy="4762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373240" y="9241185"/>
            <a:ext cx="5924160" cy="3133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52105"/>
              </a:lnSpc>
              <a:buNone/>
            </a:pPr>
            <a:r>
              <a:rPr lang="en-US" sz="1275" spc="179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ADVERSARIAL AI · RED-TEAMING THE AI SUPPLY CHAIN</a:t>
            </a:r>
            <a:endParaRPr lang="en-US" sz="1275" dirty="0"/>
          </a:p>
        </p:txBody>
      </p:sp>
      <p:sp>
        <p:nvSpPr>
          <p:cNvPr id="9" name="Text 5"/>
          <p:cNvSpPr/>
          <p:nvPr/>
        </p:nvSpPr>
        <p:spPr>
          <a:xfrm>
            <a:off x="11373240" y="9516442"/>
            <a:ext cx="5924160" cy="3133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52105"/>
              </a:lnSpc>
              <a:buNone/>
            </a:pPr>
            <a:r>
              <a:rPr lang="en-US" sz="1275" spc="179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DAYS · HANDS-ON</a:t>
            </a:r>
            <a:endParaRPr lang="en-US" sz="12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358926"/>
            <a:ext cx="414909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SHAPE OF THE CLASS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763738"/>
            <a:ext cx="16796004" cy="1478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342"/>
              </a:lnSpc>
              <a:buNone/>
            </a:pPr>
            <a:r>
              <a:rPr lang="en-US" sz="6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TARGET. TWO DAYS. THREE VERBS.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90600" y="4527649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522"/>
              </a:lnSpc>
              <a:buNone/>
            </a:pPr>
            <a:r>
              <a:rPr lang="en-US" sz="21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attack </a:t>
            </a:r>
            <a:pPr algn="l" indent="0" marL="0">
              <a:lnSpc>
                <a:spcPct val="125522"/>
              </a:lnSpc>
              <a:buNone/>
            </a:pPr>
            <a:r>
              <a:rPr lang="en-US" sz="2175" b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</a:t>
            </a:r>
            <a:pPr algn="l" indent="0" marL="0">
              <a:lnSpc>
                <a:spcPct val="125522"/>
              </a:lnSpc>
              <a:buNone/>
            </a:pPr>
            <a:r>
              <a:rPr lang="en-US" sz="21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fictional AI-first neobank — </a:t>
            </a:r>
            <a:pPr algn="l" indent="0" marL="0">
              <a:lnSpc>
                <a:spcPct val="125522"/>
              </a:lnSpc>
              <a:buNone/>
            </a:pPr>
            <a:r>
              <a:rPr lang="en-US" sz="2175" b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Eiger </a:t>
            </a:r>
            <a:pPr algn="l" indent="0" marL="0">
              <a:lnSpc>
                <a:spcPct val="125522"/>
              </a:lnSpc>
              <a:buNone/>
            </a:pPr>
            <a:r>
              <a:rPr lang="en-US" sz="21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and its assistant </a:t>
            </a:r>
            <a:pPr algn="l" indent="0" marL="0">
              <a:lnSpc>
                <a:spcPct val="125522"/>
              </a:lnSpc>
              <a:buNone/>
            </a:pPr>
            <a:r>
              <a:rPr lang="en-US" sz="2175" b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Iggy</a:t>
            </a:r>
            <a:pPr algn="l" indent="0" marL="0">
              <a:lnSpc>
                <a:spcPct val="125522"/>
              </a:lnSpc>
              <a:buNone/>
            </a:pPr>
            <a:r>
              <a:rPr lang="en-US" sz="21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Its attack surface </a:t>
            </a:r>
            <a:pPr algn="l" indent="0" marL="0">
              <a:lnSpc>
                <a:spcPct val="125522"/>
              </a:lnSpc>
              <a:buNone/>
            </a:pPr>
            <a:r>
              <a:rPr lang="en-US" sz="2175" b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grows each module</a:t>
            </a:r>
            <a:pPr algn="l" indent="0" marL="0">
              <a:lnSpc>
                <a:spcPct val="125522"/>
              </a:lnSpc>
              <a:buNone/>
            </a:pPr>
            <a:r>
              <a:rPr lang="en-US" sz="21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layer by layer.</a:t>
            </a:r>
            <a:endParaRPr lang="en-US" sz="2175" dirty="0"/>
          </a:p>
        </p:txBody>
      </p:sp>
      <p:sp>
        <p:nvSpPr>
          <p:cNvPr id="5" name="Shape 3"/>
          <p:cNvSpPr/>
          <p:nvPr/>
        </p:nvSpPr>
        <p:spPr>
          <a:xfrm>
            <a:off x="990600" y="5218658"/>
            <a:ext cx="16306800" cy="1389683"/>
          </a:xfrm>
          <a:prstGeom prst="roundRect">
            <a:avLst>
              <a:gd name="adj" fmla="val 5483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0125" y="5685383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90625" y="5404396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</p:sp>
      <p:sp>
        <p:nvSpPr>
          <p:cNvPr id="8" name="Shape 6"/>
          <p:cNvSpPr/>
          <p:nvPr/>
        </p:nvSpPr>
        <p:spPr>
          <a:xfrm>
            <a:off x="1381125" y="5404396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</p:sp>
      <p:sp>
        <p:nvSpPr>
          <p:cNvPr id="9" name="Shape 7"/>
          <p:cNvSpPr/>
          <p:nvPr/>
        </p:nvSpPr>
        <p:spPr>
          <a:xfrm>
            <a:off x="1571625" y="5404396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</p:sp>
      <p:sp>
        <p:nvSpPr>
          <p:cNvPr id="10" name="Text 8"/>
          <p:cNvSpPr/>
          <p:nvPr/>
        </p:nvSpPr>
        <p:spPr>
          <a:xfrm>
            <a:off x="1876425" y="5361533"/>
            <a:ext cx="169735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attack-surface.txt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1285875" y="5942558"/>
            <a:ext cx="16204883" cy="4467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424"/>
              </a:lnSpc>
              <a:buNone/>
            </a:pPr>
            <a:r>
              <a:rPr lang="en-US" sz="19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 chatbot</a:t>
            </a:r>
            <a:pPr algn="l" indent="0" marL="0">
              <a:lnSpc>
                <a:spcPct val="145424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</a:t>
            </a:r>
            <a:pPr algn="l" indent="0" marL="0">
              <a:lnSpc>
                <a:spcPct val="145424"/>
              </a:lnSpc>
              <a:buNone/>
            </a:pPr>
            <a:r>
              <a:rPr lang="en-US" sz="19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 RAG</a:t>
            </a:r>
            <a:pPr algn="l" indent="0" marL="0">
              <a:lnSpc>
                <a:spcPct val="145424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</a:t>
            </a:r>
            <a:pPr algn="l" indent="0" marL="0">
              <a:lnSpc>
                <a:spcPct val="145424"/>
              </a:lnSpc>
              <a:buNone/>
            </a:pPr>
            <a:r>
              <a:rPr lang="en-US" sz="19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 agent</a:t>
            </a:r>
            <a:pPr algn="l" indent="0" marL="0">
              <a:lnSpc>
                <a:spcPct val="145424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</a:t>
            </a:r>
            <a:pPr algn="l" indent="0" marL="0">
              <a:lnSpc>
                <a:spcPct val="145424"/>
              </a:lnSpc>
              <a:buNone/>
            </a:pPr>
            <a:r>
              <a:rPr lang="en-US" sz="19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L3 MCP</a:t>
            </a:r>
            <a:pPr algn="l" indent="0" marL="0">
              <a:lnSpc>
                <a:spcPct val="145424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</a:t>
            </a:r>
            <a:pPr algn="l" indent="0" marL="0">
              <a:lnSpc>
                <a:spcPct val="145424"/>
              </a:lnSpc>
              <a:buNone/>
            </a:pPr>
            <a:r>
              <a:rPr lang="en-US" sz="19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L4 multi-agent</a:t>
            </a:r>
            <a:pPr algn="l" indent="0" marL="0">
              <a:lnSpc>
                <a:spcPct val="145424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</a:t>
            </a:r>
            <a:pPr algn="l" indent="0" marL="0">
              <a:lnSpc>
                <a:spcPct val="145424"/>
              </a:lnSpc>
              <a:buNone/>
            </a:pPr>
            <a:r>
              <a:rPr lang="en-US" sz="19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L5 production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90600" y="6932191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every layer you </a:t>
            </a:r>
            <a:pPr algn="l" indent="0" marL="0">
              <a:lnSpc>
                <a:spcPct val="125522"/>
              </a:lnSpc>
              <a:buNone/>
            </a:pP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</a:t>
            </a:r>
            <a:pPr algn="l" indent="0" marL="0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it, </a:t>
            </a:r>
            <a:pPr algn="l" indent="0" marL="0">
              <a:lnSpc>
                <a:spcPct val="125522"/>
              </a:lnSpc>
              <a:buNone/>
            </a:pP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</a:t>
            </a:r>
            <a:pPr algn="l" indent="0" marL="0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it, then </a:t>
            </a:r>
            <a:pPr algn="l" indent="0" marL="0">
              <a:lnSpc>
                <a:spcPct val="125522"/>
              </a:lnSpc>
              <a:buNone/>
            </a:pP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</a:t>
            </a:r>
            <a:pPr algn="l" indent="0" marL="0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it.</a:t>
            </a:r>
            <a:endParaRPr lang="en-US" sz="2175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423082" y="9498806"/>
            <a:ext cx="3161749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OPENER · ADVERSARIAL AI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1671265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AGENDA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076078"/>
            <a:ext cx="17937480" cy="741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511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TWO-DAY ARC</a:t>
            </a:r>
            <a:endParaRPr lang="en-US" sz="6150" dirty="0"/>
          </a:p>
        </p:txBody>
      </p:sp>
      <p:sp>
        <p:nvSpPr>
          <p:cNvPr id="4" name="Shape 2"/>
          <p:cNvSpPr/>
          <p:nvPr/>
        </p:nvSpPr>
        <p:spPr>
          <a:xfrm>
            <a:off x="990600" y="3159993"/>
            <a:ext cx="16306800" cy="1905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350493"/>
            <a:ext cx="797890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135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1 — THE MODEL AND ITS DATA </a:t>
            </a:r>
            <a:pPr algn="l" indent="0" marL="0">
              <a:buNone/>
            </a:pPr>
            <a:r>
              <a:rPr lang="en-US" sz="1350" spc="135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(KEYLESS)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353550" y="3350493"/>
            <a:ext cx="797890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135" kern="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2 — THE MODEL WITH HANDS </a:t>
            </a:r>
            <a:pPr algn="l" indent="0" marL="0">
              <a:buNone/>
            </a:pPr>
            <a:r>
              <a:rPr lang="en-US" sz="1350" spc="135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(BYOK)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90600" y="3750543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200150" y="4045818"/>
            <a:ext cx="7978902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581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 understanding LLMs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9144000" y="3750543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9353550" y="4045818"/>
            <a:ext cx="7978902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581"/>
              </a:lnSpc>
              <a:buNone/>
            </a:pPr>
            <a:r>
              <a:rPr lang="en-US" sz="2025" b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</a:t>
            </a:r>
            <a:pPr algn="l" indent="0" marL="0">
              <a:lnSpc>
                <a:spcPct val="117581"/>
              </a:lnSpc>
              <a:buNone/>
            </a:pP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· tool poisoning</a:t>
            </a:r>
            <a:endParaRPr lang="en-US" sz="2025" dirty="0"/>
          </a:p>
        </p:txBody>
      </p:sp>
      <p:sp>
        <p:nvSpPr>
          <p:cNvPr id="11" name="Shape 9"/>
          <p:cNvSpPr/>
          <p:nvPr/>
        </p:nvSpPr>
        <p:spPr>
          <a:xfrm>
            <a:off x="990600" y="4683472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1200150" y="4978747"/>
            <a:ext cx="7978902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581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L0 chatbot · prompt injection, output handling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9144000" y="4683472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9353550" y="4978747"/>
            <a:ext cx="7978902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581"/>
              </a:lnSpc>
              <a:buNone/>
            </a:pPr>
            <a:r>
              <a:rPr lang="en-US" sz="2025" b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</a:t>
            </a:r>
            <a:pPr algn="l" indent="0" marL="0">
              <a:lnSpc>
                <a:spcPct val="117581"/>
              </a:lnSpc>
              <a:buNone/>
            </a:pP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· cascading trust</a:t>
            </a:r>
            <a:endParaRPr lang="en-US" sz="2025" dirty="0"/>
          </a:p>
        </p:txBody>
      </p:sp>
      <p:sp>
        <p:nvSpPr>
          <p:cNvPr id="15" name="Shape 13"/>
          <p:cNvSpPr/>
          <p:nvPr/>
        </p:nvSpPr>
        <p:spPr>
          <a:xfrm>
            <a:off x="990600" y="5616401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1200150" y="5911676"/>
            <a:ext cx="7978902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581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RAG · knowledge-base poisoning</a:t>
            </a:r>
            <a:endParaRPr lang="en-US" sz="2025" dirty="0"/>
          </a:p>
        </p:txBody>
      </p:sp>
      <p:sp>
        <p:nvSpPr>
          <p:cNvPr id="17" name="Shape 15"/>
          <p:cNvSpPr/>
          <p:nvPr/>
        </p:nvSpPr>
        <p:spPr>
          <a:xfrm>
            <a:off x="9144000" y="5616401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9353550" y="5911676"/>
            <a:ext cx="7978902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581"/>
              </a:lnSpc>
              <a:buNone/>
            </a:pPr>
            <a:r>
              <a:rPr lang="en-US" sz="2025" b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 </a:t>
            </a:r>
            <a:pPr algn="l" indent="0" marL="0">
              <a:lnSpc>
                <a:spcPct val="117581"/>
              </a:lnSpc>
              <a:buNone/>
            </a:pP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· guardrails + capstone</a:t>
            </a:r>
            <a:endParaRPr lang="en-US" sz="2025" dirty="0"/>
          </a:p>
        </p:txBody>
      </p:sp>
      <p:sp>
        <p:nvSpPr>
          <p:cNvPr id="19" name="Shape 17"/>
          <p:cNvSpPr/>
          <p:nvPr/>
        </p:nvSpPr>
        <p:spPr>
          <a:xfrm>
            <a:off x="990600" y="6549330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1200150" y="6844605"/>
            <a:ext cx="7978902" cy="3852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581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agent · excessive agency + supply chain</a:t>
            </a:r>
            <a:endParaRPr lang="en-US" sz="2025" dirty="0"/>
          </a:p>
        </p:txBody>
      </p:sp>
      <p:sp>
        <p:nvSpPr>
          <p:cNvPr id="21" name="Shape 19"/>
          <p:cNvSpPr/>
          <p:nvPr/>
        </p:nvSpPr>
        <p:spPr>
          <a:xfrm>
            <a:off x="9144000" y="6549330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990600" y="7763247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up on </a:t>
            </a:r>
            <a:pPr algn="l" indent="0" marL="0">
              <a:buNone/>
            </a:pPr>
            <a:r>
              <a:rPr lang="en-US" sz="1800" b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Gandalf</a:t>
            </a:r>
            <a:pPr algn="l"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then Day 1 runs </a:t>
            </a:r>
            <a:pPr algn="l" indent="0" marL="0">
              <a:buNone/>
            </a:pPr>
            <a:r>
              <a:rPr lang="en-US" sz="1800" b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keyless </a:t>
            </a:r>
            <a:pPr algn="l"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shared model. Day 2 is </a:t>
            </a:r>
            <a:pPr algn="l" indent="0" marL="0">
              <a:buNone/>
            </a:pPr>
            <a:r>
              <a:rPr lang="en-US" sz="1800" b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BYOK </a:t>
            </a:r>
            <a:pPr algn="l"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bring your own key.</a:t>
            </a:r>
            <a:endParaRPr lang="en-US" sz="18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4423082" y="9498806"/>
            <a:ext cx="3161749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OPENER · ADVERSARIAL AI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1919213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 YOUR LANE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324026"/>
            <a:ext cx="1793748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261"/>
              </a:lnSpc>
              <a:buNone/>
            </a:pPr>
            <a:r>
              <a:rPr lang="en-US" sz="7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PLAY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90600" y="7162800"/>
            <a:ext cx="7991475" cy="9525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600376"/>
            <a:ext cx="7991475" cy="38100"/>
          </a:xfrm>
          <a:prstGeom prst="rect">
            <a:avLst/>
          </a:prstGeom>
          <a:solidFill>
            <a:srgbClr val="36CDFF"/>
          </a:solidFill>
          <a:ln/>
        </p:spPr>
      </p:sp>
      <p:sp>
        <p:nvSpPr>
          <p:cNvPr id="6" name="Shape 4"/>
          <p:cNvSpPr/>
          <p:nvPr/>
        </p:nvSpPr>
        <p:spPr>
          <a:xfrm>
            <a:off x="990600" y="3600376"/>
            <a:ext cx="9525" cy="3571949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972550" y="3600376"/>
            <a:ext cx="9525" cy="3571949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381125" y="4019476"/>
            <a:ext cx="793146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168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LANE A · ZERO SETUP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81125" y="4338563"/>
            <a:ext cx="7931468" cy="5287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9876"/>
              </a:lnSpc>
              <a:buNone/>
            </a:pPr>
            <a:r>
              <a:rPr lang="en-US" sz="420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ATTACKER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381125" y="5019749"/>
            <a:ext cx="7931468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667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 the </a:t>
            </a:r>
            <a:pPr algn="l" indent="0" marL="0">
              <a:lnSpc>
                <a:spcPct val="125667"/>
              </a:lnSpc>
              <a:buNone/>
            </a:pPr>
            <a:r>
              <a:rPr lang="en-US" sz="1950" b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</a:t>
            </a:r>
            <a:pPr algn="l" indent="0" marL="0">
              <a:lnSpc>
                <a:spcPct val="125667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Eiger from your browser.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381125" y="5550247"/>
            <a:ext cx="7210425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1381125" y="5731222"/>
            <a:ext cx="7426738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setup — the default.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381125" y="6249367"/>
            <a:ext cx="7210425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1381125" y="6430342"/>
            <a:ext cx="7426738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Fast: just attack.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305925" y="7162800"/>
            <a:ext cx="7991475" cy="9525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305925" y="3600376"/>
            <a:ext cx="7991475" cy="38100"/>
          </a:xfrm>
          <a:prstGeom prst="rect">
            <a:avLst/>
          </a:prstGeom>
          <a:solidFill>
            <a:srgbClr val="FD7EF5"/>
          </a:solidFill>
          <a:ln/>
        </p:spPr>
      </p:sp>
      <p:sp>
        <p:nvSpPr>
          <p:cNvPr id="17" name="Shape 15"/>
          <p:cNvSpPr/>
          <p:nvPr/>
        </p:nvSpPr>
        <p:spPr>
          <a:xfrm>
            <a:off x="9305925" y="3600376"/>
            <a:ext cx="9525" cy="3571949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7287875" y="3600376"/>
            <a:ext cx="9525" cy="3571949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9696450" y="4019476"/>
            <a:ext cx="793146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168" kern="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LANE B · BRING A LAPTOP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696450" y="4338563"/>
            <a:ext cx="7931468" cy="5287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9876"/>
              </a:lnSpc>
              <a:buNone/>
            </a:pPr>
            <a:r>
              <a:rPr lang="en-US" sz="42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9696450" y="5019749"/>
            <a:ext cx="7931468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667"/>
              </a:lnSpc>
              <a:buNone/>
            </a:pPr>
            <a:r>
              <a:rPr lang="en-US" sz="1950" b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</a:t>
            </a:r>
            <a:pPr algn="l" indent="0" marL="0">
              <a:lnSpc>
                <a:spcPct val="125667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repo and run the module’s code on your laptop.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696450" y="5550247"/>
            <a:ext cx="7210425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9696450" y="5731222"/>
            <a:ext cx="7426738" cy="3895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→ Break → Secure the </a:t>
            </a:r>
            <a:pPr algn="l" indent="0" marL="0">
              <a:lnSpc>
                <a:spcPct val="121333"/>
              </a:lnSpc>
              <a:buNone/>
            </a:pPr>
            <a:r>
              <a:rPr lang="en-US" sz="1950" b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guard code </a:t>
            </a:r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yourself.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696450" y="6254130"/>
            <a:ext cx="7210425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9696450" y="6435105"/>
            <a:ext cx="7426738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 the </a:t>
            </a:r>
            <a:pPr algn="l" indent="0" marL="0">
              <a:lnSpc>
                <a:spcPct val="121333"/>
              </a:lnSpc>
              <a:buNone/>
            </a:pPr>
            <a:r>
              <a:rPr lang="en-US" sz="172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SEC_* </a:t>
            </a:r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 in the source, watch the attack die locally.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90600" y="7477125"/>
            <a:ext cx="1793748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lanes </a:t>
            </a:r>
            <a:pPr algn="l" indent="0" marL="0">
              <a:buNone/>
            </a:pPr>
            <a:r>
              <a:rPr lang="en-US" sz="1950" b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module</a:t>
            </a:r>
            <a:pPr algn="l" indent="0" marL="0"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Builders: setup is one page in </a:t>
            </a:r>
            <a:pPr algn="l"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prereqs/</a:t>
            </a:r>
            <a:pPr algn="l" indent="0" marL="0"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95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4423082" y="9498806"/>
            <a:ext cx="3161749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OPENER · ADVERSARIAL AI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478259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→ BREAK → SECURE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883072"/>
            <a:ext cx="17937480" cy="92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326"/>
              </a:lnSpc>
              <a:buNone/>
            </a:pPr>
            <a:r>
              <a:rPr lang="en-US" sz="7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FIVE BEATS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2193652"/>
            <a:ext cx="1781175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module, the </a:t>
            </a:r>
            <a:pPr algn="l" indent="0" marL="0">
              <a:lnSpc>
                <a:spcPct val="126087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five beats </a:t>
            </a:r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so you are never lost about where we are.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90600" y="2955652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3260452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508820" y="3184252"/>
            <a:ext cx="417896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696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508820" y="3617640"/>
            <a:ext cx="4178967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545"/>
              </a:lnSpc>
              <a:buNone/>
            </a:pPr>
            <a:r>
              <a:rPr lang="en-US" sz="180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layer and the attack, in two slides.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90600" y="4120530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990600" y="4425330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508820" y="4349130"/>
            <a:ext cx="452300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696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508820" y="4782517"/>
            <a:ext cx="452300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545"/>
              </a:lnSpc>
              <a:buNone/>
            </a:pPr>
            <a:r>
              <a:rPr lang="en-US" sz="180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mechanism in ~20 lines you can run.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90600" y="5285408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990600" y="5590208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508820" y="5514008"/>
            <a:ext cx="7858780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696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508820" y="5947395"/>
            <a:ext cx="785878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545"/>
              </a:lnSpc>
              <a:buNone/>
            </a:pPr>
            <a:r>
              <a:rPr lang="en-US" sz="180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the attack on Eiger. Objective and pass-when are on your lab card.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90600" y="6450285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990600" y="6755085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508820" y="6678885"/>
            <a:ext cx="7445410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696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508820" y="7112273"/>
            <a:ext cx="744541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545"/>
              </a:lnSpc>
              <a:buNone/>
            </a:pPr>
            <a:r>
              <a:rPr lang="en-US" sz="180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 one flag, run the same attack, watch it die. The diff is the lesson.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90600" y="7615163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990600" y="7919963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508820" y="7843763"/>
            <a:ext cx="5833103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696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Reality check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508820" y="8277151"/>
            <a:ext cx="5833103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545"/>
              </a:lnSpc>
              <a:buNone/>
            </a:pPr>
            <a:r>
              <a:rPr lang="en-US" sz="180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real in production? We test it live against Anna.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90600" y="8932441"/>
            <a:ext cx="1793748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pass by mechanism, not the model’s words </a:t>
            </a:r>
            <a:pPr algn="l" indent="0" marL="0"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grading queries an append-only audit log, never a string match. Core + stretch per module.</a:t>
            </a:r>
            <a:endParaRPr lang="en-US" sz="19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4423082" y="9498806"/>
            <a:ext cx="3161749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OPENER · ADVERSARIAL AI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948508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495" kern="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MEET ANNA — THE REAL APP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567633"/>
            <a:ext cx="16796004" cy="15467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416"/>
              </a:lnSpc>
              <a:buNone/>
            </a:pPr>
            <a:r>
              <a:rPr lang="en-US" sz="6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EIGER IS THE LAB. ANNA IS A REAL PRODUCTION AI AGENT.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90600" y="5495404"/>
            <a:ext cx="16187738" cy="12906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HubSpot, email, Slack, on Bedrock, with an autonomous planner→reviewer loop. At </a:t>
            </a:r>
            <a:pPr algn="l" indent="0" marL="0">
              <a:lnSpc>
                <a:spcPct val="126087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points </a:t>
            </a:r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two days we do not just theorise — we </a:t>
            </a:r>
            <a:pPr algn="l" indent="0" marL="0">
              <a:lnSpc>
                <a:spcPct val="126087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Claude Code against Anna’s real code, live</a:t>
            </a:r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deliver a verdict: is this attack real, or theater? </a:t>
            </a:r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you break in the lab, we test against a real app. That is the method you take home.</a:t>
            </a:r>
            <a:endParaRPr lang="en-US" sz="22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423082" y="9498806"/>
            <a:ext cx="3161749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OPENER · ADVERSARIAL AI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455664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INSTRUCTORS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860477"/>
            <a:ext cx="1793748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261"/>
              </a:lnSpc>
              <a:buNone/>
            </a:pPr>
            <a:r>
              <a:rPr lang="en-US" sz="8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MOOKHEY</a:t>
            </a:r>
            <a:endParaRPr lang="en-US" sz="8250" dirty="0"/>
          </a:p>
        </p:txBody>
      </p:sp>
      <p:sp>
        <p:nvSpPr>
          <p:cNvPr id="4" name="Text 2"/>
          <p:cNvSpPr/>
          <p:nvPr/>
        </p:nvSpPr>
        <p:spPr>
          <a:xfrm>
            <a:off x="990600" y="4184452"/>
            <a:ext cx="1781175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Transilience AI · Los Altos, CA · ~25 years in cybersecurity.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990600" y="4941689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07306" y="4941689"/>
            <a:ext cx="12008115" cy="4295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Focus: </a:t>
            </a:r>
            <a:pPr algn="l" indent="0" marL="0">
              <a:lnSpc>
                <a:spcPct val="121194"/>
              </a:lnSpc>
              <a:buNone/>
            </a:pP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security and adversarial AI</a:t>
            </a:r>
            <a:pPr algn="l" indent="0" marL="0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cloud security (AWS / Azure), compliance and audit.</a:t>
            </a:r>
            <a:endParaRPr lang="en-US" sz="2175" dirty="0"/>
          </a:p>
        </p:txBody>
      </p:sp>
      <p:sp>
        <p:nvSpPr>
          <p:cNvPr id="7" name="Text 5"/>
          <p:cNvSpPr/>
          <p:nvPr/>
        </p:nvSpPr>
        <p:spPr>
          <a:xfrm>
            <a:off x="990600" y="5580757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307306" y="5580757"/>
            <a:ext cx="6952067" cy="4295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194"/>
              </a:lnSpc>
              <a:buNone/>
            </a:pP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CISSP · CISA · PCI QSA · Azure Security Engineer.</a:t>
            </a:r>
            <a:endParaRPr lang="en-US" sz="2175" dirty="0"/>
          </a:p>
        </p:txBody>
      </p:sp>
      <p:sp>
        <p:nvSpPr>
          <p:cNvPr id="9" name="Text 7"/>
          <p:cNvSpPr/>
          <p:nvPr/>
        </p:nvSpPr>
        <p:spPr>
          <a:xfrm>
            <a:off x="990600" y="6219825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307306" y="6219825"/>
            <a:ext cx="1167987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open security tooling — e.g. Project Shasta, AWS/Azure compliance automation.</a:t>
            </a:r>
            <a:endParaRPr lang="en-US" sz="2175" dirty="0"/>
          </a:p>
        </p:txBody>
      </p:sp>
      <p:sp>
        <p:nvSpPr>
          <p:cNvPr id="11" name="Text 9"/>
          <p:cNvSpPr/>
          <p:nvPr/>
        </p:nvSpPr>
        <p:spPr>
          <a:xfrm>
            <a:off x="990600" y="6854130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307306" y="6854130"/>
            <a:ext cx="408622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194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linkedin.com/in/kkmookhey</a:t>
            </a:r>
            <a:endParaRPr lang="en-US" sz="19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423082" y="9498806"/>
            <a:ext cx="3161749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OPENER · ADVERSARIAL AI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129034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INSTRUCTORS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695152"/>
            <a:ext cx="16796004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261"/>
              </a:lnSpc>
              <a:buNone/>
            </a:pPr>
            <a:r>
              <a:rPr lang="en-US" sz="7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VENKAT POTHAMSETTY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90600" y="3790652"/>
            <a:ext cx="1781175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and CISO, Transilience AI — building at the intersection of generative AI, cloud and security.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990600" y="4547890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07306" y="4547890"/>
            <a:ext cx="16352068" cy="8209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decades in security engineering and product: </a:t>
            </a:r>
            <a:pPr algn="l" indent="0" marL="0">
              <a:lnSpc>
                <a:spcPct val="121194"/>
              </a:lnSpc>
              <a:buNone/>
            </a:pP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Cisco </a:t>
            </a:r>
            <a:pPr algn="l" indent="0" marL="0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(product manager, Infrastructure Security Services Group), </a:t>
            </a:r>
            <a:pPr algn="l" indent="0" marL="0">
              <a:lnSpc>
                <a:spcPct val="121194"/>
              </a:lnSpc>
              <a:buNone/>
            </a:pP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Lockheed Martin </a:t>
            </a:r>
            <a:pPr algn="l" indent="0" marL="0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ct val="121194"/>
              </a:lnSpc>
              <a:buNone/>
            </a:pP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Stack</a:t>
            </a:r>
            <a:pPr algn="l" indent="0" marL="0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ct val="121194"/>
              </a:lnSpc>
              <a:buNone/>
            </a:pP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Cofense</a:t>
            </a:r>
            <a:pPr algn="l" indent="0" marL="0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75" dirty="0"/>
          </a:p>
        </p:txBody>
      </p:sp>
      <p:sp>
        <p:nvSpPr>
          <p:cNvPr id="7" name="Text 5"/>
          <p:cNvSpPr/>
          <p:nvPr/>
        </p:nvSpPr>
        <p:spPr>
          <a:xfrm>
            <a:off x="990600" y="5578376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307306" y="5578376"/>
            <a:ext cx="16509266" cy="4295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</a:t>
            </a:r>
            <a:pPr algn="l" indent="0" marL="0">
              <a:lnSpc>
                <a:spcPct val="121194"/>
              </a:lnSpc>
              <a:buNone/>
            </a:pP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security agents </a:t>
            </a:r>
            <a:pPr algn="l" indent="0" marL="0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Transilience ships agentic pentest, vulnerability and compliance agents in production.</a:t>
            </a:r>
            <a:endParaRPr lang="en-US" sz="2175" dirty="0"/>
          </a:p>
        </p:txBody>
      </p:sp>
      <p:sp>
        <p:nvSpPr>
          <p:cNvPr id="9" name="Text 7"/>
          <p:cNvSpPr/>
          <p:nvPr/>
        </p:nvSpPr>
        <p:spPr>
          <a:xfrm>
            <a:off x="990600" y="6217444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307306" y="6217444"/>
            <a:ext cx="14459850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and speaks on LLM agent architectures, RAG for security, and the economics of agentic security work.</a:t>
            </a:r>
            <a:endParaRPr lang="en-US" sz="2175" dirty="0"/>
          </a:p>
        </p:txBody>
      </p:sp>
      <p:sp>
        <p:nvSpPr>
          <p:cNvPr id="11" name="Text 9"/>
          <p:cNvSpPr/>
          <p:nvPr/>
        </p:nvSpPr>
        <p:spPr>
          <a:xfrm>
            <a:off x="990600" y="6851749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307306" y="6851749"/>
            <a:ext cx="5265926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MBA, The University of Texas at Austin.</a:t>
            </a:r>
            <a:endParaRPr lang="en-US" sz="2175" dirty="0"/>
          </a:p>
        </p:txBody>
      </p:sp>
      <p:sp>
        <p:nvSpPr>
          <p:cNvPr id="13" name="Text 11"/>
          <p:cNvSpPr/>
          <p:nvPr/>
        </p:nvSpPr>
        <p:spPr>
          <a:xfrm>
            <a:off x="990600" y="7486055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307306" y="7486055"/>
            <a:ext cx="5393866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194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linkedin.com/in/venkatpothamsetty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90600" y="8177510"/>
            <a:ext cx="1793748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Compiled from public sources — transilience.ai, LinkedIn. Edit before the room sees it.</a:t>
            </a:r>
            <a:endParaRPr lang="en-US" sz="13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4423082" y="9498806"/>
            <a:ext cx="3161749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OPENER · ADVERSARIAL AI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1340718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EXPECTATIONS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745531"/>
            <a:ext cx="16796004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261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GET THE MOST OUT OF TODAY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90600" y="3536231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841031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508820" y="3764831"/>
            <a:ext cx="14797259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696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patient with the shared lab.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508820" y="4198218"/>
            <a:ext cx="1479725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545"/>
              </a:lnSpc>
              <a:buNone/>
            </a:pPr>
            <a:r>
              <a:rPr lang="en-US" sz="180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hosted instance for the whole room — under load a reply may take a few seconds. That is queueing, not a failure. Re-run if needed.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90600" y="4701108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990600" y="5005908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508820" y="4929708"/>
            <a:ext cx="17367439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696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lane.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508820" y="5363096"/>
            <a:ext cx="16262238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545"/>
              </a:lnSpc>
              <a:buNone/>
            </a:pPr>
            <a:r>
              <a:rPr lang="en-US" sz="180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 the hosted lab (zero setup), or take the builder lane — run the code on your laptop and build-break-secure it yourself. Switch anytime; setup is one page in prereqs/.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90600" y="6197426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" y="6502226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508820" y="6426026"/>
            <a:ext cx="13446480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696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2: bring a key.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508820" y="6859414"/>
            <a:ext cx="1344648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545"/>
              </a:lnSpc>
              <a:buNone/>
            </a:pPr>
            <a:r>
              <a:rPr lang="en-US" sz="180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or Anthropic. Frontier models chain tool calls reliably; the keyless model demonstrates the mechanism but will not.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90600" y="7362304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7667104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508820" y="7590904"/>
            <a:ext cx="1417818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696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sanctioned payloads for the graded run.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508820" y="8024292"/>
            <a:ext cx="1417818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545"/>
              </a:lnSpc>
              <a:buNone/>
            </a:pPr>
            <a:r>
              <a:rPr lang="en-US" sz="180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cleverer attack can be better and still not score — grading checks a mechanism. Improvise after you have passed, and show us.</a:t>
            </a:r>
            <a:endParaRPr lang="en-US" sz="18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4423082" y="9498806"/>
            <a:ext cx="3161749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OPENER · ADVERSARIAL AI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3018086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GROUND RULES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422898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OF THE RANGE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90600" y="4626843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307306" y="4626843"/>
            <a:ext cx="16352068" cy="8161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here is a </a:t>
            </a:r>
            <a:pPr algn="l" indent="0" marL="0">
              <a:lnSpc>
                <a:spcPct val="121194"/>
              </a:lnSpc>
              <a:buNone/>
            </a:pP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deliberately-vulnerable teaching lab</a:t>
            </a:r>
            <a:pPr algn="l" indent="0" marL="0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These techniques are for </a:t>
            </a:r>
            <a:pPr algn="l" indent="0" marL="0">
              <a:lnSpc>
                <a:spcPct val="121194"/>
              </a:lnSpc>
              <a:buNone/>
            </a:pP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authorized testing only </a:t>
            </a:r>
            <a:pPr algn="l" indent="0" marL="0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skills are real, the consent is what makes them legal.</a:t>
            </a:r>
            <a:endParaRPr lang="en-US" sz="2175" dirty="0"/>
          </a:p>
        </p:txBody>
      </p:sp>
      <p:sp>
        <p:nvSpPr>
          <p:cNvPr id="6" name="Text 4"/>
          <p:cNvSpPr/>
          <p:nvPr/>
        </p:nvSpPr>
        <p:spPr>
          <a:xfrm>
            <a:off x="990600" y="5652567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07306" y="5652567"/>
            <a:ext cx="9130323" cy="4295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at your own pace; instructors circulate — </a:t>
            </a:r>
            <a:pPr algn="l" indent="0" marL="0">
              <a:lnSpc>
                <a:spcPct val="121194"/>
              </a:lnSpc>
              <a:buNone/>
            </a:pP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a hand </a:t>
            </a:r>
            <a:pPr algn="l" indent="0" marL="0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anytime.</a:t>
            </a:r>
            <a:endParaRPr lang="en-US" sz="2175" dirty="0"/>
          </a:p>
        </p:txBody>
      </p:sp>
      <p:sp>
        <p:nvSpPr>
          <p:cNvPr id="8" name="Text 6"/>
          <p:cNvSpPr/>
          <p:nvPr/>
        </p:nvSpPr>
        <p:spPr>
          <a:xfrm>
            <a:off x="990600" y="6291635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307306" y="6291635"/>
            <a:ext cx="10926641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 on reach or a slow response? Flag it early; we fix it while the room warms up.</a:t>
            </a:r>
            <a:endParaRPr lang="en-US" sz="2175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423082" y="9498806"/>
            <a:ext cx="3161749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OPENER · ADVERSARIAL AI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3170411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495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UP · M0 — THREAT MODEL + REACH-TEST, THEN THE GANDALF WARM-UP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732386"/>
            <a:ext cx="17937480" cy="2019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565"/>
              </a:lnSpc>
              <a:buNone/>
            </a:pPr>
            <a:r>
              <a:rPr lang="en-US" sz="19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</a:t>
            </a:r>
            <a:pPr algn="l" indent="0" marL="0">
              <a:lnSpc>
                <a:spcPct val="69565"/>
              </a:lnSpc>
              <a:buNone/>
            </a:pPr>
            <a:r>
              <a:rPr lang="en-US" sz="195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9500" dirty="0"/>
          </a:p>
        </p:txBody>
      </p:sp>
      <p:sp>
        <p:nvSpPr>
          <p:cNvPr id="4" name="Text 2"/>
          <p:cNvSpPr/>
          <p:nvPr/>
        </p:nvSpPr>
        <p:spPr>
          <a:xfrm>
            <a:off x="990600" y="6056486"/>
            <a:ext cx="1571625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410"/>
              </a:lnSpc>
              <a:buNone/>
            </a:pP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green, then we start breaking things.</a:t>
            </a:r>
            <a:endParaRPr lang="en-US" sz="25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315450"/>
            <a:ext cx="1666875" cy="4762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797980" y="9451181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 2026 · TRAININGS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2026-08-03T14:45:13Z</dcterms:created>
  <dcterms:modified xsi:type="dcterms:W3CDTF">2026-08-03T14:45:13Z</dcterms:modified>
</cp:coreProperties>
</file>