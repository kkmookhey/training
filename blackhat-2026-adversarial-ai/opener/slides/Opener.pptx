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8896"/>
  </p:normalViewPr>
  <p:slideViewPr>
    <p:cSldViewPr snapToGrid="0" snapToObjects="1">
      <p:cViewPr varScale="1">
        <p:scale>
          <a:sx n="79" d="100"/>
          <a:sy n="79" d="100"/>
        </p:scale>
        <p:origin x="5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551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495675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HAT USA 2026 · TRAININGS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4038600"/>
            <a:ext cx="16796004" cy="240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965"/>
              </a:lnSpc>
              <a:buNone/>
            </a:pPr>
            <a:r>
              <a:rPr lang="en-US" sz="11250" b="1" kern="0" spc="1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</a:t>
            </a:r>
            <a:r>
              <a:rPr lang="en-US" sz="11250" b="1" kern="0" spc="113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990600" y="6734175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the AI Stack, Layer by Layer — two days, hands-on. KK Mookhey &amp; Venkat Pothamsetty.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DAYS · HANDS-ON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58926"/>
            <a:ext cx="41490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SHAPE OF THE CLASS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63738"/>
            <a:ext cx="1679600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42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TARGET. TWO DAYS. THREE VERBS.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90600" y="4527649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attack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AI-first neobank —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its assistant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Iggy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Its attack surface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each module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layer by layer.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5218658"/>
            <a:ext cx="16306800" cy="1389683"/>
          </a:xfrm>
          <a:prstGeom prst="roundRect">
            <a:avLst>
              <a:gd name="adj" fmla="val 548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68538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5404396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5404396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5404396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5361533"/>
            <a:ext cx="169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attack-surface.txt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942558"/>
            <a:ext cx="1620488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424"/>
              </a:lnSpc>
              <a:buNone/>
            </a:pP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chatbot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RAG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MCP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multi-agent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production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93219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layer you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then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</a:t>
            </a:r>
            <a:endParaRPr lang="en-US" sz="21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67126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076078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TWO-DAY ARC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3159993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350493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— THE MODEL AND ITS DATA </a:t>
            </a: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(KEYLESS)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53550" y="3350493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— THE MODEL WITH HANDS </a:t>
            </a:r>
            <a:r>
              <a:rPr lang="en-US" sz="1350" kern="0" spc="13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(BYOK)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3750543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4045818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 understanding LLMs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0" y="3750543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53550" y="4045818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tool poisoning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90600" y="468347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0150" y="4978747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chatbot · prompt injection, output handling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4000" y="468347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53550" y="4978747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· cascading trust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90600" y="5616401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5911676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RAG · knowledge-base poisoning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0" y="5616401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3550" y="5911676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guardrails + capstone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90600" y="654933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0150" y="6844605"/>
            <a:ext cx="797890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agent · excessive agency + supply chain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4000" y="654933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0600" y="7763247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on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Day 1 runs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shared model. Day 2 is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bring your own key.</a:t>
            </a:r>
            <a:endParaRPr lang="en-US" sz="1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91921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YOUR LANE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324026"/>
            <a:ext cx="1793748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PLAY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90600" y="7162800"/>
            <a:ext cx="7991475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600376"/>
            <a:ext cx="7991475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600376"/>
            <a:ext cx="9525" cy="3571949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72550" y="3600376"/>
            <a:ext cx="9525" cy="3571949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81125" y="4019476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 · ZERO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4338563"/>
            <a:ext cx="7931468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876"/>
              </a:lnSpc>
              <a:buNone/>
            </a:pPr>
            <a:r>
              <a:rPr lang="en-US" sz="42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381125" y="5019749"/>
            <a:ext cx="793146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the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from your browser.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381125" y="5550247"/>
            <a:ext cx="721042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81125" y="5731222"/>
            <a:ext cx="742673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setup — the default.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81125" y="6249367"/>
            <a:ext cx="721042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81125" y="6430342"/>
            <a:ext cx="742673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just attack.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05925" y="7162800"/>
            <a:ext cx="7991475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05925" y="3600376"/>
            <a:ext cx="7991475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05925" y="3600376"/>
            <a:ext cx="9525" cy="3571949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287875" y="3600376"/>
            <a:ext cx="9525" cy="3571949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6450" y="4019476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· BRING A LAPTOP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96450" y="4338563"/>
            <a:ext cx="7931468" cy="52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876"/>
              </a:lnSpc>
              <a:buNone/>
            </a:pPr>
            <a:r>
              <a:rPr lang="en-US" sz="42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9696450" y="5019749"/>
            <a:ext cx="793146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and run the module’s code on your laptop.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96450" y="5550247"/>
            <a:ext cx="721042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96450" y="5731222"/>
            <a:ext cx="7426738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Break → Secure the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guard code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yourself.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696450" y="6254130"/>
            <a:ext cx="721042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6450" y="6435105"/>
            <a:ext cx="742673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</a:t>
            </a:r>
            <a:r>
              <a:rPr lang="en-US" sz="17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SEC_*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in the source, watch the attack die locally.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90600" y="7477125"/>
            <a:ext cx="179374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lanes </a:t>
            </a:r>
            <a:r>
              <a:rPr lang="en-US" sz="195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module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Builders: setup is one page in </a:t>
            </a: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prereqs/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78259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→ BREAK → SECURE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883072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BEATS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2193652"/>
            <a:ext cx="178117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module, the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five beats </a:t>
            </a: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you are never lost about where we are.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2955652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3260452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3184252"/>
            <a:ext cx="417896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08820" y="3617640"/>
            <a:ext cx="417896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and the attack, in two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412053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600" y="442533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820" y="4349130"/>
            <a:ext cx="452300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08820" y="4782517"/>
            <a:ext cx="452300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 in ~20 lines you can run.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528540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0600" y="559020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08820" y="5514008"/>
            <a:ext cx="78587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08820" y="5947395"/>
            <a:ext cx="78587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the attack on Eiger. Objective and pass-when are on your lab card.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0600" y="6450285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0600" y="675508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08820" y="6678885"/>
            <a:ext cx="74454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508820" y="7112273"/>
            <a:ext cx="74454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one flag, run the same attack, watch it die. The diff is the lesson.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0600" y="761516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0600" y="791996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508820" y="7843763"/>
            <a:ext cx="583310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8820" y="8277151"/>
            <a:ext cx="583310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real in production? We test it live against Anna.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0600" y="8932441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pass by mechanism, not the model’s words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grading queries an append-only audit log, never a string match. Core + stretch per module.</a:t>
            </a:r>
            <a:endParaRPr lang="en-US" sz="19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948508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ANNA — THE REAL APP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67633"/>
            <a:ext cx="1679600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IS THE LAB. ANNA IS A REAL PRODUCTION AI AGENT.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5495404"/>
            <a:ext cx="16187738" cy="1290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HubSpot, email, Slack, on Bedrock, with an autonomous planner→reviewer loop.</a:t>
            </a:r>
            <a:endParaRPr lang="en-US" sz="2250" dirty="0"/>
          </a:p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four points across the two days we don’t just theorise — we drive Claude Code against Anna’s real code, live, and deliver a verdict: is this attack real, or theater?</a:t>
            </a:r>
            <a:endParaRPr lang="en-US" sz="2250" dirty="0"/>
          </a:p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break in the lab, we test against a real app. That is the method you take home.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5566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60477"/>
            <a:ext cx="1793748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MOOKHEY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990600" y="4184452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Transilience AI · Los Altos, CA · ~25 years in cybersecurity.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4941689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4941689"/>
            <a:ext cx="1200811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and adversarial AI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cloud security (AWS / Azure), compliance and audit.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80757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5580757"/>
            <a:ext cx="6952067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CISSP · CISA · PCI QSA · Azure Security Engineer.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90600" y="621982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7306" y="6219825"/>
            <a:ext cx="116798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open security tooling — e.g. Project Shasta, AWS/Azure compliance automation.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685413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7306" y="6854130"/>
            <a:ext cx="40862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linkedin.com/in/kkmookhey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29034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695152"/>
            <a:ext cx="1679600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 POTHAMSETTY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600" y="3790652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Transilience AI — building at the intersection of generative AI, cloud and security.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454789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4547890"/>
            <a:ext cx="16352068" cy="820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in security engineering and product: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 manager, Infrastructure Security Services Group),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Stack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Cofense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78376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5578376"/>
            <a:ext cx="16509266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security agents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Transilience ships agentic pentest, vulnerability and compliance agents in production.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90600" y="6217444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7306" y="6217444"/>
            <a:ext cx="144598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and speaks on LLM agent architectures, RAG for security, and the economics of agentic security work.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6851749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7306" y="6851749"/>
            <a:ext cx="526592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MBA, The University of Texas at Austin.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90600" y="748605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07306" y="7486055"/>
            <a:ext cx="539386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linkedin.com/in/venkatpothamsetty</a:t>
            </a:r>
            <a:endParaRPr lang="en-US" sz="1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340718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745531"/>
            <a:ext cx="1679600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THE MOST OUT OF TODAY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353623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384103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764831"/>
            <a:ext cx="147972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patient with the shared lab.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8820" y="4198218"/>
            <a:ext cx="147972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hosted instance for the whole room — under load a reply may take a few seconds. That is queueing, not a failure. Re-run if needed.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70110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00590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4929708"/>
            <a:ext cx="1736743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lane.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08820" y="5363096"/>
            <a:ext cx="1626223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the hosted lab (zero setup), or take the builder lane — run the code on your laptop and build-break-secure it yourself. Switch anytime; setup is one page in prereqs/.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6197426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6502226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426026"/>
            <a:ext cx="134464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bring a key.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08820" y="6859414"/>
            <a:ext cx="134464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or Anthropic. Frontier models chain tool calls reliably; the keyless model demonstrates the mechanism but will not.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7362304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766710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820" y="7590904"/>
            <a:ext cx="1417818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sanctioned payloads for the graded run.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08820" y="8024292"/>
            <a:ext cx="141781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cleverer attack can be better and still not score — grading checks a mechanism. Improvise after you have passed and show us.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8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RULES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422898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THE RANGE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62684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4626843"/>
            <a:ext cx="16352068" cy="8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is a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deliberately-vulnerable teaching lab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90600" y="5575475"/>
            <a:ext cx="202406" cy="42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5526198"/>
            <a:ext cx="9130323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at your own pace; instructors circulate —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 hand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anytime.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0600" y="629163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6291635"/>
            <a:ext cx="1092664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reach or a slow response? Flag it early; we fix it while the room warms up.</a:t>
            </a:r>
            <a:endParaRPr lang="en-US" sz="217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1704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 · M0 — THREAT MODEL + REACH-TEST, THEN THE GANDALF WARM-UP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732386"/>
            <a:ext cx="1793748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19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r>
              <a:rPr lang="en-US" sz="19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990600" y="60564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green, then we start breaking things.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978</Words>
  <Application>Microsoft Macintosh PowerPoint</Application>
  <PresentationFormat>Custom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3</cp:revision>
  <dcterms:created xsi:type="dcterms:W3CDTF">2026-08-03T14:45:13Z</dcterms:created>
  <dcterms:modified xsi:type="dcterms:W3CDTF">2026-08-20T03:22:25Z</dcterms:modified>
</cp:coreProperties>
</file>