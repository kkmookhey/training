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64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open. One sentence: for two days you will attack one AI application across every layer it is built from, then secure each one. Set the tone now — this is a lab, not a lecture; you will spend most of your time in the browser breaking things.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single-target, growing-surface design is the whole pedagogy — one coherent story instead of eight disconnected toys. Build/Break/Secure is the rhythm of every module. Say it once here and they will recognise it all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BYOK expectation loudly and early — Day 2 agent/MCP/multi-agent labs need a frontier model to reliably chain tool calls; the keyless model shows the plumbing but will not autonomously follow a poisoned tool description. Anyone without a key: pair up or use the keyless floor to watch the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mechanism-not-words point is the intellectual spine — say it now and repeat it whenever a model phrases something oddly. It is why the labs are reproducible despite a non-deterministic model, and it is a real lesson for how to build test and detection for AI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to 30 seconds; the room cares more about what they will do today than your CV. Add any founding or career highlights you want to call out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Venkat: 30 seconds, same as KK. Frame the credibility that matters for this room — you build the agentic systems the class is about to attack, so the failure modes in Day 2 are ones you have hit in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set expectations that prevent 80% of the is-it-broken moments. The patience point especially — name it before the first slow response, not after. The sanctioned-payload point saves people from concluding they failed when they actually out-attacked the grader.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ethics line matters at Black Hat — say it plainly. Then get out of the way: the reach-test and M0 are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 cut to M0. Momentum is everything in the first 15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gradFill rotWithShape="1">
            <a:gsLst>
              <a:gs pos="0">
                <a:srgbClr val="FD7EF5">
                  <a:alpha val="100000"/>
                </a:srgbClr>
              </a:gs>
              <a:gs pos="50000">
                <a:srgbClr val="FD7EF5">
                  <a:alpha val="100000"/>
                </a:srgbClr>
              </a:gs>
              <a:gs pos="50000">
                <a:srgbClr val="36CDFF">
                  <a:alpha val="100000"/>
                </a:srgbClr>
              </a:gs>
              <a:gs pos="100000">
                <a:srgbClr val="36CDFF">
                  <a:alpha val="100000"/>
                </a:srgbClr>
              </a:gs>
            </a:gsLst>
            <a:lin ang="0" scaled="0"/>
          </a:gra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762000"/>
            <a:ext cx="5005164" cy="1066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0600" y="3258517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BLACK HAT USA 2026 · TRAININGS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990600" y="3801442"/>
            <a:ext cx="16796004" cy="2884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74"/>
              </a:lnSpc>
              <a:buNone/>
            </a:pPr>
            <a:r>
              <a:rPr lang="en-US" sz="13500" b="1" kern="0" spc="13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</a:t>
            </a:r>
            <a:r>
              <a:rPr lang="en-US" sz="13500" b="1" kern="0" spc="135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990600" y="6971333"/>
            <a:ext cx="146685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739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Red-Teaming the AI Stack, Layer by Layer — two days, hands-on. KK Mookhey &amp; Venkat Pothamsetty.</a:t>
            </a:r>
            <a:endParaRPr lang="en-US" sz="2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373240" y="9241185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ADVERSARIAL AI · RED-TEAMING THE AI SUPPLY CHAIN</a:t>
            </a:r>
            <a:endParaRPr lang="en-US" sz="1275" dirty="0"/>
          </a:p>
        </p:txBody>
      </p:sp>
      <p:sp>
        <p:nvSpPr>
          <p:cNvPr id="9" name="Text 5"/>
          <p:cNvSpPr/>
          <p:nvPr/>
        </p:nvSpPr>
        <p:spPr>
          <a:xfrm>
            <a:off x="11373240" y="9516442"/>
            <a:ext cx="5924160" cy="313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r">
              <a:lnSpc>
                <a:spcPct val="152105"/>
              </a:lnSpc>
              <a:buNone/>
            </a:pPr>
            <a:r>
              <a:rPr lang="en-US" sz="1275" kern="0" spc="179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TWO DAYS · HANDS-ON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358926"/>
            <a:ext cx="414909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SHAPE OF THE CLASS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763738"/>
            <a:ext cx="16796004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342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TARGET. TWO DAYS. THREE VERBS.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90600" y="4527649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attack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fictional AI-first neobank —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Eiger 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and its assistant </a:t>
            </a:r>
            <a:r>
              <a:rPr lang="en-US" sz="217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Iggy</a:t>
            </a:r>
            <a:r>
              <a:rPr lang="en-US" sz="217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Its attack surface grows each module, layer by layer.</a:t>
            </a:r>
            <a:endParaRPr lang="en-US" sz="2175" dirty="0"/>
          </a:p>
        </p:txBody>
      </p:sp>
      <p:sp>
        <p:nvSpPr>
          <p:cNvPr id="5" name="Shape 3"/>
          <p:cNvSpPr/>
          <p:nvPr/>
        </p:nvSpPr>
        <p:spPr>
          <a:xfrm>
            <a:off x="990600" y="5218658"/>
            <a:ext cx="16306800" cy="1389683"/>
          </a:xfrm>
          <a:prstGeom prst="roundRect">
            <a:avLst>
              <a:gd name="adj" fmla="val 5483"/>
            </a:avLst>
          </a:prstGeom>
          <a:solidFill>
            <a:srgbClr val="0B0B0B"/>
          </a:solidFill>
          <a:ln w="95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0125" y="5685383"/>
            <a:ext cx="1628775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90625" y="5404396"/>
            <a:ext cx="104775" cy="104775"/>
          </a:xfrm>
          <a:prstGeom prst="ellipse">
            <a:avLst/>
          </a:prstGeom>
          <a:solidFill>
            <a:srgbClr val="FD7E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81125" y="5404396"/>
            <a:ext cx="104775" cy="104775"/>
          </a:xfrm>
          <a:prstGeom prst="ellipse">
            <a:avLst/>
          </a:prstGeom>
          <a:solidFill>
            <a:srgbClr val="36CD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571625" y="5404396"/>
            <a:ext cx="104775" cy="104775"/>
          </a:xfrm>
          <a:prstGeom prst="ellipse">
            <a:avLst/>
          </a:prstGeom>
          <a:solidFill>
            <a:srgbClr val="9696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76425" y="5361533"/>
            <a:ext cx="16973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attack-surface.txt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1285875" y="5942558"/>
            <a:ext cx="16204883" cy="4467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5424"/>
              </a:lnSpc>
              <a:buNone/>
            </a:pP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 chatbot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 RAG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 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 MCP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 multi-agent</a:t>
            </a: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9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 production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932191"/>
            <a:ext cx="178117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552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layer you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it, then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it.</a:t>
            </a:r>
            <a:endParaRPr lang="en-US" sz="2175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66888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AGENDA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073697"/>
            <a:ext cx="17937480" cy="7410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511"/>
              </a:lnSpc>
              <a:buNone/>
            </a:pPr>
            <a:r>
              <a:rPr lang="en-US" sz="6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TWO-DAY ARC</a:t>
            </a:r>
            <a:endParaRPr lang="en-US" sz="6150" dirty="0"/>
          </a:p>
        </p:txBody>
      </p:sp>
      <p:sp>
        <p:nvSpPr>
          <p:cNvPr id="4" name="Shape 2"/>
          <p:cNvSpPr/>
          <p:nvPr/>
        </p:nvSpPr>
        <p:spPr>
          <a:xfrm>
            <a:off x="990600" y="3157612"/>
            <a:ext cx="16306800" cy="19050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00150" y="334811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1 — THE MODEL AND ITS DATA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353550" y="3348112"/>
            <a:ext cx="79789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kern="0" spc="135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2 — THE MODEL WITH HANDS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90600" y="374816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65098" y="4973129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L0 chatbot · prompt injection, output handling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144000" y="3748162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00150" y="6804124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· excessive agency + supply chain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90600" y="4681091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65098" y="5862176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RAG · knowledge-base poisoning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144000" y="4681091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353550" y="4976366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tool poisoning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90600" y="561402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9144000" y="5614020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353550" y="5909295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· cascading trust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90600" y="6546949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144000" y="6546949"/>
            <a:ext cx="8153400" cy="9525"/>
          </a:xfrm>
          <a:prstGeom prst="rect">
            <a:avLst/>
          </a:prstGeom>
          <a:solidFill>
            <a:srgbClr val="FFFFFF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353550" y="6842224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</a:t>
            </a:r>
            <a:r>
              <a:rPr lang="en-US" sz="2025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· guardrails + capstone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90600" y="8070577"/>
            <a:ext cx="178117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runs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keyless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shared model. Day 2 is </a:t>
            </a:r>
            <a:r>
              <a:rPr lang="en-US" sz="1800" b="1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BYOK </a:t>
            </a:r>
            <a:r>
              <a:rPr lang="en-US" sz="180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bring your own key.</a:t>
            </a:r>
            <a:endParaRPr lang="en-US" sz="18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96B3A68F-B32E-D835-9C23-CB64FDCA1C3B}"/>
              </a:ext>
            </a:extLst>
          </p:cNvPr>
          <p:cNvSpPr/>
          <p:nvPr/>
        </p:nvSpPr>
        <p:spPr>
          <a:xfrm>
            <a:off x="1165098" y="3997769"/>
            <a:ext cx="7978902" cy="3900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7581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F0 – Understanding LLMs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751261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156073"/>
            <a:ext cx="1793748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342"/>
              </a:lnSpc>
              <a:buNone/>
            </a:pPr>
            <a:r>
              <a:rPr lang="en-US" sz="6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EVERY MODULE WORKS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90600" y="3295204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360000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523804"/>
            <a:ext cx="631965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lab — nothing to install.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1508820" y="3969097"/>
            <a:ext cx="63196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reach-test is screen 1. If you are green, you are ready.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510088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4814888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4738688"/>
            <a:ext cx="6616951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Break → Secure, every module.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1508820" y="5183981"/>
            <a:ext cx="6616951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stand the layer up, attack it, then close the hole yourself.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572497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602977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5953571"/>
            <a:ext cx="705937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levels per module: L1 vulnerable, L2 secure.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1508820" y="6398865"/>
            <a:ext cx="70593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one flag, run the same attack, watch it die.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6939855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7244655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820" y="7168455"/>
            <a:ext cx="13623779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9155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pass by mechanism, not by the model’s words.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1508820" y="7613749"/>
            <a:ext cx="1362377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queries an append-only audit log, never a string match on the reply. Each module has a core objective and a stretch.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455664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2860477"/>
            <a:ext cx="17937480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8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KK MOOKHEY</a:t>
            </a:r>
            <a:endParaRPr lang="en-US" sz="8250" dirty="0"/>
          </a:p>
        </p:txBody>
      </p:sp>
      <p:sp>
        <p:nvSpPr>
          <p:cNvPr id="4" name="Text 2"/>
          <p:cNvSpPr/>
          <p:nvPr/>
        </p:nvSpPr>
        <p:spPr>
          <a:xfrm>
            <a:off x="990600" y="4184452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Transilience AI · Los Altos, CA · ~25 years in cybersecurity.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4941689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4941689"/>
            <a:ext cx="12008115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security and adversarial AI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cloud security (AWS / Azure), compliance and audit.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80757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5580757"/>
            <a:ext cx="6952067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CISSP · CISA · PCI QSA · Azure Security Engineer.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90600" y="621982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7306" y="6219825"/>
            <a:ext cx="1167987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open security tooling — e.g. Project Shasta, AWS/Azure compliance automation.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685413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7306" y="6854130"/>
            <a:ext cx="4086225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linkedin.com/in/kkmookhey</a:t>
            </a:r>
            <a:endParaRPr lang="en-US" sz="19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290340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 INSTRUCTORS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695152"/>
            <a:ext cx="16796004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7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 POTHAMSETTY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90600" y="3790652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087"/>
              </a:lnSpc>
              <a:buNone/>
            </a:pPr>
            <a:r>
              <a:rPr lang="en-US" sz="22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and CTO, Transilience AI — building at the intersection of generative AI, cloud and security.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90600" y="4547890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307306" y="4547890"/>
            <a:ext cx="16352068" cy="820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decades in security engineering and product: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(product manager, Infrastructure Security Services Group),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Lockheed Martin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Threat Stack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Cofense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990600" y="5578376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07306" y="5578376"/>
            <a:ext cx="16509266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security agents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Transilience ships agentic pentest, vulnerability and compliance agents in production.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990600" y="6217444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07306" y="6217444"/>
            <a:ext cx="1445985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and speaks on LLM agent architectures, RAG for security, and the economics of agentic security work.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90600" y="6851749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07306" y="6851749"/>
            <a:ext cx="526592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MBA, The University of Texas at Austin.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990600" y="748605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307306" y="7486055"/>
            <a:ext cx="5393866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1950" dirty="0">
                <a:solidFill>
                  <a:srgbClr val="C8C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linkedin.com/in/venkatpothamsetty</a:t>
            </a:r>
            <a:endParaRPr lang="en-US" sz="19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1477863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EXPECTATIONS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1882676"/>
            <a:ext cx="1679600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GET THE MOST OUT OF TODAY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990600" y="3673376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0600" y="3978176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508820" y="3901976"/>
            <a:ext cx="14797259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patient with the shared lab.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508820" y="4335363"/>
            <a:ext cx="14797259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hosted instance for the whole room — under load a reply may take a few seconds. That is queueing, not a failure. Re-run if needed.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90600" y="4857304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90600" y="5162104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508820" y="5085904"/>
            <a:ext cx="1664490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it locally if you can.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508820" y="5519291"/>
            <a:ext cx="1664490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snappiest experience, run Eiger and the concept demos on your laptop — one-page setup in the repo README, linked on the reach-test screen.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6041231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90600" y="6346031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508820" y="6269831"/>
            <a:ext cx="1344648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2: bring a key.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508820" y="6703219"/>
            <a:ext cx="13446480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or Anthropic. Frontier models chain tool calls reliably; the keyless model demonstrates the mechanism but will not.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90600" y="7225159"/>
            <a:ext cx="16306800" cy="19050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0600" y="7529959"/>
            <a:ext cx="3277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820" y="7453759"/>
            <a:ext cx="14178186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8696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sanctioned payloads for the graded run.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508820" y="7887146"/>
            <a:ext cx="14178186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6545"/>
              </a:lnSpc>
              <a:buNone/>
            </a:pPr>
            <a:r>
              <a:rPr lang="en-US" sz="1800" dirty="0">
                <a:solidFill>
                  <a:srgbClr val="9696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cleverer attack can be better and still not score — grading checks a mechanism. Improvise after you have passed, and show us.</a:t>
            </a:r>
            <a:endParaRPr lang="en-US" sz="18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3018086"/>
            <a:ext cx="1793748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kern="0" spc="450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GROUND RULES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990600" y="3422898"/>
            <a:ext cx="17937480" cy="861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19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OF THE RANGE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90600" y="4626843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307306" y="4626843"/>
            <a:ext cx="16352068" cy="8161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here is a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deliberately-vulnerable teaching lab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These techniques are for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authorized testing only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skills are real, the consent is what makes them legal.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990600" y="5652567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07306" y="5652567"/>
            <a:ext cx="9130323" cy="4295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at your own pace; instructors circulate — </a:t>
            </a:r>
            <a:r>
              <a:rPr lang="en-US" sz="21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a hand </a:t>
            </a: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anytime.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990600" y="6291635"/>
            <a:ext cx="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650" dirty="0">
                <a:solidFill>
                  <a:srgbClr val="FD7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07306" y="6291635"/>
            <a:ext cx="10926641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1194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on reach or a slow response? Flag it early; we fix it while the room warms up.</a:t>
            </a:r>
            <a:endParaRPr lang="en-US" sz="2175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410700"/>
            <a:ext cx="1333500" cy="381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423082" y="9498806"/>
            <a:ext cx="3161749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OPENER · ADVERSARIAL AI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0600" y="2667491"/>
            <a:ext cx="1793748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kern="0" spc="495" dirty="0">
                <a:solidFill>
                  <a:srgbClr val="36C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UP · F0 — GANDALF + F0 + THREAT MODEL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990600" y="3732386"/>
            <a:ext cx="17937480" cy="2019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69565"/>
              </a:lnSpc>
              <a:buNone/>
            </a:pPr>
            <a:r>
              <a:rPr lang="en-US" sz="19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</a:t>
            </a:r>
            <a:r>
              <a:rPr lang="en-US" sz="19500" b="1" dirty="0">
                <a:solidFill>
                  <a:srgbClr val="FD7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990600" y="6056486"/>
            <a:ext cx="1571625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410"/>
              </a:lnSpc>
              <a:buNone/>
            </a:pPr>
            <a:r>
              <a:rPr lang="en-US" sz="2550" dirty="0">
                <a:solidFill>
                  <a:srgbClr val="C8C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green, then we start breaking things.</a:t>
            </a:r>
            <a:endParaRPr lang="en-US" sz="2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9315450"/>
            <a:ext cx="1666875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797980" y="9451181"/>
            <a:ext cx="2749361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200" kern="0" spc="264" dirty="0">
                <a:solidFill>
                  <a:srgbClr val="9696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 2026 · TRAININGS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1144</Words>
  <Application>Microsoft Macintosh PowerPoint</Application>
  <PresentationFormat>Custom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KK Mookhey</cp:lastModifiedBy>
  <cp:revision>2</cp:revision>
  <dcterms:created xsi:type="dcterms:W3CDTF">2026-08-01T14:33:47Z</dcterms:created>
  <dcterms:modified xsi:type="dcterms:W3CDTF">2026-08-01T14:36:26Z</dcterms:modified>
</cp:coreProperties>
</file>