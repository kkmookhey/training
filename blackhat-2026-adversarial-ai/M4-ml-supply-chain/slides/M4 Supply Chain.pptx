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odd one out, and a deliberate change of pace after two model-centric modules. No chatting today. You put on a reverse-engineer hat and audit the files the app ships. Fully deterministic, no model, no key: the most reliable everyone-passes module in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the map. We are not moving up the stack, we are looking underneath it. Base models, embedding models, hundreds of transitive Python packages, all pulled from public hubs and all executing on your infrastructure. This risk exists before a single token is generated.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module exists to prove. Most ML practitioners think of a model file as data: weights, numbers, inert. For the most common serialization format in the ecosystem that is simply false, and the gap between that belief and reality is where this whole attack class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nullifAI detail is the one to dwell on: attackers compressed with 7z instead of ZIP and deliberately broke the pickle stream, so the platform scanner failed to parse it while Python still executed the payload. That is a scanner-evasion arms race, which tells you we scan uploads is not a finished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exercise as triage rather than exploitation. They are not attacking Eiger today, they are auditing what Eiger shipped, which is the actual job most of them will be asked to do when their company adopts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reduce is a legitimate, documented protocol: it lets an object tell the unpickler to rebuild me, call this function with these arguments. The unpickler dutifully does. So a pickle is not a description of an object, it is instructions for reconstructing one, and call os.system is a perfectly valid instruction. protocol=4 is why this shows up as STACK_GLOBAL plus REDUCE rather than a plain GLOBAL.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asymmetry. Every other module needed the model to cooperate. This one needs nothing but a file read. Our payload is an echo so the demo is safe, but the mechanism is identical to a reverse shell — nullifAI’s real version connected to a hard-coded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practically useful thing a participant leaves M4 with. The PyTorch row surprises people: the default checkpoint format in the most popular deep-learning framework was pickle-based, which is why torch.load grew a weights_only flag. If they remember one slide, it should be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guards in the right order. Format-only lets a poisoned safetensors-named file through if you trust extensions. Hash-only still unpickles.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explicitly. It pre-empts the obvious question and models good lab hygiene. The graded path is a static audit plus a known-answer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important design property is static disassembly, not execution. genops walks opcodes and yields them; nothing is reconstructed, so scanning a malicious pickle is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point at. The pkl is flagged with the specific dangerous opcodes, and the safetensors is reported clean with a note that it is not even a parseable pickle. Deliberate design: only real dangerous opcodes mark a file malicious, so a genuine safetensors never false-positives.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rare case in security where a clean structural fix exists and is already widely adopted, so use safetensors is genuinely actionable advice rather than a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CHECK BEFORE CLASS. Participants need the artifacts inside their container: GET /api/m4/bundle ships the artifacts plus a stdlib scanner and a README. Verify that PR is merged and deployed. If it is not, the container COPYs only halcyon/ so labs/m4 is not there and nobody can run the scanner — in that case run the scan as a screen-share and let them submit from your output. Also note stretch now requires the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lesson is subtler than update your deps. Pinning is correct engineering practice — reproducible builds require it. But a pin is a decision you made once and stopped thinking about, and the CVE arrives later. Pinning is necessary and not sufficient. Lockfile scanning belongs in CI, not a quarterly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live RCE of the course and it is instructor-only. The command is in docs/m4-instructor-demo.md. Throwaway container, never the host, never conference wifi. The moment that lands is the shell command printing from what looks like a model load. Then flip the flag and show the refusal on the extension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M4’s secure beat is a demo rather than a validate flip, because the graded path is a known-answer check with no flag to toggle. The refusal happens on metadata, not content, which is what makes it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bullet is the sharp one: hash pinning moves the trust problem rather than solving it. Somebody has to decide the first hash is trustworthy, and that decision is usually it is what we downloaded on Tuesday. Also raise trust_remote_code=True, the modern equivalent of unpickling.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Scanning is only moderate and be specific about why: nullifAI beat platform-side PickleScan by breaking the stream. Scanners are a useful layer and a losing arms race. Choosing a format with no code-execution semantics is the structural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reframing that changes behaviour. Nobody would curl pipe sudo bash a random script, and everyone does the moral equivalent with model weights daily. Once model equals dependency lands, existing supply-chain instincts transfer wholesale.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actions. The weights_only=True tip is the highest-value one-liner: a single kwarg that removes the entire pickle-RCE class from PyTorch loading, and most teams do not know it exists. The trust_remote_code grep usually finds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Python docs line if you want a laugh. The official documentation has warned about this in a red box for twenty years and the entire ML ecosystem standardised on it anyway. That gap between documented risk and shipped practice is the real subject of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Artifact audited. Close Day 1 and preview M5: the model stops talking and starts doing.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gradFill rotWithShape="1">
            <a:gsLst>
              <a:gs pos="0">
                <a:srgbClr val="FD7EF5">
                  <a:alpha val="100000"/>
                </a:srgbClr>
              </a:gs>
              <a:gs pos="50000">
                <a:srgbClr val="FD7EF5">
                  <a:alpha val="100000"/>
                </a:srgbClr>
              </a:gs>
              <a:gs pos="50000">
                <a:srgbClr val="36CDFF">
                  <a:alpha val="100000"/>
                </a:srgbClr>
              </a:gs>
              <a:gs pos="100000">
                <a:srgbClr val="36CDFF">
                  <a:alpha val="100000"/>
                </a:srgbClr>
              </a:gs>
            </a:gsLst>
            <a:lin ang="0" scaled="0"/>
          </a:gradFill>
          <a:ln/>
        </p:spPr>
      </p:sp>
      <p:pic>
        <p:nvPicPr>
          <p:cNvPr id="3" name="Image 0" descr="preencoded.png">    </p:cNvPr>
          <p:cNvPicPr>
            <a:picLocks noChangeAspect="1"/>
          </p:cNvPicPr>
          <p:nvPr/>
        </p:nvPicPr>
        <p:blipFill>
          <a:blip r:embed="rId1"/>
          <a:stretch>
            <a:fillRect/>
          </a:stretch>
        </p:blipFill>
        <p:spPr>
          <a:xfrm>
            <a:off x="990600" y="762000"/>
            <a:ext cx="5005164" cy="1066800"/>
          </a:xfrm>
          <a:prstGeom prst="rect">
            <a:avLst/>
          </a:prstGeom>
        </p:spPr>
      </p:pic>
      <p:sp>
        <p:nvSpPr>
          <p:cNvPr id="4" name="Text 1"/>
          <p:cNvSpPr/>
          <p:nvPr/>
        </p:nvSpPr>
        <p:spPr>
          <a:xfrm>
            <a:off x="990600" y="3495675"/>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MODULE M4 · ~60 MIN · STATIC AUDIT · NO MODEL</a:t>
            </a:r>
            <a:endParaRPr lang="en-US" sz="1650" dirty="0"/>
          </a:p>
        </p:txBody>
      </p:sp>
      <p:sp>
        <p:nvSpPr>
          <p:cNvPr id="5" name="Text 2"/>
          <p:cNvSpPr/>
          <p:nvPr/>
        </p:nvSpPr>
        <p:spPr>
          <a:xfrm>
            <a:off x="990600" y="4038600"/>
            <a:ext cx="16796004" cy="2409825"/>
          </a:xfrm>
          <a:prstGeom prst="rect">
            <a:avLst/>
          </a:prstGeom>
          <a:noFill/>
          <a:ln/>
        </p:spPr>
        <p:txBody>
          <a:bodyPr wrap="square" lIns="25400" tIns="25400" rIns="25400" bIns="25400" rtlCol="0" anchor="t">
            <a:normAutofit/>
          </a:bodyPr>
          <a:lstStyle/>
          <a:p>
            <a:pPr algn="l" indent="0" marL="0">
              <a:lnSpc>
                <a:spcPct val="71965"/>
              </a:lnSpc>
              <a:buNone/>
            </a:pPr>
            <a:r>
              <a:rPr lang="en-US" sz="11250" b="1" spc="113" kern="0" dirty="0">
                <a:solidFill>
                  <a:srgbClr val="FFFFFF"/>
                </a:solidFill>
                <a:latin typeface="Arial" pitchFamily="34" charset="0"/>
                <a:ea typeface="Arial" pitchFamily="34" charset="-122"/>
                <a:cs typeface="Arial" pitchFamily="34" charset="-120"/>
              </a:rPr>
              <a:t>ML SUPPLY </a:t>
            </a:r>
            <a:pPr algn="l" indent="0" marL="0">
              <a:lnSpc>
                <a:spcPct val="71965"/>
              </a:lnSpc>
              <a:buNone/>
            </a:pPr>
            <a:r>
              <a:rPr lang="en-US" sz="11250" b="1" spc="113" kern="0" dirty="0">
                <a:solidFill>
                  <a:srgbClr val="FD7EF5"/>
                </a:solidFill>
                <a:latin typeface="Arial" pitchFamily="34" charset="0"/>
                <a:ea typeface="Arial" pitchFamily="34" charset="-122"/>
                <a:cs typeface="Arial" pitchFamily="34" charset="-120"/>
              </a:rPr>
              <a:t>CHAIN</a:t>
            </a:r>
            <a:endParaRPr lang="en-US" sz="11250" dirty="0"/>
          </a:p>
        </p:txBody>
      </p:sp>
      <p:sp>
        <p:nvSpPr>
          <p:cNvPr id="6" name="Text 3"/>
          <p:cNvSpPr/>
          <p:nvPr/>
        </p:nvSpPr>
        <p:spPr>
          <a:xfrm>
            <a:off x="990600" y="6734175"/>
            <a:ext cx="14668500" cy="438150"/>
          </a:xfrm>
          <a:prstGeom prst="rect">
            <a:avLst/>
          </a:prstGeom>
          <a:noFill/>
          <a:ln/>
        </p:spPr>
        <p:txBody>
          <a:bodyPr wrap="square" lIns="25400" tIns="25400" rIns="25400" bIns="25400" rtlCol="0" anchor="t">
            <a:normAutofit/>
          </a:bodyPr>
          <a:lstStyle/>
          <a:p>
            <a:pPr algn="l" indent="0" marL="0">
              <a:lnSpc>
                <a:spcPct val="121739"/>
              </a:lnSpc>
              <a:buNone/>
            </a:pPr>
            <a:r>
              <a:rPr lang="en-US" sz="2250" dirty="0">
                <a:solidFill>
                  <a:srgbClr val="C8C8C8"/>
                </a:solidFill>
                <a:latin typeface="Arial" pitchFamily="34" charset="0"/>
                <a:ea typeface="Arial" pitchFamily="34" charset="-122"/>
                <a:cs typeface="Arial" pitchFamily="34" charset="-120"/>
              </a:rPr>
              <a:t>L1 artifact · OWASP LLM04 / LLM03 — the attack that runs before inference does.</a:t>
            </a:r>
            <a:endParaRPr lang="en-US" sz="2250" dirty="0"/>
          </a:p>
        </p:txBody>
      </p:sp>
      <p:pic>
        <p:nvPicPr>
          <p:cNvPr id="7" name="Image 1" descr="preencoded.png">    </p:cNvPr>
          <p:cNvPicPr>
            <a:picLocks noChangeAspect="1"/>
          </p:cNvPicPr>
          <p:nvPr/>
        </p:nvPicPr>
        <p:blipFill>
          <a:blip r:embed="rId2"/>
          <a:stretch>
            <a:fillRect/>
          </a:stretch>
        </p:blipFill>
        <p:spPr>
          <a:xfrm>
            <a:off x="990600" y="9315450"/>
            <a:ext cx="1666875" cy="476250"/>
          </a:xfrm>
          <a:prstGeom prst="rect">
            <a:avLst/>
          </a:prstGeom>
        </p:spPr>
      </p:pic>
      <p:sp>
        <p:nvSpPr>
          <p:cNvPr id="8" name="Text 4"/>
          <p:cNvSpPr/>
          <p:nvPr/>
        </p:nvSpPr>
        <p:spPr>
          <a:xfrm>
            <a:off x="11373240" y="9241185"/>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FFFFFF"/>
                </a:solidFill>
                <a:latin typeface="Courier New" pitchFamily="34" charset="0"/>
                <a:ea typeface="Courier New" pitchFamily="34" charset="-122"/>
                <a:cs typeface="Courier New" pitchFamily="34" charset="-120"/>
              </a:rPr>
              <a:t>ADVERSARIAL AI · RED-TEAMING THE AI SUPPLY CHAIN</a:t>
            </a:r>
            <a:endParaRPr lang="en-US" sz="1275" dirty="0"/>
          </a:p>
        </p:txBody>
      </p:sp>
      <p:sp>
        <p:nvSpPr>
          <p:cNvPr id="9" name="Text 5"/>
          <p:cNvSpPr/>
          <p:nvPr/>
        </p:nvSpPr>
        <p:spPr>
          <a:xfrm>
            <a:off x="11373240" y="9516442"/>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969696"/>
                </a:solidFill>
                <a:latin typeface="Courier New" pitchFamily="34" charset="0"/>
                <a:ea typeface="Courier New" pitchFamily="34" charset="-122"/>
                <a:cs typeface="Courier New" pitchFamily="34" charset="-120"/>
              </a:rPr>
              <a:t>DAY 1 · THE ODD ONE OUT</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995166"/>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ORIENTATION</a:t>
            </a:r>
            <a:endParaRPr lang="en-US" sz="1500" dirty="0"/>
          </a:p>
        </p:txBody>
      </p:sp>
      <p:sp>
        <p:nvSpPr>
          <p:cNvPr id="3" name="Text 1"/>
          <p:cNvSpPr/>
          <p:nvPr/>
        </p:nvSpPr>
        <p:spPr>
          <a:xfrm>
            <a:off x="990600" y="3399979"/>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LOOK UNDERNEATH THE STACK</a:t>
            </a:r>
            <a:endParaRPr lang="en-US" sz="6900" dirty="0"/>
          </a:p>
        </p:txBody>
      </p:sp>
      <p:sp>
        <p:nvSpPr>
          <p:cNvPr id="4" name="Shape 2"/>
          <p:cNvSpPr/>
          <p:nvPr/>
        </p:nvSpPr>
        <p:spPr>
          <a:xfrm>
            <a:off x="990600" y="4683919"/>
            <a:ext cx="2379390" cy="1047750"/>
          </a:xfrm>
          <a:prstGeom prst="roundRect">
            <a:avLst>
              <a:gd name="adj" fmla="val 7273"/>
            </a:avLst>
          </a:prstGeom>
          <a:ln w="9525">
            <a:solidFill>
              <a:srgbClr val="FFFFFF">
                <a:alpha val="14000"/>
              </a:srgbClr>
            </a:solidFill>
            <a:prstDash val="solid"/>
          </a:ln>
        </p:spPr>
      </p:sp>
      <p:sp>
        <p:nvSpPr>
          <p:cNvPr id="5" name="Text 3"/>
          <p:cNvSpPr/>
          <p:nvPr/>
        </p:nvSpPr>
        <p:spPr>
          <a:xfrm>
            <a:off x="1038225" y="4922044"/>
            <a:ext cx="2284140"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Chatbot</a:t>
            </a:r>
            <a:endParaRPr lang="en-US" sz="1725" dirty="0"/>
          </a:p>
        </p:txBody>
      </p:sp>
      <p:sp>
        <p:nvSpPr>
          <p:cNvPr id="6" name="Text 4"/>
          <p:cNvSpPr/>
          <p:nvPr/>
        </p:nvSpPr>
        <p:spPr>
          <a:xfrm>
            <a:off x="3503340"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7" name="Shape 5"/>
          <p:cNvSpPr/>
          <p:nvPr/>
        </p:nvSpPr>
        <p:spPr>
          <a:xfrm>
            <a:off x="3774356" y="5722144"/>
            <a:ext cx="2387947" cy="9525"/>
          </a:xfrm>
          <a:prstGeom prst="rect">
            <a:avLst/>
          </a:prstGeom>
          <a:solidFill>
            <a:srgbClr val="36CDFF"/>
          </a:solidFill>
          <a:ln/>
        </p:spPr>
      </p:sp>
      <p:sp>
        <p:nvSpPr>
          <p:cNvPr id="8" name="Shape 6"/>
          <p:cNvSpPr/>
          <p:nvPr/>
        </p:nvSpPr>
        <p:spPr>
          <a:xfrm>
            <a:off x="3774356" y="4683919"/>
            <a:ext cx="2387947" cy="47625"/>
          </a:xfrm>
          <a:prstGeom prst="rect">
            <a:avLst/>
          </a:prstGeom>
          <a:solidFill>
            <a:srgbClr val="36CDFF"/>
          </a:solidFill>
          <a:ln/>
        </p:spPr>
      </p:sp>
      <p:sp>
        <p:nvSpPr>
          <p:cNvPr id="9" name="Shape 7"/>
          <p:cNvSpPr/>
          <p:nvPr/>
        </p:nvSpPr>
        <p:spPr>
          <a:xfrm>
            <a:off x="3774356" y="4683919"/>
            <a:ext cx="9525" cy="1047750"/>
          </a:xfrm>
          <a:prstGeom prst="rect">
            <a:avLst/>
          </a:prstGeom>
          <a:solidFill>
            <a:srgbClr val="36CDFF"/>
          </a:solidFill>
          <a:ln/>
        </p:spPr>
      </p:sp>
      <p:sp>
        <p:nvSpPr>
          <p:cNvPr id="10" name="Shape 8"/>
          <p:cNvSpPr/>
          <p:nvPr/>
        </p:nvSpPr>
        <p:spPr>
          <a:xfrm>
            <a:off x="6152778" y="4683919"/>
            <a:ext cx="9525" cy="1047750"/>
          </a:xfrm>
          <a:prstGeom prst="rect">
            <a:avLst/>
          </a:prstGeom>
          <a:solidFill>
            <a:srgbClr val="36CDFF"/>
          </a:solidFill>
          <a:ln/>
        </p:spPr>
      </p:sp>
      <p:sp>
        <p:nvSpPr>
          <p:cNvPr id="11" name="Text 9"/>
          <p:cNvSpPr/>
          <p:nvPr/>
        </p:nvSpPr>
        <p:spPr>
          <a:xfrm>
            <a:off x="3979761" y="4922044"/>
            <a:ext cx="1977137" cy="228600"/>
          </a:xfrm>
          <a:prstGeom prst="rect">
            <a:avLst/>
          </a:prstGeom>
          <a:noFill/>
          <a:ln/>
        </p:spPr>
        <p:txBody>
          <a:bodyPr wrap="square" lIns="25400" tIns="25400" rIns="25400" bIns="25400" rtlCol="0" anchor="t">
            <a:normAutofit/>
          </a:bodyPr>
          <a:lstStyle/>
          <a:p>
            <a:pPr algn="ctr" indent="0" marL="0">
              <a:buNone/>
            </a:pPr>
            <a:r>
              <a:rPr lang="en-US" sz="1125" spc="158" kern="0" dirty="0">
                <a:solidFill>
                  <a:srgbClr val="36CDFF"/>
                </a:solidFill>
                <a:latin typeface="Courier New" pitchFamily="34" charset="0"/>
                <a:ea typeface="Courier New" pitchFamily="34" charset="-122"/>
                <a:cs typeface="Courier New" pitchFamily="34" charset="-120"/>
              </a:rPr>
              <a:t>L1 · YOU ARE HERE</a:t>
            </a:r>
            <a:endParaRPr lang="en-US" sz="1125" dirty="0"/>
          </a:p>
        </p:txBody>
      </p:sp>
      <p:sp>
        <p:nvSpPr>
          <p:cNvPr id="12" name="Text 10"/>
          <p:cNvSpPr/>
          <p:nvPr/>
        </p:nvSpPr>
        <p:spPr>
          <a:xfrm>
            <a:off x="3979761" y="5188744"/>
            <a:ext cx="1977137" cy="381000"/>
          </a:xfrm>
          <a:prstGeom prst="rect">
            <a:avLst/>
          </a:prstGeom>
          <a:noFill/>
          <a:ln/>
        </p:spPr>
        <p:txBody>
          <a:bodyPr wrap="square" lIns="25400" tIns="25400" rIns="25400" bIns="25400" rtlCol="0" anchor="t">
            <a:normAutofit/>
          </a:bodyPr>
          <a:lstStyle/>
          <a:p>
            <a:pPr algn="ctr" indent="0" marL="0">
              <a:lnSpc>
                <a:spcPct val="78261"/>
              </a:lnSpc>
              <a:buNone/>
            </a:pPr>
            <a:r>
              <a:rPr lang="en-US" sz="3000" dirty="0">
                <a:solidFill>
                  <a:srgbClr val="FFFFFF"/>
                </a:solidFill>
                <a:latin typeface="Arial" pitchFamily="34" charset="0"/>
                <a:ea typeface="Arial" pitchFamily="34" charset="-122"/>
                <a:cs typeface="Arial" pitchFamily="34" charset="-120"/>
              </a:rPr>
              <a:t>RAG</a:t>
            </a:r>
            <a:endParaRPr lang="en-US" sz="3000" dirty="0"/>
          </a:p>
        </p:txBody>
      </p:sp>
      <p:sp>
        <p:nvSpPr>
          <p:cNvPr id="13" name="Text 11"/>
          <p:cNvSpPr/>
          <p:nvPr/>
        </p:nvSpPr>
        <p:spPr>
          <a:xfrm>
            <a:off x="6295653"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4" name="Shape 12"/>
          <p:cNvSpPr/>
          <p:nvPr/>
        </p:nvSpPr>
        <p:spPr>
          <a:xfrm>
            <a:off x="6566669" y="4683919"/>
            <a:ext cx="2379464" cy="1047750"/>
          </a:xfrm>
          <a:prstGeom prst="roundRect">
            <a:avLst>
              <a:gd name="adj" fmla="val 7273"/>
            </a:avLst>
          </a:prstGeom>
          <a:ln w="9525">
            <a:solidFill>
              <a:srgbClr val="FFFFFF">
                <a:alpha val="14000"/>
              </a:srgbClr>
            </a:solidFill>
            <a:prstDash val="solid"/>
          </a:ln>
        </p:spPr>
      </p:sp>
      <p:sp>
        <p:nvSpPr>
          <p:cNvPr id="15" name="Text 13"/>
          <p:cNvSpPr/>
          <p:nvPr/>
        </p:nvSpPr>
        <p:spPr>
          <a:xfrm>
            <a:off x="6614294" y="4922044"/>
            <a:ext cx="2284214"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Agent</a:t>
            </a:r>
            <a:endParaRPr lang="en-US" sz="1725" dirty="0"/>
          </a:p>
        </p:txBody>
      </p:sp>
      <p:sp>
        <p:nvSpPr>
          <p:cNvPr id="16" name="Text 14"/>
          <p:cNvSpPr/>
          <p:nvPr/>
        </p:nvSpPr>
        <p:spPr>
          <a:xfrm>
            <a:off x="9079483"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7" name="Shape 15"/>
          <p:cNvSpPr/>
          <p:nvPr/>
        </p:nvSpPr>
        <p:spPr>
          <a:xfrm>
            <a:off x="9350499" y="4683919"/>
            <a:ext cx="2379390" cy="1047750"/>
          </a:xfrm>
          <a:prstGeom prst="roundRect">
            <a:avLst>
              <a:gd name="adj" fmla="val 7273"/>
            </a:avLst>
          </a:prstGeom>
          <a:ln w="9525">
            <a:solidFill>
              <a:srgbClr val="FFFFFF">
                <a:alpha val="14000"/>
              </a:srgbClr>
            </a:solidFill>
            <a:prstDash val="solid"/>
          </a:ln>
        </p:spPr>
      </p:sp>
      <p:sp>
        <p:nvSpPr>
          <p:cNvPr id="18" name="Text 16"/>
          <p:cNvSpPr/>
          <p:nvPr/>
        </p:nvSpPr>
        <p:spPr>
          <a:xfrm>
            <a:off x="9398124" y="4922044"/>
            <a:ext cx="2284140"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MCP</a:t>
            </a:r>
            <a:endParaRPr lang="en-US" sz="1725" dirty="0"/>
          </a:p>
        </p:txBody>
      </p:sp>
      <p:sp>
        <p:nvSpPr>
          <p:cNvPr id="19" name="Text 17"/>
          <p:cNvSpPr/>
          <p:nvPr/>
        </p:nvSpPr>
        <p:spPr>
          <a:xfrm>
            <a:off x="11863239"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20" name="Shape 18"/>
          <p:cNvSpPr/>
          <p:nvPr/>
        </p:nvSpPr>
        <p:spPr>
          <a:xfrm>
            <a:off x="12134255" y="4683919"/>
            <a:ext cx="2379390" cy="1047750"/>
          </a:xfrm>
          <a:prstGeom prst="roundRect">
            <a:avLst>
              <a:gd name="adj" fmla="val 7273"/>
            </a:avLst>
          </a:prstGeom>
          <a:ln w="9525">
            <a:solidFill>
              <a:srgbClr val="FFFFFF">
                <a:alpha val="14000"/>
              </a:srgbClr>
            </a:solidFill>
            <a:prstDash val="solid"/>
          </a:ln>
        </p:spPr>
      </p:sp>
      <p:sp>
        <p:nvSpPr>
          <p:cNvPr id="21" name="Text 19"/>
          <p:cNvSpPr/>
          <p:nvPr/>
        </p:nvSpPr>
        <p:spPr>
          <a:xfrm>
            <a:off x="12181880" y="4922044"/>
            <a:ext cx="2284140"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Multi-agent</a:t>
            </a:r>
            <a:endParaRPr lang="en-US" sz="1725" dirty="0"/>
          </a:p>
        </p:txBody>
      </p:sp>
      <p:sp>
        <p:nvSpPr>
          <p:cNvPr id="22" name="Text 20"/>
          <p:cNvSpPr/>
          <p:nvPr/>
        </p:nvSpPr>
        <p:spPr>
          <a:xfrm>
            <a:off x="14646994"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23" name="Shape 21"/>
          <p:cNvSpPr/>
          <p:nvPr/>
        </p:nvSpPr>
        <p:spPr>
          <a:xfrm>
            <a:off x="14918010" y="4683919"/>
            <a:ext cx="2379390" cy="1047750"/>
          </a:xfrm>
          <a:prstGeom prst="roundRect">
            <a:avLst>
              <a:gd name="adj" fmla="val 7273"/>
            </a:avLst>
          </a:prstGeom>
          <a:ln w="9525">
            <a:solidFill>
              <a:srgbClr val="FFFFFF">
                <a:alpha val="14000"/>
              </a:srgbClr>
            </a:solidFill>
            <a:prstDash val="solid"/>
          </a:ln>
        </p:spPr>
      </p:sp>
      <p:sp>
        <p:nvSpPr>
          <p:cNvPr id="24" name="Text 22"/>
          <p:cNvSpPr/>
          <p:nvPr/>
        </p:nvSpPr>
        <p:spPr>
          <a:xfrm>
            <a:off x="14965635" y="4922044"/>
            <a:ext cx="2284140"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Production</a:t>
            </a:r>
            <a:endParaRPr lang="en-US" sz="1725" dirty="0"/>
          </a:p>
        </p:txBody>
      </p:sp>
      <p:sp>
        <p:nvSpPr>
          <p:cNvPr id="25" name="Text 23"/>
          <p:cNvSpPr/>
          <p:nvPr/>
        </p:nvSpPr>
        <p:spPr>
          <a:xfrm>
            <a:off x="990600" y="6226969"/>
            <a:ext cx="17287875" cy="512415"/>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FFFFFF"/>
                </a:solidFill>
                <a:latin typeface="Arial" pitchFamily="34" charset="0"/>
                <a:ea typeface="Arial" pitchFamily="34" charset="-122"/>
                <a:cs typeface="Arial" pitchFamily="34" charset="-120"/>
              </a:rPr>
              <a:t>Everything so far attacked </a:t>
            </a:r>
            <a:pPr algn="l" indent="0" marL="0">
              <a:lnSpc>
                <a:spcPct val="126410"/>
              </a:lnSpc>
              <a:buNone/>
            </a:pPr>
            <a:r>
              <a:rPr lang="en-US" sz="2550" b="1" dirty="0">
                <a:solidFill>
                  <a:srgbClr val="36CDFF"/>
                </a:solidFill>
                <a:latin typeface="Arial" pitchFamily="34" charset="0"/>
                <a:ea typeface="Arial" pitchFamily="34" charset="-122"/>
                <a:cs typeface="Arial" pitchFamily="34" charset="-120"/>
              </a:rPr>
              <a:t>runtime. </a:t>
            </a:r>
            <a:pPr algn="l" indent="0" marL="0">
              <a:lnSpc>
                <a:spcPct val="126410"/>
              </a:lnSpc>
              <a:buNone/>
            </a:pPr>
            <a:r>
              <a:rPr lang="en-US" sz="2550" dirty="0">
                <a:solidFill>
                  <a:srgbClr val="FFFFFF"/>
                </a:solidFill>
                <a:latin typeface="Arial" pitchFamily="34" charset="0"/>
                <a:ea typeface="Arial" pitchFamily="34" charset="-122"/>
                <a:cs typeface="Arial" pitchFamily="34" charset="-120"/>
              </a:rPr>
              <a:t>Half of real AI risk is </a:t>
            </a:r>
            <a:pPr algn="l" indent="0" marL="0">
              <a:lnSpc>
                <a:spcPct val="126410"/>
              </a:lnSpc>
              <a:buNone/>
            </a:pPr>
            <a:r>
              <a:rPr lang="en-US" sz="2550" b="1" dirty="0">
                <a:solidFill>
                  <a:srgbClr val="FD7EF5"/>
                </a:solidFill>
                <a:latin typeface="Arial" pitchFamily="34" charset="0"/>
                <a:ea typeface="Arial" pitchFamily="34" charset="-122"/>
                <a:cs typeface="Arial" pitchFamily="34" charset="-120"/>
              </a:rPr>
              <a:t>upstream</a:t>
            </a:r>
            <a:pPr algn="l" indent="0" marL="0">
              <a:lnSpc>
                <a:spcPct val="126410"/>
              </a:lnSpc>
              <a:buNone/>
            </a:pPr>
            <a:r>
              <a:rPr lang="en-US" sz="2550" dirty="0">
                <a:solidFill>
                  <a:srgbClr val="FFFFFF"/>
                </a:solidFill>
                <a:latin typeface="Arial" pitchFamily="34" charset="0"/>
                <a:ea typeface="Arial" pitchFamily="34" charset="-122"/>
                <a:cs typeface="Arial" pitchFamily="34" charset="-120"/>
              </a:rPr>
              <a:t>, in the artifacts you downloaded.</a:t>
            </a:r>
            <a:endParaRPr lang="en-US" sz="2550" dirty="0"/>
          </a:p>
        </p:txBody>
      </p:sp>
      <p:pic>
        <p:nvPicPr>
          <p:cNvPr id="2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7" name="Text 24"/>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178969"/>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THE PREMISE</a:t>
            </a:r>
            <a:endParaRPr lang="en-US" sz="1650" dirty="0"/>
          </a:p>
        </p:txBody>
      </p:sp>
      <p:sp>
        <p:nvSpPr>
          <p:cNvPr id="3" name="Text 1"/>
          <p:cNvSpPr/>
          <p:nvPr/>
        </p:nvSpPr>
        <p:spPr>
          <a:xfrm>
            <a:off x="990600" y="3798094"/>
            <a:ext cx="16796004" cy="1924050"/>
          </a:xfrm>
          <a:prstGeom prst="rect">
            <a:avLst/>
          </a:prstGeom>
          <a:noFill/>
          <a:ln/>
        </p:spPr>
        <p:txBody>
          <a:bodyPr wrap="square" lIns="25400" tIns="25400" rIns="25400" bIns="25400" rtlCol="0" anchor="t">
            <a:normAutofit/>
          </a:bodyPr>
          <a:lstStyle/>
          <a:p>
            <a:pPr algn="l" indent="0" marL="0">
              <a:lnSpc>
                <a:spcPct val="78261"/>
              </a:lnSpc>
              <a:buNone/>
            </a:pPr>
            <a:r>
              <a:rPr lang="en-US" sz="8250" dirty="0">
                <a:solidFill>
                  <a:srgbClr val="FFFFFF"/>
                </a:solidFill>
                <a:latin typeface="Arial" pitchFamily="34" charset="0"/>
                <a:ea typeface="Arial" pitchFamily="34" charset="-122"/>
                <a:cs typeface="Arial" pitchFamily="34" charset="-120"/>
              </a:rPr>
              <a:t>DOWNLOADING A MODEL IS </a:t>
            </a:r>
            <a:pPr algn="l" indent="0" marL="0">
              <a:lnSpc>
                <a:spcPct val="78261"/>
              </a:lnSpc>
              <a:buNone/>
            </a:pPr>
            <a:r>
              <a:rPr lang="en-US" sz="8250" dirty="0">
                <a:solidFill>
                  <a:srgbClr val="FD7EF5"/>
                </a:solidFill>
                <a:latin typeface="Arial" pitchFamily="34" charset="0"/>
                <a:ea typeface="Arial" pitchFamily="34" charset="-122"/>
                <a:cs typeface="Arial" pitchFamily="34" charset="-120"/>
              </a:rPr>
              <a:t>RUNNING UNTRUSTED CODE.</a:t>
            </a:r>
            <a:endParaRPr lang="en-US" sz="8250" dirty="0"/>
          </a:p>
        </p:txBody>
      </p:sp>
      <p:sp>
        <p:nvSpPr>
          <p:cNvPr id="4" name="Text 2"/>
          <p:cNvSpPr/>
          <p:nvPr/>
        </p:nvSpPr>
        <p:spPr>
          <a:xfrm>
            <a:off x="990600" y="6103144"/>
            <a:ext cx="17287875" cy="452438"/>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Say that to an ML team and watch them disagree. Then show them a pickle.</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076896"/>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FIELD RECORD</a:t>
            </a:r>
            <a:endParaRPr lang="en-US" sz="1500" dirty="0"/>
          </a:p>
        </p:txBody>
      </p:sp>
      <p:sp>
        <p:nvSpPr>
          <p:cNvPr id="3" name="Text 1"/>
          <p:cNvSpPr/>
          <p:nvPr/>
        </p:nvSpPr>
        <p:spPr>
          <a:xfrm>
            <a:off x="990600" y="2481709"/>
            <a:ext cx="17937480" cy="603870"/>
          </a:xfrm>
          <a:prstGeom prst="rect">
            <a:avLst/>
          </a:prstGeom>
          <a:noFill/>
          <a:ln/>
        </p:spPr>
        <p:txBody>
          <a:bodyPr wrap="square" lIns="25400" tIns="25400" rIns="25400" bIns="25400" rtlCol="0" anchor="t">
            <a:normAutofit/>
          </a:bodyPr>
          <a:lstStyle/>
          <a:p>
            <a:pPr algn="l" indent="0" marL="0">
              <a:lnSpc>
                <a:spcPct val="78675"/>
              </a:lnSpc>
              <a:buNone/>
            </a:pPr>
            <a:r>
              <a:rPr lang="en-US" sz="4950" b="1" dirty="0">
                <a:solidFill>
                  <a:srgbClr val="FFFFFF"/>
                </a:solidFill>
                <a:latin typeface="Arial" pitchFamily="34" charset="0"/>
                <a:ea typeface="Arial" pitchFamily="34" charset="-122"/>
                <a:cs typeface="Arial" pitchFamily="34" charset="-120"/>
              </a:rPr>
              <a:t>THE MODEL HUB AS A DISTRIBUTION CHANNEL</a:t>
            </a:r>
            <a:endParaRPr lang="en-US" sz="4950" dirty="0"/>
          </a:p>
        </p:txBody>
      </p:sp>
      <p:sp>
        <p:nvSpPr>
          <p:cNvPr id="4" name="Shape 2"/>
          <p:cNvSpPr/>
          <p:nvPr/>
        </p:nvSpPr>
        <p:spPr>
          <a:xfrm>
            <a:off x="990600" y="3428479"/>
            <a:ext cx="16306800" cy="19050"/>
          </a:xfrm>
          <a:prstGeom prst="rect">
            <a:avLst/>
          </a:prstGeom>
          <a:solidFill>
            <a:srgbClr val="FFFFFF">
              <a:alpha val="20000"/>
            </a:srgbClr>
          </a:solidFill>
          <a:ln/>
        </p:spPr>
      </p:sp>
      <p:sp>
        <p:nvSpPr>
          <p:cNvPr id="5" name="Text 3"/>
          <p:cNvSpPr/>
          <p:nvPr/>
        </p:nvSpPr>
        <p:spPr>
          <a:xfrm>
            <a:off x="1200150" y="3618979"/>
            <a:ext cx="517954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FD7EF5"/>
                </a:solidFill>
                <a:latin typeface="Courier New" pitchFamily="34" charset="0"/>
                <a:ea typeface="Courier New" pitchFamily="34" charset="-122"/>
                <a:cs typeface="Courier New" pitchFamily="34" charset="-120"/>
              </a:rPr>
              <a:t>FINDING</a:t>
            </a:r>
            <a:endParaRPr lang="en-US" sz="1350" dirty="0"/>
          </a:p>
        </p:txBody>
      </p:sp>
      <p:sp>
        <p:nvSpPr>
          <p:cNvPr id="6" name="Text 4"/>
          <p:cNvSpPr/>
          <p:nvPr/>
        </p:nvSpPr>
        <p:spPr>
          <a:xfrm>
            <a:off x="6635725" y="3618979"/>
            <a:ext cx="10778185"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WHAT IT SHOWED</a:t>
            </a:r>
            <a:endParaRPr lang="en-US" sz="1350" dirty="0"/>
          </a:p>
        </p:txBody>
      </p:sp>
      <p:sp>
        <p:nvSpPr>
          <p:cNvPr id="7" name="Shape 5"/>
          <p:cNvSpPr/>
          <p:nvPr/>
        </p:nvSpPr>
        <p:spPr>
          <a:xfrm>
            <a:off x="990600" y="4019029"/>
            <a:ext cx="5435575" cy="9525"/>
          </a:xfrm>
          <a:prstGeom prst="rect">
            <a:avLst/>
          </a:prstGeom>
          <a:solidFill>
            <a:srgbClr val="FFFFFF">
              <a:alpha val="13000"/>
            </a:srgbClr>
          </a:solidFill>
          <a:ln/>
        </p:spPr>
      </p:sp>
      <p:sp>
        <p:nvSpPr>
          <p:cNvPr id="8" name="Text 6"/>
          <p:cNvSpPr/>
          <p:nvPr/>
        </p:nvSpPr>
        <p:spPr>
          <a:xfrm>
            <a:off x="1200150" y="4295254"/>
            <a:ext cx="5179542"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D7EF5"/>
                </a:solidFill>
                <a:latin typeface="Arial" pitchFamily="34" charset="0"/>
                <a:ea typeface="Arial" pitchFamily="34" charset="-122"/>
                <a:cs typeface="Arial" pitchFamily="34" charset="-120"/>
              </a:rPr>
              <a:t>JFrog </a:t>
            </a:r>
            <a:pPr algn="l" indent="0" marL="0">
              <a:lnSpc>
                <a:spcPct val="116379"/>
              </a:lnSpc>
              <a:buNone/>
            </a:pPr>
            <a:r>
              <a:rPr lang="en-US" sz="1875" b="1" dirty="0">
                <a:solidFill>
                  <a:srgbClr val="969696"/>
                </a:solidFill>
                <a:latin typeface="Courier New" pitchFamily="34" charset="0"/>
                <a:ea typeface="Courier New" pitchFamily="34" charset="-122"/>
                <a:cs typeface="Courier New" pitchFamily="34" charset="-120"/>
              </a:rPr>
              <a:t>2024</a:t>
            </a:r>
            <a:endParaRPr lang="en-US" sz="1875" dirty="0"/>
          </a:p>
        </p:txBody>
      </p:sp>
      <p:sp>
        <p:nvSpPr>
          <p:cNvPr id="9" name="Shape 7"/>
          <p:cNvSpPr/>
          <p:nvPr/>
        </p:nvSpPr>
        <p:spPr>
          <a:xfrm>
            <a:off x="6426175" y="4019029"/>
            <a:ext cx="10871150" cy="9525"/>
          </a:xfrm>
          <a:prstGeom prst="rect">
            <a:avLst/>
          </a:prstGeom>
          <a:solidFill>
            <a:srgbClr val="FFFFFF">
              <a:alpha val="13000"/>
            </a:srgbClr>
          </a:solidFill>
          <a:ln/>
        </p:spPr>
      </p:sp>
      <p:sp>
        <p:nvSpPr>
          <p:cNvPr id="10" name="Text 8"/>
          <p:cNvSpPr/>
          <p:nvPr/>
        </p:nvSpPr>
        <p:spPr>
          <a:xfrm>
            <a:off x="6635725" y="4295254"/>
            <a:ext cx="10778185"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100+ </a:t>
            </a:r>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models on Hugging Face capable of arbitrary code execution</a:t>
            </a:r>
            <a:endParaRPr lang="en-US" sz="1875" dirty="0"/>
          </a:p>
        </p:txBody>
      </p:sp>
      <p:sp>
        <p:nvSpPr>
          <p:cNvPr id="11" name="Shape 9"/>
          <p:cNvSpPr/>
          <p:nvPr/>
        </p:nvSpPr>
        <p:spPr>
          <a:xfrm>
            <a:off x="990600" y="5219179"/>
            <a:ext cx="5435575" cy="9525"/>
          </a:xfrm>
          <a:prstGeom prst="rect">
            <a:avLst/>
          </a:prstGeom>
          <a:solidFill>
            <a:srgbClr val="FFFFFF">
              <a:alpha val="13000"/>
            </a:srgbClr>
          </a:solidFill>
          <a:ln/>
        </p:spPr>
      </p:sp>
      <p:sp>
        <p:nvSpPr>
          <p:cNvPr id="12" name="Text 10"/>
          <p:cNvSpPr/>
          <p:nvPr/>
        </p:nvSpPr>
        <p:spPr>
          <a:xfrm>
            <a:off x="1200150" y="5495404"/>
            <a:ext cx="5179542"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D7EF5"/>
                </a:solidFill>
                <a:latin typeface="Arial" pitchFamily="34" charset="0"/>
                <a:ea typeface="Arial" pitchFamily="34" charset="-122"/>
                <a:cs typeface="Arial" pitchFamily="34" charset="-120"/>
              </a:rPr>
              <a:t>nullifAI </a:t>
            </a:r>
            <a:pPr algn="l" indent="0" marL="0">
              <a:lnSpc>
                <a:spcPct val="116379"/>
              </a:lnSpc>
              <a:buNone/>
            </a:pPr>
            <a:r>
              <a:rPr lang="en-US" sz="1875" b="1" dirty="0">
                <a:solidFill>
                  <a:srgbClr val="969696"/>
                </a:solidFill>
                <a:latin typeface="Courier New" pitchFamily="34" charset="0"/>
                <a:ea typeface="Courier New" pitchFamily="34" charset="-122"/>
                <a:cs typeface="Courier New" pitchFamily="34" charset="-120"/>
              </a:rPr>
              <a:t>ReversingLabs, Feb 2025</a:t>
            </a:r>
            <a:endParaRPr lang="en-US" sz="1875" dirty="0"/>
          </a:p>
        </p:txBody>
      </p:sp>
      <p:sp>
        <p:nvSpPr>
          <p:cNvPr id="13" name="Shape 11"/>
          <p:cNvSpPr/>
          <p:nvPr/>
        </p:nvSpPr>
        <p:spPr>
          <a:xfrm>
            <a:off x="6426175" y="5219179"/>
            <a:ext cx="10871150" cy="9525"/>
          </a:xfrm>
          <a:prstGeom prst="rect">
            <a:avLst/>
          </a:prstGeom>
          <a:solidFill>
            <a:srgbClr val="FFFFFF">
              <a:alpha val="13000"/>
            </a:srgbClr>
          </a:solidFill>
          <a:ln/>
        </p:spPr>
      </p:sp>
      <p:sp>
        <p:nvSpPr>
          <p:cNvPr id="14" name="Text 12"/>
          <p:cNvSpPr/>
          <p:nvPr/>
        </p:nvSpPr>
        <p:spPr>
          <a:xfrm>
            <a:off x="6635725" y="5495404"/>
            <a:ext cx="10778185"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Malicious pickles that </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evade Hugging Face’s PickleScan </a:t>
            </a:r>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 payload was a platform-aware reverse shell</a:t>
            </a:r>
            <a:endParaRPr lang="en-US" sz="1875" dirty="0"/>
          </a:p>
        </p:txBody>
      </p:sp>
      <p:sp>
        <p:nvSpPr>
          <p:cNvPr id="15" name="Shape 13"/>
          <p:cNvSpPr/>
          <p:nvPr/>
        </p:nvSpPr>
        <p:spPr>
          <a:xfrm>
            <a:off x="990600" y="6419329"/>
            <a:ext cx="5435575" cy="9525"/>
          </a:xfrm>
          <a:prstGeom prst="rect">
            <a:avLst/>
          </a:prstGeom>
          <a:solidFill>
            <a:srgbClr val="FFFFFF">
              <a:alpha val="13000"/>
            </a:srgbClr>
          </a:solidFill>
          <a:ln/>
        </p:spPr>
      </p:sp>
      <p:sp>
        <p:nvSpPr>
          <p:cNvPr id="16" name="Text 14"/>
          <p:cNvSpPr/>
          <p:nvPr/>
        </p:nvSpPr>
        <p:spPr>
          <a:xfrm>
            <a:off x="1200150" y="6695554"/>
            <a:ext cx="5179542"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D7EF5"/>
                </a:solidFill>
                <a:latin typeface="Arial" pitchFamily="34" charset="0"/>
                <a:ea typeface="Arial" pitchFamily="34" charset="-122"/>
                <a:cs typeface="Arial" pitchFamily="34" charset="-120"/>
              </a:rPr>
              <a:t>postmark-mcp </a:t>
            </a:r>
            <a:pPr algn="l" indent="0" marL="0">
              <a:lnSpc>
                <a:spcPct val="116379"/>
              </a:lnSpc>
              <a:buNone/>
            </a:pPr>
            <a:r>
              <a:rPr lang="en-US" sz="1875" b="1" dirty="0">
                <a:solidFill>
                  <a:srgbClr val="969696"/>
                </a:solidFill>
                <a:latin typeface="Courier New" pitchFamily="34" charset="0"/>
                <a:ea typeface="Courier New" pitchFamily="34" charset="-122"/>
                <a:cs typeface="Courier New" pitchFamily="34" charset="-120"/>
              </a:rPr>
              <a:t>Sep 2025</a:t>
            </a:r>
            <a:endParaRPr lang="en-US" sz="1875" dirty="0"/>
          </a:p>
        </p:txBody>
      </p:sp>
      <p:sp>
        <p:nvSpPr>
          <p:cNvPr id="17" name="Shape 15"/>
          <p:cNvSpPr/>
          <p:nvPr/>
        </p:nvSpPr>
        <p:spPr>
          <a:xfrm>
            <a:off x="6426175" y="6419329"/>
            <a:ext cx="10871150" cy="9525"/>
          </a:xfrm>
          <a:prstGeom prst="rect">
            <a:avLst/>
          </a:prstGeom>
          <a:solidFill>
            <a:srgbClr val="FFFFFF">
              <a:alpha val="13000"/>
            </a:srgbClr>
          </a:solidFill>
          <a:ln/>
        </p:spPr>
      </p:sp>
      <p:sp>
        <p:nvSpPr>
          <p:cNvPr id="18" name="Text 16"/>
          <p:cNvSpPr/>
          <p:nvPr/>
        </p:nvSpPr>
        <p:spPr>
          <a:xfrm>
            <a:off x="6635725" y="6695554"/>
            <a:ext cx="10778185"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First confirmed malicious MCP server on npm — same story, different registry</a:t>
            </a:r>
            <a:endParaRPr lang="en-US" sz="1875" dirty="0"/>
          </a:p>
        </p:txBody>
      </p:sp>
      <p:pic>
        <p:nvPicPr>
          <p:cNvPr id="19"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0" name="Text 17"/>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88595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TODAY’S EXERCISE</a:t>
            </a:r>
            <a:endParaRPr lang="en-US" sz="1500" dirty="0"/>
          </a:p>
        </p:txBody>
      </p:sp>
      <p:sp>
        <p:nvSpPr>
          <p:cNvPr id="3" name="Text 1"/>
          <p:cNvSpPr/>
          <p:nvPr/>
        </p:nvSpPr>
        <p:spPr>
          <a:xfrm>
            <a:off x="990600" y="2290763"/>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TODAY YOU ARE THE AUDITOR</a:t>
            </a:r>
            <a:endParaRPr lang="en-US" sz="6600" dirty="0"/>
          </a:p>
        </p:txBody>
      </p:sp>
      <p:sp>
        <p:nvSpPr>
          <p:cNvPr id="4" name="Text 2"/>
          <p:cNvSpPr/>
          <p:nvPr/>
        </p:nvSpPr>
        <p:spPr>
          <a:xfrm>
            <a:off x="990600" y="3426098"/>
            <a:ext cx="17811750" cy="438596"/>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Two artifacts and one dependency list. Judge them.</a:t>
            </a:r>
            <a:endParaRPr lang="en-US" sz="2175" dirty="0"/>
          </a:p>
        </p:txBody>
      </p:sp>
      <p:sp>
        <p:nvSpPr>
          <p:cNvPr id="5" name="Shape 3"/>
          <p:cNvSpPr/>
          <p:nvPr/>
        </p:nvSpPr>
        <p:spPr>
          <a:xfrm>
            <a:off x="990600" y="4150444"/>
            <a:ext cx="16306800" cy="19050"/>
          </a:xfrm>
          <a:prstGeom prst="rect">
            <a:avLst/>
          </a:prstGeom>
          <a:solidFill>
            <a:srgbClr val="FFFFFF">
              <a:alpha val="20000"/>
            </a:srgbClr>
          </a:solidFill>
          <a:ln/>
        </p:spPr>
      </p:sp>
      <p:sp>
        <p:nvSpPr>
          <p:cNvPr id="6" name="Text 4"/>
          <p:cNvSpPr/>
          <p:nvPr/>
        </p:nvSpPr>
        <p:spPr>
          <a:xfrm>
            <a:off x="1200150" y="4340944"/>
            <a:ext cx="9074257"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36CDFF"/>
                </a:solidFill>
                <a:latin typeface="Courier New" pitchFamily="34" charset="0"/>
                <a:ea typeface="Courier New" pitchFamily="34" charset="-122"/>
                <a:cs typeface="Courier New" pitchFamily="34" charset="-120"/>
              </a:rPr>
              <a:t>FILE</a:t>
            </a:r>
            <a:endParaRPr lang="en-US" sz="1350" dirty="0"/>
          </a:p>
        </p:txBody>
      </p:sp>
      <p:sp>
        <p:nvSpPr>
          <p:cNvPr id="7" name="Text 5"/>
          <p:cNvSpPr/>
          <p:nvPr/>
        </p:nvSpPr>
        <p:spPr>
          <a:xfrm>
            <a:off x="10417001" y="4340944"/>
            <a:ext cx="6883547"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WHAT IT CLAIMS TO BE</a:t>
            </a:r>
            <a:endParaRPr lang="en-US" sz="1350" dirty="0"/>
          </a:p>
        </p:txBody>
      </p:sp>
      <p:sp>
        <p:nvSpPr>
          <p:cNvPr id="8" name="Shape 6"/>
          <p:cNvSpPr/>
          <p:nvPr/>
        </p:nvSpPr>
        <p:spPr>
          <a:xfrm>
            <a:off x="990600" y="4740994"/>
            <a:ext cx="9216851" cy="9525"/>
          </a:xfrm>
          <a:prstGeom prst="rect">
            <a:avLst/>
          </a:prstGeom>
          <a:solidFill>
            <a:srgbClr val="FFFFFF">
              <a:alpha val="13000"/>
            </a:srgbClr>
          </a:solidFill>
          <a:ln/>
        </p:spPr>
      </p:sp>
      <p:sp>
        <p:nvSpPr>
          <p:cNvPr id="9" name="Text 7"/>
          <p:cNvSpPr/>
          <p:nvPr/>
        </p:nvSpPr>
        <p:spPr>
          <a:xfrm>
            <a:off x="1200150" y="4998169"/>
            <a:ext cx="9074257"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Courier New" pitchFamily="34" charset="0"/>
                <a:ea typeface="Courier New" pitchFamily="34" charset="-122"/>
                <a:cs typeface="Courier New" pitchFamily="34" charset="-120"/>
              </a:rPr>
              <a:t>labs/m4/artifacts/community_model.pkl</a:t>
            </a:r>
            <a:endParaRPr lang="en-US" sz="1875" dirty="0"/>
          </a:p>
        </p:txBody>
      </p:sp>
      <p:sp>
        <p:nvSpPr>
          <p:cNvPr id="10" name="Shape 8"/>
          <p:cNvSpPr/>
          <p:nvPr/>
        </p:nvSpPr>
        <p:spPr>
          <a:xfrm>
            <a:off x="10207451" y="4740994"/>
            <a:ext cx="7089949" cy="9525"/>
          </a:xfrm>
          <a:prstGeom prst="rect">
            <a:avLst/>
          </a:prstGeom>
          <a:solidFill>
            <a:srgbClr val="FFFFFF">
              <a:alpha val="13000"/>
            </a:srgbClr>
          </a:solidFill>
          <a:ln/>
        </p:spPr>
      </p:sp>
      <p:sp>
        <p:nvSpPr>
          <p:cNvPr id="11" name="Text 9"/>
          <p:cNvSpPr/>
          <p:nvPr/>
        </p:nvSpPr>
        <p:spPr>
          <a:xfrm>
            <a:off x="10417001" y="4998169"/>
            <a:ext cx="6883547"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a community model</a:t>
            </a:r>
            <a:endParaRPr lang="en-US" sz="1875" dirty="0"/>
          </a:p>
        </p:txBody>
      </p:sp>
      <p:sp>
        <p:nvSpPr>
          <p:cNvPr id="12" name="Shape 10"/>
          <p:cNvSpPr/>
          <p:nvPr/>
        </p:nvSpPr>
        <p:spPr>
          <a:xfrm>
            <a:off x="990600" y="5581576"/>
            <a:ext cx="9216851" cy="9525"/>
          </a:xfrm>
          <a:prstGeom prst="rect">
            <a:avLst/>
          </a:prstGeom>
          <a:solidFill>
            <a:srgbClr val="FFFFFF">
              <a:alpha val="13000"/>
            </a:srgbClr>
          </a:solidFill>
          <a:ln/>
        </p:spPr>
      </p:sp>
      <p:sp>
        <p:nvSpPr>
          <p:cNvPr id="13" name="Text 11"/>
          <p:cNvSpPr/>
          <p:nvPr/>
        </p:nvSpPr>
        <p:spPr>
          <a:xfrm>
            <a:off x="1200150" y="5838751"/>
            <a:ext cx="9074257"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Courier New" pitchFamily="34" charset="0"/>
                <a:ea typeface="Courier New" pitchFamily="34" charset="-122"/>
                <a:cs typeface="Courier New" pitchFamily="34" charset="-120"/>
              </a:rPr>
              <a:t>labs/m4/artifacts/embedding_model.safetensors</a:t>
            </a:r>
            <a:endParaRPr lang="en-US" sz="1875" dirty="0"/>
          </a:p>
        </p:txBody>
      </p:sp>
      <p:sp>
        <p:nvSpPr>
          <p:cNvPr id="14" name="Shape 12"/>
          <p:cNvSpPr/>
          <p:nvPr/>
        </p:nvSpPr>
        <p:spPr>
          <a:xfrm>
            <a:off x="10207451" y="5581576"/>
            <a:ext cx="7089949" cy="9525"/>
          </a:xfrm>
          <a:prstGeom prst="rect">
            <a:avLst/>
          </a:prstGeom>
          <a:solidFill>
            <a:srgbClr val="FFFFFF">
              <a:alpha val="13000"/>
            </a:srgbClr>
          </a:solidFill>
          <a:ln/>
        </p:spPr>
      </p:sp>
      <p:sp>
        <p:nvSpPr>
          <p:cNvPr id="15" name="Text 13"/>
          <p:cNvSpPr/>
          <p:nvPr/>
        </p:nvSpPr>
        <p:spPr>
          <a:xfrm>
            <a:off x="10417001" y="5838751"/>
            <a:ext cx="6883547"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an embedding model</a:t>
            </a:r>
            <a:endParaRPr lang="en-US" sz="1875" dirty="0"/>
          </a:p>
        </p:txBody>
      </p:sp>
      <p:sp>
        <p:nvSpPr>
          <p:cNvPr id="16" name="Shape 14"/>
          <p:cNvSpPr/>
          <p:nvPr/>
        </p:nvSpPr>
        <p:spPr>
          <a:xfrm>
            <a:off x="990600" y="6422157"/>
            <a:ext cx="9216851" cy="9525"/>
          </a:xfrm>
          <a:prstGeom prst="rect">
            <a:avLst/>
          </a:prstGeom>
          <a:solidFill>
            <a:srgbClr val="FFFFFF">
              <a:alpha val="13000"/>
            </a:srgbClr>
          </a:solidFill>
          <a:ln/>
        </p:spPr>
      </p:sp>
      <p:sp>
        <p:nvSpPr>
          <p:cNvPr id="17" name="Text 15"/>
          <p:cNvSpPr/>
          <p:nvPr/>
        </p:nvSpPr>
        <p:spPr>
          <a:xfrm>
            <a:off x="1200150" y="6679332"/>
            <a:ext cx="9074257"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Courier New" pitchFamily="34" charset="0"/>
                <a:ea typeface="Courier New" pitchFamily="34" charset="-122"/>
                <a:cs typeface="Courier New" pitchFamily="34" charset="-120"/>
              </a:rPr>
              <a:t>labs/m4/requirements-vulnerable.txt</a:t>
            </a:r>
            <a:endParaRPr lang="en-US" sz="1875" dirty="0"/>
          </a:p>
        </p:txBody>
      </p:sp>
      <p:sp>
        <p:nvSpPr>
          <p:cNvPr id="18" name="Shape 16"/>
          <p:cNvSpPr/>
          <p:nvPr/>
        </p:nvSpPr>
        <p:spPr>
          <a:xfrm>
            <a:off x="10207451" y="6422157"/>
            <a:ext cx="7089949" cy="9525"/>
          </a:xfrm>
          <a:prstGeom prst="rect">
            <a:avLst/>
          </a:prstGeom>
          <a:solidFill>
            <a:srgbClr val="FFFFFF">
              <a:alpha val="13000"/>
            </a:srgbClr>
          </a:solidFill>
          <a:ln/>
        </p:spPr>
      </p:sp>
      <p:sp>
        <p:nvSpPr>
          <p:cNvPr id="19" name="Text 17"/>
          <p:cNvSpPr/>
          <p:nvPr/>
        </p:nvSpPr>
        <p:spPr>
          <a:xfrm>
            <a:off x="10417001" y="6679332"/>
            <a:ext cx="6883547"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pinned dependencies</a:t>
            </a:r>
            <a:endParaRPr lang="en-US" sz="1875" dirty="0"/>
          </a:p>
        </p:txBody>
      </p:sp>
      <p:sp>
        <p:nvSpPr>
          <p:cNvPr id="20" name="Text 18"/>
          <p:cNvSpPr/>
          <p:nvPr/>
        </p:nvSpPr>
        <p:spPr>
          <a:xfrm>
            <a:off x="990600" y="7548488"/>
            <a:ext cx="17811750" cy="300038"/>
          </a:xfrm>
          <a:prstGeom prst="rect">
            <a:avLst/>
          </a:prstGeom>
          <a:noFill/>
          <a:ln/>
        </p:spPr>
        <p:txBody>
          <a:bodyPr wrap="square" lIns="25400" tIns="25400" rIns="25400" bIns="25400" rtlCol="0" anchor="t">
            <a:normAutofit/>
          </a:bodyPr>
          <a:lstStyle/>
          <a:p>
            <a:pPr algn="l" indent="0" marL="0">
              <a:buNone/>
            </a:pPr>
            <a:r>
              <a:rPr lang="en-US" sz="1800" b="1" dirty="0">
                <a:solidFill>
                  <a:srgbClr val="FD7EF5"/>
                </a:solidFill>
                <a:latin typeface="Arial" pitchFamily="34" charset="0"/>
                <a:ea typeface="Arial" pitchFamily="34" charset="-122"/>
                <a:cs typeface="Arial" pitchFamily="34" charset="-120"/>
              </a:rPr>
              <a:t>One of these runs code the instant it is loaded.</a:t>
            </a:r>
            <a:endParaRPr lang="en-US" sz="1800" dirty="0"/>
          </a:p>
        </p:txBody>
      </p:sp>
      <p:pic>
        <p:nvPicPr>
          <p:cNvPr id="21"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2" name="Text 19"/>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266504"/>
            <a:ext cx="245173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MECHANISM</a:t>
            </a:r>
            <a:endParaRPr lang="en-US" sz="1500" dirty="0"/>
          </a:p>
        </p:txBody>
      </p:sp>
      <p:sp>
        <p:nvSpPr>
          <p:cNvPr id="3" name="Text 1"/>
          <p:cNvSpPr/>
          <p:nvPr/>
        </p:nvSpPr>
        <p:spPr>
          <a:xfrm>
            <a:off x="990600" y="2671316"/>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A PICKLE STORES A PROGRAM</a:t>
            </a:r>
            <a:endParaRPr lang="en-US" sz="6900" dirty="0"/>
          </a:p>
        </p:txBody>
      </p:sp>
      <p:sp>
        <p:nvSpPr>
          <p:cNvPr id="4" name="Text 2"/>
          <p:cNvSpPr/>
          <p:nvPr/>
        </p:nvSpPr>
        <p:spPr>
          <a:xfrm>
            <a:off x="990600" y="3783806"/>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Python’s built-in object serialization. Unpickling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executes </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 the format includes opcodes that import and call functions.</a:t>
            </a:r>
            <a:endParaRPr lang="en-US" sz="2175" dirty="0"/>
          </a:p>
        </p:txBody>
      </p:sp>
      <p:sp>
        <p:nvSpPr>
          <p:cNvPr id="5" name="Shape 3"/>
          <p:cNvSpPr/>
          <p:nvPr/>
        </p:nvSpPr>
        <p:spPr>
          <a:xfrm>
            <a:off x="990600" y="4474815"/>
            <a:ext cx="16306800" cy="2631207"/>
          </a:xfrm>
          <a:prstGeom prst="roundRect">
            <a:avLst>
              <a:gd name="adj" fmla="val 2896"/>
            </a:avLst>
          </a:prstGeom>
          <a:solidFill>
            <a:srgbClr val="0B0B0B"/>
          </a:solidFill>
          <a:ln w="9525">
            <a:solidFill>
              <a:srgbClr val="FFFFFF">
                <a:alpha val="16000"/>
              </a:srgbClr>
            </a:solidFill>
            <a:prstDash val="solid"/>
          </a:ln>
        </p:spPr>
      </p:sp>
      <p:sp>
        <p:nvSpPr>
          <p:cNvPr id="6" name="Shape 4"/>
          <p:cNvSpPr/>
          <p:nvPr/>
        </p:nvSpPr>
        <p:spPr>
          <a:xfrm>
            <a:off x="1000125" y="4941540"/>
            <a:ext cx="16287750" cy="9525"/>
          </a:xfrm>
          <a:prstGeom prst="rect">
            <a:avLst/>
          </a:prstGeom>
          <a:solidFill>
            <a:srgbClr val="FFFFFF">
              <a:alpha val="12000"/>
            </a:srgbClr>
          </a:solidFill>
          <a:ln/>
        </p:spPr>
      </p:sp>
      <p:sp>
        <p:nvSpPr>
          <p:cNvPr id="7" name="Shape 5"/>
          <p:cNvSpPr/>
          <p:nvPr/>
        </p:nvSpPr>
        <p:spPr>
          <a:xfrm>
            <a:off x="1190625" y="4660553"/>
            <a:ext cx="104775" cy="104775"/>
          </a:xfrm>
          <a:prstGeom prst="ellipse">
            <a:avLst/>
          </a:prstGeom>
          <a:solidFill>
            <a:srgbClr val="FD7EF5"/>
          </a:solidFill>
          <a:ln/>
        </p:spPr>
      </p:sp>
      <p:sp>
        <p:nvSpPr>
          <p:cNvPr id="8" name="Shape 6"/>
          <p:cNvSpPr/>
          <p:nvPr/>
        </p:nvSpPr>
        <p:spPr>
          <a:xfrm>
            <a:off x="1381125" y="4660553"/>
            <a:ext cx="104775" cy="104775"/>
          </a:xfrm>
          <a:prstGeom prst="ellipse">
            <a:avLst/>
          </a:prstGeom>
          <a:solidFill>
            <a:srgbClr val="36CDFF"/>
          </a:solidFill>
          <a:ln/>
        </p:spPr>
      </p:sp>
      <p:sp>
        <p:nvSpPr>
          <p:cNvPr id="9" name="Shape 7"/>
          <p:cNvSpPr/>
          <p:nvPr/>
        </p:nvSpPr>
        <p:spPr>
          <a:xfrm>
            <a:off x="1571625" y="4660553"/>
            <a:ext cx="104775" cy="104775"/>
          </a:xfrm>
          <a:prstGeom prst="ellipse">
            <a:avLst/>
          </a:prstGeom>
          <a:solidFill>
            <a:srgbClr val="969696"/>
          </a:solidFill>
          <a:ln/>
        </p:spPr>
      </p:sp>
      <p:sp>
        <p:nvSpPr>
          <p:cNvPr id="10" name="Text 8"/>
          <p:cNvSpPr/>
          <p:nvPr/>
        </p:nvSpPr>
        <p:spPr>
          <a:xfrm>
            <a:off x="1876425" y="4617690"/>
            <a:ext cx="2168843"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make_poisoned_pickle.py</a:t>
            </a:r>
            <a:endParaRPr lang="en-US" sz="1125" dirty="0"/>
          </a:p>
        </p:txBody>
      </p:sp>
      <p:sp>
        <p:nvSpPr>
          <p:cNvPr id="11" name="Text 9"/>
          <p:cNvSpPr/>
          <p:nvPr/>
        </p:nvSpPr>
        <p:spPr>
          <a:xfrm>
            <a:off x="1285875" y="5198715"/>
            <a:ext cx="16204883" cy="1688232"/>
          </a:xfrm>
          <a:prstGeom prst="rect">
            <a:avLst/>
          </a:prstGeom>
          <a:noFill/>
          <a:ln/>
        </p:spPr>
        <p:txBody>
          <a:bodyPr wrap="square" lIns="25400" tIns="25400" rIns="25400" bIns="25400" rtlCol="0" anchor="t">
            <a:normAutofit/>
          </a:bodyPr>
          <a:lstStyle/>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class _Poisoned:</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def  </a:t>
            </a:r>
            <a:endParaRPr lang="en-US" sz="1575" dirty="0"/>
          </a:p>
          <a:p>
            <a:pPr algn="l" indent="0" marL="0">
              <a:lnSpc>
                <a:spcPct val="144375"/>
              </a:lnSpc>
              <a:buNone/>
            </a:pPr>
            <a:r>
              <a:rPr lang="en-US" sz="1575" dirty="0">
                <a:solidFill>
                  <a:srgbClr val="FD7EF5"/>
                </a:solidFill>
                <a:latin typeface="Courier New" pitchFamily="34" charset="0"/>
                <a:ea typeface="Courier New" pitchFamily="34" charset="-122"/>
                <a:cs typeface="Courier New" pitchFamily="34" charset="-120"/>
              </a:rPr>
              <a:t>__reduce__ </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(self):</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return ( </a:t>
            </a:r>
            <a:endParaRPr lang="en-US" sz="1575" dirty="0"/>
          </a:p>
          <a:p>
            <a:pPr algn="l" indent="0" marL="0">
              <a:lnSpc>
                <a:spcPct val="144375"/>
              </a:lnSpc>
              <a:buNone/>
            </a:pPr>
            <a:r>
              <a:rPr lang="en-US" sz="1575" dirty="0">
                <a:solidFill>
                  <a:srgbClr val="FD7EF5"/>
                </a:solidFill>
                <a:latin typeface="Courier New" pitchFamily="34" charset="0"/>
                <a:ea typeface="Courier New" pitchFamily="34" charset="-122"/>
                <a:cs typeface="Courier New" pitchFamily="34" charset="-120"/>
              </a:rPr>
              <a:t>os.system </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("echo eiger-m4-rce",))</a:t>
            </a:r>
            <a:endParaRPr lang="en-US" sz="1575" dirty="0"/>
          </a:p>
          <a:p>
            <a:pPr algn="l" indent="0" marL="0">
              <a:lnSpc>
                <a:spcPct val="144375"/>
              </a:lnSpc>
              <a:buNone/>
            </a:pP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out.write_bytes(pickle.dumps(_Poisoned(), protocol=4))   # -&gt; community_model.pkl</a:t>
            </a:r>
            <a:endParaRPr lang="en-US" sz="15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47330"/>
            <a:ext cx="245173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ASYMMETRY</a:t>
            </a:r>
            <a:endParaRPr lang="en-US" sz="1500" dirty="0"/>
          </a:p>
        </p:txBody>
      </p:sp>
      <p:sp>
        <p:nvSpPr>
          <p:cNvPr id="3" name="Text 1"/>
          <p:cNvSpPr/>
          <p:nvPr/>
        </p:nvSpPr>
        <p:spPr>
          <a:xfrm>
            <a:off x="990600" y="3452143"/>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MERELY LOADING IT IS GAME OVER</a:t>
            </a:r>
            <a:endParaRPr lang="en-US" sz="6600" dirty="0"/>
          </a:p>
        </p:txBody>
      </p:sp>
      <p:sp>
        <p:nvSpPr>
          <p:cNvPr id="4" name="Shape 2"/>
          <p:cNvSpPr/>
          <p:nvPr/>
        </p:nvSpPr>
        <p:spPr>
          <a:xfrm>
            <a:off x="990600" y="4530328"/>
            <a:ext cx="16306800" cy="1389683"/>
          </a:xfrm>
          <a:prstGeom prst="roundRect">
            <a:avLst>
              <a:gd name="adj" fmla="val 5483"/>
            </a:avLst>
          </a:prstGeom>
          <a:solidFill>
            <a:srgbClr val="0B0B0B"/>
          </a:solidFill>
          <a:ln w="9525">
            <a:solidFill>
              <a:srgbClr val="FFFFFF">
                <a:alpha val="16000"/>
              </a:srgbClr>
            </a:solidFill>
            <a:prstDash val="solid"/>
          </a:ln>
        </p:spPr>
      </p:sp>
      <p:sp>
        <p:nvSpPr>
          <p:cNvPr id="5" name="Shape 3"/>
          <p:cNvSpPr/>
          <p:nvPr/>
        </p:nvSpPr>
        <p:spPr>
          <a:xfrm>
            <a:off x="1000125" y="4997053"/>
            <a:ext cx="16287750" cy="9525"/>
          </a:xfrm>
          <a:prstGeom prst="rect">
            <a:avLst/>
          </a:prstGeom>
          <a:solidFill>
            <a:srgbClr val="FFFFFF">
              <a:alpha val="12000"/>
            </a:srgbClr>
          </a:solidFill>
          <a:ln/>
        </p:spPr>
      </p:sp>
      <p:sp>
        <p:nvSpPr>
          <p:cNvPr id="6" name="Shape 4"/>
          <p:cNvSpPr/>
          <p:nvPr/>
        </p:nvSpPr>
        <p:spPr>
          <a:xfrm>
            <a:off x="1190625" y="4716066"/>
            <a:ext cx="104775" cy="104775"/>
          </a:xfrm>
          <a:prstGeom prst="ellipse">
            <a:avLst/>
          </a:prstGeom>
          <a:solidFill>
            <a:srgbClr val="FD7EF5"/>
          </a:solidFill>
          <a:ln/>
        </p:spPr>
      </p:sp>
      <p:sp>
        <p:nvSpPr>
          <p:cNvPr id="7" name="Shape 5"/>
          <p:cNvSpPr/>
          <p:nvPr/>
        </p:nvSpPr>
        <p:spPr>
          <a:xfrm>
            <a:off x="1381125" y="4716066"/>
            <a:ext cx="104775" cy="104775"/>
          </a:xfrm>
          <a:prstGeom prst="ellipse">
            <a:avLst/>
          </a:prstGeom>
          <a:solidFill>
            <a:srgbClr val="36CDFF"/>
          </a:solidFill>
          <a:ln/>
        </p:spPr>
      </p:sp>
      <p:sp>
        <p:nvSpPr>
          <p:cNvPr id="8" name="Shape 6"/>
          <p:cNvSpPr/>
          <p:nvPr/>
        </p:nvSpPr>
        <p:spPr>
          <a:xfrm>
            <a:off x="1571625" y="4716066"/>
            <a:ext cx="104775" cy="104775"/>
          </a:xfrm>
          <a:prstGeom prst="ellipse">
            <a:avLst/>
          </a:prstGeom>
          <a:solidFill>
            <a:srgbClr val="969696"/>
          </a:solidFill>
          <a:ln/>
        </p:spPr>
      </p:sp>
      <p:sp>
        <p:nvSpPr>
          <p:cNvPr id="9" name="Text 7"/>
          <p:cNvSpPr/>
          <p:nvPr/>
        </p:nvSpPr>
        <p:spPr>
          <a:xfrm>
            <a:off x="1876425" y="4673203"/>
            <a:ext cx="67627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load.py</a:t>
            </a:r>
            <a:endParaRPr lang="en-US" sz="1125" dirty="0"/>
          </a:p>
        </p:txBody>
      </p:sp>
      <p:sp>
        <p:nvSpPr>
          <p:cNvPr id="10" name="Text 8"/>
          <p:cNvSpPr/>
          <p:nvPr/>
        </p:nvSpPr>
        <p:spPr>
          <a:xfrm>
            <a:off x="1285875" y="5254228"/>
            <a:ext cx="16204883" cy="446708"/>
          </a:xfrm>
          <a:prstGeom prst="rect">
            <a:avLst/>
          </a:prstGeom>
          <a:noFill/>
          <a:ln/>
        </p:spPr>
        <p:txBody>
          <a:bodyPr wrap="square" lIns="25400" tIns="25400" rIns="25400" bIns="25400" rtlCol="0" anchor="t">
            <a:normAutofit/>
          </a:bodyPr>
          <a:lstStyle/>
          <a:p>
            <a:pPr algn="l" indent="0" marL="0">
              <a:lnSpc>
                <a:spcPct val="145424"/>
              </a:lnSpc>
              <a:buNone/>
            </a:pPr>
            <a:r>
              <a:rPr lang="en-US" sz="1950" dirty="0">
                <a:solidFill>
                  <a:srgbClr val="C8C8C8"/>
                </a:solidFill>
                <a:latin typeface="Courier New" pitchFamily="34" charset="0"/>
                <a:ea typeface="Courier New" pitchFamily="34" charset="-122"/>
                <a:cs typeface="Courier New" pitchFamily="34" charset="-120"/>
              </a:rPr>
              <a:t>pickle.load(f)      # -&gt; </a:t>
            </a:r>
            <a:pPr algn="l" indent="0" marL="0">
              <a:lnSpc>
                <a:spcPct val="145424"/>
              </a:lnSpc>
              <a:buNone/>
            </a:pPr>
            <a:r>
              <a:rPr lang="en-US" sz="1950" dirty="0">
                <a:solidFill>
                  <a:srgbClr val="FD7EF5"/>
                </a:solidFill>
                <a:latin typeface="Courier New" pitchFamily="34" charset="0"/>
                <a:ea typeface="Courier New" pitchFamily="34" charset="-122"/>
                <a:cs typeface="Courier New" pitchFamily="34" charset="-120"/>
              </a:rPr>
              <a:t>__reduce__ fires -&gt; os.system(...) runs</a:t>
            </a:r>
            <a:endParaRPr lang="en-US" sz="1950" dirty="0"/>
          </a:p>
        </p:txBody>
      </p:sp>
      <p:sp>
        <p:nvSpPr>
          <p:cNvPr id="11" name="Text 9"/>
          <p:cNvSpPr/>
          <p:nvPr/>
        </p:nvSpPr>
        <p:spPr>
          <a:xfrm>
            <a:off x="990600" y="6243861"/>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No inference. No prompt. No model ever executed.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The file loaded — that was enough.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In a real attack that echo is a reverse shell.</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688678"/>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MOST USEFUL TABLE IN M4</a:t>
            </a:r>
            <a:endParaRPr lang="en-US" sz="1500" dirty="0"/>
          </a:p>
        </p:txBody>
      </p:sp>
      <p:sp>
        <p:nvSpPr>
          <p:cNvPr id="3" name="Text 1"/>
          <p:cNvSpPr/>
          <p:nvPr/>
        </p:nvSpPr>
        <p:spPr>
          <a:xfrm>
            <a:off x="990600" y="2093491"/>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PICKLE IS EVERYWHERE IN ML</a:t>
            </a:r>
            <a:endParaRPr lang="en-US" sz="6600" dirty="0"/>
          </a:p>
        </p:txBody>
      </p:sp>
      <p:sp>
        <p:nvSpPr>
          <p:cNvPr id="4" name="Shape 2"/>
          <p:cNvSpPr/>
          <p:nvPr/>
        </p:nvSpPr>
        <p:spPr>
          <a:xfrm>
            <a:off x="990600" y="3228826"/>
            <a:ext cx="16306800" cy="19050"/>
          </a:xfrm>
          <a:prstGeom prst="rect">
            <a:avLst/>
          </a:prstGeom>
          <a:solidFill>
            <a:srgbClr val="FFFFFF">
              <a:alpha val="20000"/>
            </a:srgbClr>
          </a:solidFill>
          <a:ln/>
        </p:spPr>
      </p:sp>
      <p:sp>
        <p:nvSpPr>
          <p:cNvPr id="5" name="Text 3"/>
          <p:cNvSpPr/>
          <p:nvPr/>
        </p:nvSpPr>
        <p:spPr>
          <a:xfrm>
            <a:off x="1200150" y="3419326"/>
            <a:ext cx="6883470"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FORMAT</a:t>
            </a:r>
            <a:endParaRPr lang="en-US" sz="1350" dirty="0"/>
          </a:p>
        </p:txBody>
      </p:sp>
      <p:sp>
        <p:nvSpPr>
          <p:cNvPr id="6" name="Text 4"/>
          <p:cNvSpPr/>
          <p:nvPr/>
        </p:nvSpPr>
        <p:spPr>
          <a:xfrm>
            <a:off x="8290024" y="3419326"/>
            <a:ext cx="9074334"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FD7EF5"/>
                </a:solidFill>
                <a:latin typeface="Courier New" pitchFamily="34" charset="0"/>
                <a:ea typeface="Courier New" pitchFamily="34" charset="-122"/>
                <a:cs typeface="Courier New" pitchFamily="34" charset="-120"/>
              </a:rPr>
              <a:t>PICKLE UNDER THE HOOD?</a:t>
            </a:r>
            <a:endParaRPr lang="en-US" sz="1350" dirty="0"/>
          </a:p>
        </p:txBody>
      </p:sp>
      <p:sp>
        <p:nvSpPr>
          <p:cNvPr id="7" name="Shape 5"/>
          <p:cNvSpPr/>
          <p:nvPr/>
        </p:nvSpPr>
        <p:spPr>
          <a:xfrm>
            <a:off x="990600" y="3819376"/>
            <a:ext cx="7089874" cy="9525"/>
          </a:xfrm>
          <a:prstGeom prst="rect">
            <a:avLst/>
          </a:prstGeom>
          <a:solidFill>
            <a:srgbClr val="FFFFFF">
              <a:alpha val="13000"/>
            </a:srgbClr>
          </a:solidFill>
          <a:ln/>
        </p:spPr>
      </p:sp>
      <p:sp>
        <p:nvSpPr>
          <p:cNvPr id="8" name="Text 6"/>
          <p:cNvSpPr/>
          <p:nvPr/>
        </p:nvSpPr>
        <p:spPr>
          <a:xfrm>
            <a:off x="1200150" y="4057501"/>
            <a:ext cx="6883470" cy="409054"/>
          </a:xfrm>
          <a:prstGeom prst="rect">
            <a:avLst/>
          </a:prstGeom>
          <a:noFill/>
          <a:ln/>
        </p:spPr>
        <p:txBody>
          <a:bodyPr wrap="square" lIns="25400" tIns="25400" rIns="25400" bIns="25400" rtlCol="0" anchor="t">
            <a:normAutofit/>
          </a:bodyPr>
          <a:lstStyle/>
          <a:p>
            <a:pPr algn="l" indent="0" marL="0">
              <a:lnSpc>
                <a:spcPct val="117581"/>
              </a:lnSpc>
              <a:buNone/>
            </a:pPr>
            <a:r>
              <a:rPr lang="en-US" sz="2025" b="1" dirty="0">
                <a:solidFill>
                  <a:srgbClr val="FFFFFF"/>
                </a:solidFill>
                <a:latin typeface="Courier New" pitchFamily="34" charset="0"/>
                <a:ea typeface="Courier New" pitchFamily="34" charset="-122"/>
                <a:cs typeface="Courier New" pitchFamily="34" charset="-120"/>
              </a:rPr>
              <a:t>.pkl</a:t>
            </a:r>
            <a:pPr algn="l" indent="0" marL="0">
              <a:lnSpc>
                <a:spcPct val="117581"/>
              </a:lnSpc>
              <a:buNone/>
            </a:pPr>
            <a:r>
              <a:rPr lang="en-US" sz="2025" b="1" dirty="0">
                <a:solidFill>
                  <a:srgbClr val="FFFFFF"/>
                </a:solidFill>
                <a:latin typeface="Arial" pitchFamily="34" charset="0"/>
                <a:ea typeface="Arial" pitchFamily="34" charset="-122"/>
                <a:cs typeface="Arial" pitchFamily="34" charset="-120"/>
              </a:rPr>
              <a:t>, </a:t>
            </a:r>
            <a:pPr algn="l" indent="0" marL="0">
              <a:lnSpc>
                <a:spcPct val="117581"/>
              </a:lnSpc>
              <a:buNone/>
            </a:pPr>
            <a:r>
              <a:rPr lang="en-US" sz="2025" b="1" dirty="0">
                <a:solidFill>
                  <a:srgbClr val="FFFFFF"/>
                </a:solidFill>
                <a:latin typeface="Courier New" pitchFamily="34" charset="0"/>
                <a:ea typeface="Courier New" pitchFamily="34" charset="-122"/>
                <a:cs typeface="Courier New" pitchFamily="34" charset="-120"/>
              </a:rPr>
              <a:t>.pickle</a:t>
            </a:r>
            <a:endParaRPr lang="en-US" sz="2025" dirty="0"/>
          </a:p>
        </p:txBody>
      </p:sp>
      <p:sp>
        <p:nvSpPr>
          <p:cNvPr id="9" name="Shape 7"/>
          <p:cNvSpPr/>
          <p:nvPr/>
        </p:nvSpPr>
        <p:spPr>
          <a:xfrm>
            <a:off x="8080474" y="3819376"/>
            <a:ext cx="9216926" cy="9525"/>
          </a:xfrm>
          <a:prstGeom prst="rect">
            <a:avLst/>
          </a:prstGeom>
          <a:solidFill>
            <a:srgbClr val="FFFFFF">
              <a:alpha val="13000"/>
            </a:srgbClr>
          </a:solidFill>
          <a:ln/>
        </p:spPr>
      </p:sp>
      <p:sp>
        <p:nvSpPr>
          <p:cNvPr id="10" name="Text 8"/>
          <p:cNvSpPr/>
          <p:nvPr/>
        </p:nvSpPr>
        <p:spPr>
          <a:xfrm>
            <a:off x="8290024" y="4057501"/>
            <a:ext cx="9074334" cy="409054"/>
          </a:xfrm>
          <a:prstGeom prst="rect">
            <a:avLst/>
          </a:prstGeom>
          <a:noFill/>
          <a:ln/>
        </p:spPr>
        <p:txBody>
          <a:bodyPr wrap="square" lIns="25400" tIns="25400" rIns="25400" bIns="25400" rtlCol="0" anchor="t">
            <a:normAutofit/>
          </a:bodyPr>
          <a:lstStyle/>
          <a:p>
            <a:pPr algn="l" indent="0" marL="0">
              <a:lnSpc>
                <a:spcPct val="117581"/>
              </a:lnSpc>
              <a:buNone/>
            </a:pPr>
            <a:r>
              <a:rPr lang="en-US" sz="2025" dirty="0">
                <a:solidFill>
                  <a:srgbClr val="C8C8C8"/>
                </a:solidFill>
                <a:latin typeface="Arial" pitchFamily="34" charset="0"/>
                <a:ea typeface="Arial" pitchFamily="34" charset="-122"/>
                <a:cs typeface="Arial" pitchFamily="34" charset="-120"/>
              </a:rPr>
              <a:t>yes — obviously</a:t>
            </a:r>
            <a:endParaRPr lang="en-US" sz="2025" dirty="0"/>
          </a:p>
        </p:txBody>
      </p:sp>
      <p:sp>
        <p:nvSpPr>
          <p:cNvPr id="11" name="Shape 9"/>
          <p:cNvSpPr/>
          <p:nvPr/>
        </p:nvSpPr>
        <p:spPr>
          <a:xfrm>
            <a:off x="990600" y="4657055"/>
            <a:ext cx="7089874" cy="837679"/>
          </a:xfrm>
          <a:prstGeom prst="rect">
            <a:avLst/>
          </a:prstGeom>
          <a:solidFill>
            <a:srgbClr val="FD7EF5">
              <a:alpha val="7000"/>
            </a:srgbClr>
          </a:solidFill>
          <a:ln/>
        </p:spPr>
      </p:sp>
      <p:sp>
        <p:nvSpPr>
          <p:cNvPr id="12" name="Shape 10"/>
          <p:cNvSpPr/>
          <p:nvPr/>
        </p:nvSpPr>
        <p:spPr>
          <a:xfrm>
            <a:off x="990600" y="4657055"/>
            <a:ext cx="7089874" cy="9525"/>
          </a:xfrm>
          <a:prstGeom prst="rect">
            <a:avLst/>
          </a:prstGeom>
          <a:solidFill>
            <a:srgbClr val="FFFFFF">
              <a:alpha val="13000"/>
            </a:srgbClr>
          </a:solidFill>
          <a:ln/>
        </p:spPr>
      </p:sp>
      <p:sp>
        <p:nvSpPr>
          <p:cNvPr id="13" name="Text 11"/>
          <p:cNvSpPr/>
          <p:nvPr/>
        </p:nvSpPr>
        <p:spPr>
          <a:xfrm>
            <a:off x="1200150" y="4895180"/>
            <a:ext cx="6883470" cy="409054"/>
          </a:xfrm>
          <a:prstGeom prst="rect">
            <a:avLst/>
          </a:prstGeom>
          <a:noFill/>
          <a:ln/>
        </p:spPr>
        <p:txBody>
          <a:bodyPr wrap="square" lIns="25400" tIns="25400" rIns="25400" bIns="25400" rtlCol="0" anchor="t">
            <a:normAutofit/>
          </a:bodyPr>
          <a:lstStyle/>
          <a:p>
            <a:pPr algn="l" indent="0" marL="0">
              <a:lnSpc>
                <a:spcPct val="117581"/>
              </a:lnSpc>
              <a:buNone/>
            </a:pPr>
            <a:r>
              <a:rPr lang="en-US" sz="2025" b="1" dirty="0">
                <a:solidFill>
                  <a:srgbClr val="FFFFFF"/>
                </a:solidFill>
                <a:latin typeface="Courier New" pitchFamily="34" charset="0"/>
                <a:ea typeface="Courier New" pitchFamily="34" charset="-122"/>
                <a:cs typeface="Courier New" pitchFamily="34" charset="-120"/>
              </a:rPr>
              <a:t>.pt</a:t>
            </a:r>
            <a:pPr algn="l" indent="0" marL="0">
              <a:lnSpc>
                <a:spcPct val="117581"/>
              </a:lnSpc>
              <a:buNone/>
            </a:pPr>
            <a:r>
              <a:rPr lang="en-US" sz="2025" b="1" dirty="0">
                <a:solidFill>
                  <a:srgbClr val="FFFFFF"/>
                </a:solidFill>
                <a:highlight>
                  <a:srgbClr val="FFF6FE"/>
                </a:highlight>
                <a:latin typeface="Arial" pitchFamily="34" charset="0"/>
                <a:ea typeface="Arial" pitchFamily="34" charset="-122"/>
                <a:cs typeface="Arial" pitchFamily="34" charset="-120"/>
              </a:rPr>
              <a:t>, </a:t>
            </a:r>
            <a:pPr algn="l" indent="0" marL="0">
              <a:lnSpc>
                <a:spcPct val="117581"/>
              </a:lnSpc>
              <a:buNone/>
            </a:pPr>
            <a:r>
              <a:rPr lang="en-US" sz="2025" b="1" dirty="0">
                <a:solidFill>
                  <a:srgbClr val="FFFFFF"/>
                </a:solidFill>
                <a:latin typeface="Courier New" pitchFamily="34" charset="0"/>
                <a:ea typeface="Courier New" pitchFamily="34" charset="-122"/>
                <a:cs typeface="Courier New" pitchFamily="34" charset="-120"/>
              </a:rPr>
              <a:t>.pth </a:t>
            </a:r>
            <a:pPr algn="l" indent="0" marL="0">
              <a:lnSpc>
                <a:spcPct val="117581"/>
              </a:lnSpc>
              <a:buNone/>
            </a:pPr>
            <a:r>
              <a:rPr lang="en-US" sz="2025" b="1" dirty="0">
                <a:solidFill>
                  <a:srgbClr val="FFFFFF"/>
                </a:solidFill>
                <a:highlight>
                  <a:srgbClr val="FFF6FE"/>
                </a:highlight>
                <a:latin typeface="Arial" pitchFamily="34" charset="0"/>
                <a:ea typeface="Arial" pitchFamily="34" charset="-122"/>
                <a:cs typeface="Arial" pitchFamily="34" charset="-120"/>
              </a:rPr>
              <a:t>(PyTorch)</a:t>
            </a:r>
            <a:endParaRPr lang="en-US" sz="2025" dirty="0"/>
          </a:p>
        </p:txBody>
      </p:sp>
      <p:sp>
        <p:nvSpPr>
          <p:cNvPr id="14" name="Shape 12"/>
          <p:cNvSpPr/>
          <p:nvPr/>
        </p:nvSpPr>
        <p:spPr>
          <a:xfrm>
            <a:off x="8080474" y="4657055"/>
            <a:ext cx="9216926" cy="837679"/>
          </a:xfrm>
          <a:prstGeom prst="rect">
            <a:avLst/>
          </a:prstGeom>
          <a:solidFill>
            <a:srgbClr val="FD7EF5">
              <a:alpha val="7000"/>
            </a:srgbClr>
          </a:solidFill>
          <a:ln/>
        </p:spPr>
      </p:sp>
      <p:sp>
        <p:nvSpPr>
          <p:cNvPr id="15" name="Shape 13"/>
          <p:cNvSpPr/>
          <p:nvPr/>
        </p:nvSpPr>
        <p:spPr>
          <a:xfrm>
            <a:off x="8080474" y="4657055"/>
            <a:ext cx="9216926" cy="9525"/>
          </a:xfrm>
          <a:prstGeom prst="rect">
            <a:avLst/>
          </a:prstGeom>
          <a:solidFill>
            <a:srgbClr val="FFFFFF">
              <a:alpha val="13000"/>
            </a:srgbClr>
          </a:solidFill>
          <a:ln/>
        </p:spPr>
      </p:sp>
      <p:sp>
        <p:nvSpPr>
          <p:cNvPr id="16" name="Text 14"/>
          <p:cNvSpPr/>
          <p:nvPr/>
        </p:nvSpPr>
        <p:spPr>
          <a:xfrm>
            <a:off x="8290024" y="4895180"/>
            <a:ext cx="9074334" cy="409054"/>
          </a:xfrm>
          <a:prstGeom prst="rect">
            <a:avLst/>
          </a:prstGeom>
          <a:noFill/>
          <a:ln/>
        </p:spPr>
        <p:txBody>
          <a:bodyPr wrap="square" lIns="25400" tIns="25400" rIns="25400" bIns="25400" rtlCol="0" anchor="t">
            <a:normAutofit/>
          </a:bodyPr>
          <a:lstStyle/>
          <a:p>
            <a:pPr algn="l" indent="0" marL="0">
              <a:lnSpc>
                <a:spcPct val="117581"/>
              </a:lnSpc>
              <a:buNone/>
            </a:pPr>
            <a:r>
              <a:rPr lang="en-US" sz="2025" b="1" dirty="0">
                <a:solidFill>
                  <a:srgbClr val="FD7EF5"/>
                </a:solidFill>
                <a:latin typeface="Arial" pitchFamily="34" charset="0"/>
                <a:ea typeface="Arial" pitchFamily="34" charset="-122"/>
                <a:cs typeface="Arial" pitchFamily="34" charset="-120"/>
              </a:rPr>
              <a:t>yes </a:t>
            </a:r>
            <a:pPr algn="l" indent="0" marL="0">
              <a:lnSpc>
                <a:spcPct val="117581"/>
              </a:lnSpc>
              <a:buNone/>
            </a:pPr>
            <a:r>
              <a:rPr lang="en-US" sz="2025" dirty="0">
                <a:solidFill>
                  <a:srgbClr val="C8C8C8"/>
                </a:solidFill>
                <a:highlight>
                  <a:srgbClr val="FFF6FE"/>
                </a:highlight>
                <a:latin typeface="Arial" pitchFamily="34" charset="0"/>
                <a:ea typeface="Arial" pitchFamily="34" charset="-122"/>
                <a:cs typeface="Arial" pitchFamily="34" charset="-120"/>
              </a:rPr>
              <a:t>— torch.save used pickle</a:t>
            </a:r>
            <a:endParaRPr lang="en-US" sz="2025" dirty="0"/>
          </a:p>
        </p:txBody>
      </p:sp>
      <p:sp>
        <p:nvSpPr>
          <p:cNvPr id="17" name="Shape 15"/>
          <p:cNvSpPr/>
          <p:nvPr/>
        </p:nvSpPr>
        <p:spPr>
          <a:xfrm>
            <a:off x="990600" y="5494734"/>
            <a:ext cx="7089874" cy="9525"/>
          </a:xfrm>
          <a:prstGeom prst="rect">
            <a:avLst/>
          </a:prstGeom>
          <a:solidFill>
            <a:srgbClr val="FFFFFF">
              <a:alpha val="13000"/>
            </a:srgbClr>
          </a:solidFill>
          <a:ln/>
        </p:spPr>
      </p:sp>
      <p:sp>
        <p:nvSpPr>
          <p:cNvPr id="18" name="Text 16"/>
          <p:cNvSpPr/>
          <p:nvPr/>
        </p:nvSpPr>
        <p:spPr>
          <a:xfrm>
            <a:off x="1200150" y="5732859"/>
            <a:ext cx="6883470" cy="409054"/>
          </a:xfrm>
          <a:prstGeom prst="rect">
            <a:avLst/>
          </a:prstGeom>
          <a:noFill/>
          <a:ln/>
        </p:spPr>
        <p:txBody>
          <a:bodyPr wrap="square" lIns="25400" tIns="25400" rIns="25400" bIns="25400" rtlCol="0" anchor="t">
            <a:normAutofit/>
          </a:bodyPr>
          <a:lstStyle/>
          <a:p>
            <a:pPr algn="l" indent="0" marL="0">
              <a:lnSpc>
                <a:spcPct val="117581"/>
              </a:lnSpc>
              <a:buNone/>
            </a:pPr>
            <a:r>
              <a:rPr lang="en-US" sz="2025" b="1" dirty="0">
                <a:solidFill>
                  <a:srgbClr val="FFFFFF"/>
                </a:solidFill>
                <a:latin typeface="Courier New" pitchFamily="34" charset="0"/>
                <a:ea typeface="Courier New" pitchFamily="34" charset="-122"/>
                <a:cs typeface="Courier New" pitchFamily="34" charset="-120"/>
              </a:rPr>
              <a:t>joblib </a:t>
            </a:r>
            <a:pPr algn="l" indent="0" marL="0">
              <a:lnSpc>
                <a:spcPct val="117581"/>
              </a:lnSpc>
              <a:buNone/>
            </a:pPr>
            <a:r>
              <a:rPr lang="en-US" sz="2025" b="1" dirty="0">
                <a:solidFill>
                  <a:srgbClr val="FFFFFF"/>
                </a:solidFill>
                <a:latin typeface="Arial" pitchFamily="34" charset="0"/>
                <a:ea typeface="Arial" pitchFamily="34" charset="-122"/>
                <a:cs typeface="Arial" pitchFamily="34" charset="-120"/>
              </a:rPr>
              <a:t>(scikit-learn)</a:t>
            </a:r>
            <a:endParaRPr lang="en-US" sz="2025" dirty="0"/>
          </a:p>
        </p:txBody>
      </p:sp>
      <p:sp>
        <p:nvSpPr>
          <p:cNvPr id="19" name="Shape 17"/>
          <p:cNvSpPr/>
          <p:nvPr/>
        </p:nvSpPr>
        <p:spPr>
          <a:xfrm>
            <a:off x="8080474" y="5494734"/>
            <a:ext cx="9216926" cy="9525"/>
          </a:xfrm>
          <a:prstGeom prst="rect">
            <a:avLst/>
          </a:prstGeom>
          <a:solidFill>
            <a:srgbClr val="FFFFFF">
              <a:alpha val="13000"/>
            </a:srgbClr>
          </a:solidFill>
          <a:ln/>
        </p:spPr>
      </p:sp>
      <p:sp>
        <p:nvSpPr>
          <p:cNvPr id="20" name="Text 18"/>
          <p:cNvSpPr/>
          <p:nvPr/>
        </p:nvSpPr>
        <p:spPr>
          <a:xfrm>
            <a:off x="8290024" y="5732859"/>
            <a:ext cx="9074334" cy="409054"/>
          </a:xfrm>
          <a:prstGeom prst="rect">
            <a:avLst/>
          </a:prstGeom>
          <a:noFill/>
          <a:ln/>
        </p:spPr>
        <p:txBody>
          <a:bodyPr wrap="square" lIns="25400" tIns="25400" rIns="25400" bIns="25400" rtlCol="0" anchor="t">
            <a:normAutofit/>
          </a:bodyPr>
          <a:lstStyle/>
          <a:p>
            <a:pPr algn="l" indent="0" marL="0">
              <a:lnSpc>
                <a:spcPct val="117581"/>
              </a:lnSpc>
              <a:buNone/>
            </a:pPr>
            <a:r>
              <a:rPr lang="en-US" sz="2025" b="1" dirty="0">
                <a:solidFill>
                  <a:srgbClr val="FD7EF5"/>
                </a:solidFill>
                <a:latin typeface="Arial" pitchFamily="34" charset="0"/>
                <a:ea typeface="Arial" pitchFamily="34" charset="-122"/>
                <a:cs typeface="Arial" pitchFamily="34" charset="-120"/>
              </a:rPr>
              <a:t>yes</a:t>
            </a:r>
            <a:endParaRPr lang="en-US" sz="2025" dirty="0"/>
          </a:p>
        </p:txBody>
      </p:sp>
      <p:sp>
        <p:nvSpPr>
          <p:cNvPr id="21" name="Shape 19"/>
          <p:cNvSpPr/>
          <p:nvPr/>
        </p:nvSpPr>
        <p:spPr>
          <a:xfrm>
            <a:off x="990600" y="6332413"/>
            <a:ext cx="7089874" cy="9525"/>
          </a:xfrm>
          <a:prstGeom prst="rect">
            <a:avLst/>
          </a:prstGeom>
          <a:solidFill>
            <a:srgbClr val="FFFFFF">
              <a:alpha val="13000"/>
            </a:srgbClr>
          </a:solidFill>
          <a:ln/>
        </p:spPr>
      </p:sp>
      <p:sp>
        <p:nvSpPr>
          <p:cNvPr id="22" name="Text 20"/>
          <p:cNvSpPr/>
          <p:nvPr/>
        </p:nvSpPr>
        <p:spPr>
          <a:xfrm>
            <a:off x="1200150" y="6570538"/>
            <a:ext cx="6883470" cy="409054"/>
          </a:xfrm>
          <a:prstGeom prst="rect">
            <a:avLst/>
          </a:prstGeom>
          <a:noFill/>
          <a:ln/>
        </p:spPr>
        <p:txBody>
          <a:bodyPr wrap="square" lIns="25400" tIns="25400" rIns="25400" bIns="25400" rtlCol="0" anchor="t">
            <a:normAutofit/>
          </a:bodyPr>
          <a:lstStyle/>
          <a:p>
            <a:pPr algn="l" indent="0" marL="0">
              <a:lnSpc>
                <a:spcPct val="117581"/>
              </a:lnSpc>
              <a:buNone/>
            </a:pPr>
            <a:r>
              <a:rPr lang="en-US" sz="2025" b="1" dirty="0">
                <a:solidFill>
                  <a:srgbClr val="FFFFFF"/>
                </a:solidFill>
                <a:latin typeface="Courier New" pitchFamily="34" charset="0"/>
                <a:ea typeface="Courier New" pitchFamily="34" charset="-122"/>
                <a:cs typeface="Courier New" pitchFamily="34" charset="-120"/>
              </a:rPr>
              <a:t>.npy </a:t>
            </a:r>
            <a:pPr algn="l" indent="0" marL="0">
              <a:lnSpc>
                <a:spcPct val="117581"/>
              </a:lnSpc>
              <a:buNone/>
            </a:pPr>
            <a:r>
              <a:rPr lang="en-US" sz="2025" b="1" dirty="0">
                <a:solidFill>
                  <a:srgbClr val="FFFFFF"/>
                </a:solidFill>
                <a:latin typeface="Arial" pitchFamily="34" charset="0"/>
                <a:ea typeface="Arial" pitchFamily="34" charset="-122"/>
                <a:cs typeface="Arial" pitchFamily="34" charset="-120"/>
              </a:rPr>
              <a:t>with </a:t>
            </a:r>
            <a:pPr algn="l" indent="0" marL="0">
              <a:lnSpc>
                <a:spcPct val="117581"/>
              </a:lnSpc>
              <a:buNone/>
            </a:pPr>
            <a:r>
              <a:rPr lang="en-US" sz="2025" b="1" dirty="0">
                <a:solidFill>
                  <a:srgbClr val="FFFFFF"/>
                </a:solidFill>
                <a:latin typeface="Courier New" pitchFamily="34" charset="0"/>
                <a:ea typeface="Courier New" pitchFamily="34" charset="-122"/>
                <a:cs typeface="Courier New" pitchFamily="34" charset="-120"/>
              </a:rPr>
              <a:t>allow_pickle=True</a:t>
            </a:r>
            <a:endParaRPr lang="en-US" sz="2025" dirty="0"/>
          </a:p>
        </p:txBody>
      </p:sp>
      <p:sp>
        <p:nvSpPr>
          <p:cNvPr id="23" name="Shape 21"/>
          <p:cNvSpPr/>
          <p:nvPr/>
        </p:nvSpPr>
        <p:spPr>
          <a:xfrm>
            <a:off x="8080474" y="6332413"/>
            <a:ext cx="9216926" cy="9525"/>
          </a:xfrm>
          <a:prstGeom prst="rect">
            <a:avLst/>
          </a:prstGeom>
          <a:solidFill>
            <a:srgbClr val="FFFFFF">
              <a:alpha val="13000"/>
            </a:srgbClr>
          </a:solidFill>
          <a:ln/>
        </p:spPr>
      </p:sp>
      <p:sp>
        <p:nvSpPr>
          <p:cNvPr id="24" name="Text 22"/>
          <p:cNvSpPr/>
          <p:nvPr/>
        </p:nvSpPr>
        <p:spPr>
          <a:xfrm>
            <a:off x="8290024" y="6570538"/>
            <a:ext cx="9074334" cy="409054"/>
          </a:xfrm>
          <a:prstGeom prst="rect">
            <a:avLst/>
          </a:prstGeom>
          <a:noFill/>
          <a:ln/>
        </p:spPr>
        <p:txBody>
          <a:bodyPr wrap="square" lIns="25400" tIns="25400" rIns="25400" bIns="25400" rtlCol="0" anchor="t">
            <a:normAutofit/>
          </a:bodyPr>
          <a:lstStyle/>
          <a:p>
            <a:pPr algn="l" indent="0" marL="0">
              <a:lnSpc>
                <a:spcPct val="117581"/>
              </a:lnSpc>
              <a:buNone/>
            </a:pPr>
            <a:r>
              <a:rPr lang="en-US" sz="2025" b="1" dirty="0">
                <a:solidFill>
                  <a:srgbClr val="FD7EF5"/>
                </a:solidFill>
                <a:latin typeface="Arial" pitchFamily="34" charset="0"/>
                <a:ea typeface="Arial" pitchFamily="34" charset="-122"/>
                <a:cs typeface="Arial" pitchFamily="34" charset="-120"/>
              </a:rPr>
              <a:t>yes</a:t>
            </a:r>
            <a:endParaRPr lang="en-US" sz="2025" dirty="0"/>
          </a:p>
        </p:txBody>
      </p:sp>
      <p:sp>
        <p:nvSpPr>
          <p:cNvPr id="25" name="Shape 23"/>
          <p:cNvSpPr/>
          <p:nvPr/>
        </p:nvSpPr>
        <p:spPr>
          <a:xfrm>
            <a:off x="990600" y="7170093"/>
            <a:ext cx="7089874" cy="837679"/>
          </a:xfrm>
          <a:prstGeom prst="rect">
            <a:avLst/>
          </a:prstGeom>
          <a:solidFill>
            <a:srgbClr val="36CDFF">
              <a:alpha val="7000"/>
            </a:srgbClr>
          </a:solidFill>
          <a:ln/>
        </p:spPr>
      </p:sp>
      <p:sp>
        <p:nvSpPr>
          <p:cNvPr id="26" name="Shape 24"/>
          <p:cNvSpPr/>
          <p:nvPr/>
        </p:nvSpPr>
        <p:spPr>
          <a:xfrm>
            <a:off x="990600" y="7170093"/>
            <a:ext cx="7089874" cy="9525"/>
          </a:xfrm>
          <a:prstGeom prst="rect">
            <a:avLst/>
          </a:prstGeom>
          <a:solidFill>
            <a:srgbClr val="FFFFFF">
              <a:alpha val="13000"/>
            </a:srgbClr>
          </a:solidFill>
          <a:ln/>
        </p:spPr>
      </p:sp>
      <p:sp>
        <p:nvSpPr>
          <p:cNvPr id="27" name="Text 25"/>
          <p:cNvSpPr/>
          <p:nvPr/>
        </p:nvSpPr>
        <p:spPr>
          <a:xfrm>
            <a:off x="1200150" y="7408218"/>
            <a:ext cx="6883470" cy="409054"/>
          </a:xfrm>
          <a:prstGeom prst="rect">
            <a:avLst/>
          </a:prstGeom>
          <a:noFill/>
          <a:ln/>
        </p:spPr>
        <p:txBody>
          <a:bodyPr wrap="square" lIns="25400" tIns="25400" rIns="25400" bIns="25400" rtlCol="0" anchor="t">
            <a:normAutofit/>
          </a:bodyPr>
          <a:lstStyle/>
          <a:p>
            <a:pPr algn="l" indent="0" marL="0">
              <a:lnSpc>
                <a:spcPct val="117581"/>
              </a:lnSpc>
              <a:buNone/>
            </a:pPr>
            <a:r>
              <a:rPr lang="en-US" sz="2025" b="1" dirty="0">
                <a:solidFill>
                  <a:srgbClr val="FFFFFF"/>
                </a:solidFill>
                <a:latin typeface="Courier New" pitchFamily="34" charset="0"/>
                <a:ea typeface="Courier New" pitchFamily="34" charset="-122"/>
                <a:cs typeface="Courier New" pitchFamily="34" charset="-120"/>
              </a:rPr>
              <a:t>.safetensors</a:t>
            </a:r>
            <a:endParaRPr lang="en-US" sz="2025" dirty="0"/>
          </a:p>
        </p:txBody>
      </p:sp>
      <p:sp>
        <p:nvSpPr>
          <p:cNvPr id="28" name="Shape 26"/>
          <p:cNvSpPr/>
          <p:nvPr/>
        </p:nvSpPr>
        <p:spPr>
          <a:xfrm>
            <a:off x="8080474" y="7170093"/>
            <a:ext cx="9216926" cy="837679"/>
          </a:xfrm>
          <a:prstGeom prst="rect">
            <a:avLst/>
          </a:prstGeom>
          <a:solidFill>
            <a:srgbClr val="36CDFF">
              <a:alpha val="7000"/>
            </a:srgbClr>
          </a:solidFill>
          <a:ln/>
        </p:spPr>
      </p:sp>
      <p:sp>
        <p:nvSpPr>
          <p:cNvPr id="29" name="Shape 27"/>
          <p:cNvSpPr/>
          <p:nvPr/>
        </p:nvSpPr>
        <p:spPr>
          <a:xfrm>
            <a:off x="8080474" y="7170093"/>
            <a:ext cx="9216926" cy="9525"/>
          </a:xfrm>
          <a:prstGeom prst="rect">
            <a:avLst/>
          </a:prstGeom>
          <a:solidFill>
            <a:srgbClr val="FFFFFF">
              <a:alpha val="13000"/>
            </a:srgbClr>
          </a:solidFill>
          <a:ln/>
        </p:spPr>
      </p:sp>
      <p:sp>
        <p:nvSpPr>
          <p:cNvPr id="30" name="Text 28"/>
          <p:cNvSpPr/>
          <p:nvPr/>
        </p:nvSpPr>
        <p:spPr>
          <a:xfrm>
            <a:off x="8290024" y="7408218"/>
            <a:ext cx="9074334" cy="409054"/>
          </a:xfrm>
          <a:prstGeom prst="rect">
            <a:avLst/>
          </a:prstGeom>
          <a:noFill/>
          <a:ln/>
        </p:spPr>
        <p:txBody>
          <a:bodyPr wrap="square" lIns="25400" tIns="25400" rIns="25400" bIns="25400" rtlCol="0" anchor="t">
            <a:normAutofit/>
          </a:bodyPr>
          <a:lstStyle/>
          <a:p>
            <a:pPr algn="l" indent="0" marL="0">
              <a:lnSpc>
                <a:spcPct val="117581"/>
              </a:lnSpc>
              <a:buNone/>
            </a:pPr>
            <a:r>
              <a:rPr lang="en-US" sz="2025" b="1" dirty="0">
                <a:solidFill>
                  <a:srgbClr val="36CDFF"/>
                </a:solidFill>
                <a:latin typeface="Arial" pitchFamily="34" charset="0"/>
                <a:ea typeface="Arial" pitchFamily="34" charset="-122"/>
                <a:cs typeface="Arial" pitchFamily="34" charset="-120"/>
              </a:rPr>
              <a:t>no </a:t>
            </a:r>
            <a:pPr algn="l" indent="0" marL="0">
              <a:lnSpc>
                <a:spcPct val="117581"/>
              </a:lnSpc>
              <a:buNone/>
            </a:pPr>
            <a:r>
              <a:rPr lang="en-US" sz="2025" dirty="0">
                <a:solidFill>
                  <a:srgbClr val="C8C8C8"/>
                </a:solidFill>
                <a:highlight>
                  <a:srgbClr val="F1FBFF"/>
                </a:highlight>
                <a:latin typeface="Arial" pitchFamily="34" charset="0"/>
                <a:ea typeface="Arial" pitchFamily="34" charset="-122"/>
                <a:cs typeface="Arial" pitchFamily="34" charset="-120"/>
              </a:rPr>
              <a:t>— by design</a:t>
            </a:r>
            <a:endParaRPr lang="en-US" sz="2025" dirty="0"/>
          </a:p>
        </p:txBody>
      </p:sp>
      <p:pic>
        <p:nvPicPr>
          <p:cNvPr id="31"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32" name="Text 29"/>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942430"/>
            <a:ext cx="264033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UNDER THE HOOD</a:t>
            </a:r>
            <a:endParaRPr lang="en-US" sz="1500" dirty="0"/>
          </a:p>
        </p:txBody>
      </p:sp>
      <p:sp>
        <p:nvSpPr>
          <p:cNvPr id="3" name="Text 1"/>
          <p:cNvSpPr/>
          <p:nvPr/>
        </p:nvSpPr>
        <p:spPr>
          <a:xfrm>
            <a:off x="990600" y="2347243"/>
            <a:ext cx="17937480" cy="723900"/>
          </a:xfrm>
          <a:prstGeom prst="rect">
            <a:avLst/>
          </a:prstGeom>
          <a:noFill/>
          <a:ln/>
        </p:spPr>
        <p:txBody>
          <a:bodyPr wrap="square" lIns="25400" tIns="25400" rIns="25400" bIns="25400" rtlCol="0" anchor="t">
            <a:normAutofit/>
          </a:bodyPr>
          <a:lstStyle/>
          <a:p>
            <a:pPr algn="l" indent="0" marL="0">
              <a:lnSpc>
                <a:spcPct val="78261"/>
              </a:lnSpc>
              <a:buNone/>
            </a:pPr>
            <a:r>
              <a:rPr lang="en-US" sz="6000" b="1" dirty="0">
                <a:solidFill>
                  <a:srgbClr val="FFFFFF"/>
                </a:solidFill>
                <a:latin typeface="Arial" pitchFamily="34" charset="0"/>
                <a:ea typeface="Arial" pitchFamily="34" charset="-122"/>
                <a:cs typeface="Arial" pitchFamily="34" charset="-120"/>
              </a:rPr>
              <a:t>TWO GUARDS, IN THE RIGHT ORDER</a:t>
            </a:r>
            <a:endParaRPr lang="en-US" sz="6000" dirty="0"/>
          </a:p>
        </p:txBody>
      </p:sp>
      <p:sp>
        <p:nvSpPr>
          <p:cNvPr id="4" name="Shape 2"/>
          <p:cNvSpPr/>
          <p:nvPr/>
        </p:nvSpPr>
        <p:spPr>
          <a:xfrm>
            <a:off x="990600" y="3356893"/>
            <a:ext cx="16306800" cy="3668018"/>
          </a:xfrm>
          <a:prstGeom prst="roundRect">
            <a:avLst>
              <a:gd name="adj" fmla="val 2077"/>
            </a:avLst>
          </a:prstGeom>
          <a:solidFill>
            <a:srgbClr val="0B0B0B"/>
          </a:solidFill>
          <a:ln w="9525">
            <a:solidFill>
              <a:srgbClr val="FFFFFF">
                <a:alpha val="16000"/>
              </a:srgbClr>
            </a:solidFill>
            <a:prstDash val="solid"/>
          </a:ln>
        </p:spPr>
      </p:sp>
      <p:sp>
        <p:nvSpPr>
          <p:cNvPr id="5" name="Shape 3"/>
          <p:cNvSpPr/>
          <p:nvPr/>
        </p:nvSpPr>
        <p:spPr>
          <a:xfrm>
            <a:off x="1000125" y="3823618"/>
            <a:ext cx="16287750" cy="9525"/>
          </a:xfrm>
          <a:prstGeom prst="rect">
            <a:avLst/>
          </a:prstGeom>
          <a:solidFill>
            <a:srgbClr val="FFFFFF">
              <a:alpha val="12000"/>
            </a:srgbClr>
          </a:solidFill>
          <a:ln/>
        </p:spPr>
      </p:sp>
      <p:sp>
        <p:nvSpPr>
          <p:cNvPr id="6" name="Shape 4"/>
          <p:cNvSpPr/>
          <p:nvPr/>
        </p:nvSpPr>
        <p:spPr>
          <a:xfrm>
            <a:off x="1190625" y="3542630"/>
            <a:ext cx="104775" cy="104775"/>
          </a:xfrm>
          <a:prstGeom prst="ellipse">
            <a:avLst/>
          </a:prstGeom>
          <a:solidFill>
            <a:srgbClr val="FD7EF5"/>
          </a:solidFill>
          <a:ln/>
        </p:spPr>
      </p:sp>
      <p:sp>
        <p:nvSpPr>
          <p:cNvPr id="7" name="Shape 5"/>
          <p:cNvSpPr/>
          <p:nvPr/>
        </p:nvSpPr>
        <p:spPr>
          <a:xfrm>
            <a:off x="1381125" y="3542630"/>
            <a:ext cx="104775" cy="104775"/>
          </a:xfrm>
          <a:prstGeom prst="ellipse">
            <a:avLst/>
          </a:prstGeom>
          <a:solidFill>
            <a:srgbClr val="36CDFF"/>
          </a:solidFill>
          <a:ln/>
        </p:spPr>
      </p:sp>
      <p:sp>
        <p:nvSpPr>
          <p:cNvPr id="8" name="Shape 6"/>
          <p:cNvSpPr/>
          <p:nvPr/>
        </p:nvSpPr>
        <p:spPr>
          <a:xfrm>
            <a:off x="1571625" y="3542630"/>
            <a:ext cx="104775" cy="104775"/>
          </a:xfrm>
          <a:prstGeom prst="ellipse">
            <a:avLst/>
          </a:prstGeom>
          <a:solidFill>
            <a:srgbClr val="969696"/>
          </a:solidFill>
          <a:ln/>
        </p:spPr>
      </p:sp>
      <p:sp>
        <p:nvSpPr>
          <p:cNvPr id="9" name="Text 7"/>
          <p:cNvSpPr/>
          <p:nvPr/>
        </p:nvSpPr>
        <p:spPr>
          <a:xfrm>
            <a:off x="1876425" y="3499768"/>
            <a:ext cx="1885950"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halcyon/artifacts.py</a:t>
            </a:r>
            <a:endParaRPr lang="en-US" sz="1125" dirty="0"/>
          </a:p>
        </p:txBody>
      </p:sp>
      <p:sp>
        <p:nvSpPr>
          <p:cNvPr id="10" name="Text 8"/>
          <p:cNvSpPr/>
          <p:nvPr/>
        </p:nvSpPr>
        <p:spPr>
          <a:xfrm>
            <a:off x="1285875" y="4080793"/>
            <a:ext cx="16204883" cy="2725043"/>
          </a:xfrm>
          <a:prstGeom prst="rect">
            <a:avLst/>
          </a:prstGeom>
          <a:noFill/>
          <a:ln/>
        </p:spPr>
        <p:txBody>
          <a:bodyPr wrap="square" lIns="25400" tIns="25400" rIns="25400" bIns="25400" rtlCol="0" anchor="t">
            <a:normAutofit/>
          </a:bodyPr>
          <a:lstStyle/>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def load_artifact(path, settings):</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if settings.sec_artifact_verification:                  </a:t>
            </a:r>
            <a:endParaRPr lang="en-US" sz="1425" dirty="0"/>
          </a:p>
          <a:p>
            <a:pPr algn="l" indent="0" marL="0">
              <a:lnSpc>
                <a:spcPct val="145814"/>
              </a:lnSpc>
              <a:buNone/>
            </a:pPr>
            <a:r>
              <a:rPr lang="en-US" sz="1425" dirty="0">
                <a:solidFill>
                  <a:srgbClr val="36CDFF"/>
                </a:solidFill>
                <a:latin typeface="Courier New" pitchFamily="34" charset="0"/>
                <a:ea typeface="Courier New" pitchFamily="34" charset="-122"/>
                <a:cs typeface="Courier New" pitchFamily="34" charset="-120"/>
              </a:rPr>
              <a:t># SECURE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if Path(path).suffix != ".safetensors":</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raise ArtifactError("refused: only .safetensors permitted")</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if sha256_file(path) not in ALLOWED_HASHES:</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raise ArtifactError("refused: not in pinned allowlist")</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return Path(path).read_bytes()                       </a:t>
            </a:r>
            <a:endParaRPr lang="en-US" sz="1425" dirty="0"/>
          </a:p>
          <a:p>
            <a:pPr algn="l" indent="0" marL="0">
              <a:lnSpc>
                <a:spcPct val="145814"/>
              </a:lnSpc>
              <a:buNone/>
            </a:pPr>
            <a:r>
              <a:rPr lang="en-US" sz="1425" dirty="0">
                <a:solidFill>
                  <a:srgbClr val="36CDFF"/>
                </a:solidFill>
                <a:latin typeface="Courier New" pitchFamily="34" charset="0"/>
                <a:ea typeface="Courier New" pitchFamily="34" charset="-122"/>
                <a:cs typeface="Courier New" pitchFamily="34" charset="-120"/>
              </a:rPr>
              <a:t># never unpickles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with open(path, "rb") as f:                             </a:t>
            </a:r>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 VULNERABLE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return pickle.load(f)                               </a:t>
            </a:r>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 -&gt; RCE</a:t>
            </a:r>
            <a:endParaRPr lang="en-US" sz="1425" dirty="0"/>
          </a:p>
        </p:txBody>
      </p:sp>
      <p:sp>
        <p:nvSpPr>
          <p:cNvPr id="11" name="Text 9"/>
          <p:cNvSpPr/>
          <p:nvPr/>
        </p:nvSpPr>
        <p:spPr>
          <a:xfrm>
            <a:off x="990600" y="7348761"/>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Format allowlist first, then hash pinning. The secure branch never calls pickle at all — not a safer unpickle, </a:t>
            </a:r>
            <a:pPr algn="l" indent="0" marL="0">
              <a:lnSpc>
                <a:spcPct val="125522"/>
              </a:lnSpc>
              <a:buNone/>
            </a:pPr>
            <a:r>
              <a:rPr lang="en-US" sz="2175" b="1" dirty="0">
                <a:solidFill>
                  <a:srgbClr val="36CDFF"/>
                </a:solidFill>
                <a:latin typeface="Arial" pitchFamily="34" charset="0"/>
                <a:ea typeface="Arial" pitchFamily="34" charset="-122"/>
                <a:cs typeface="Arial" pitchFamily="34" charset="-120"/>
              </a:rPr>
              <a:t>no unpickle.</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42255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IMPORTANT SCOPING</a:t>
            </a:r>
            <a:endParaRPr lang="en-US" sz="1500" dirty="0"/>
          </a:p>
        </p:txBody>
      </p:sp>
      <p:sp>
        <p:nvSpPr>
          <p:cNvPr id="3" name="Text 1"/>
          <p:cNvSpPr/>
          <p:nvPr/>
        </p:nvSpPr>
        <p:spPr>
          <a:xfrm>
            <a:off x="990600" y="2827362"/>
            <a:ext cx="17937480" cy="981075"/>
          </a:xfrm>
          <a:prstGeom prst="rect">
            <a:avLst/>
          </a:prstGeom>
          <a:noFill/>
          <a:ln/>
        </p:spPr>
        <p:txBody>
          <a:bodyPr wrap="square" lIns="25400" tIns="25400" rIns="25400" bIns="25400" rtlCol="0" anchor="t">
            <a:normAutofit/>
          </a:bodyPr>
          <a:lstStyle/>
          <a:p>
            <a:pPr algn="l" indent="0" marL="0">
              <a:lnSpc>
                <a:spcPct val="78261"/>
              </a:lnSpc>
              <a:buNone/>
            </a:pPr>
            <a:r>
              <a:rPr lang="en-US" sz="8250" b="1" dirty="0">
                <a:solidFill>
                  <a:srgbClr val="FFFFFF"/>
                </a:solidFill>
                <a:latin typeface="Arial" pitchFamily="34" charset="0"/>
                <a:ea typeface="Arial" pitchFamily="34" charset="-122"/>
                <a:cs typeface="Arial" pitchFamily="34" charset="-120"/>
              </a:rPr>
              <a:t>NOBODY RUNS THE RCE</a:t>
            </a:r>
            <a:endParaRPr lang="en-US" sz="8250" dirty="0"/>
          </a:p>
        </p:txBody>
      </p:sp>
      <p:sp>
        <p:nvSpPr>
          <p:cNvPr id="4" name="Text 2"/>
          <p:cNvSpPr/>
          <p:nvPr/>
        </p:nvSpPr>
        <p:spPr>
          <a:xfrm>
            <a:off x="990600" y="4151337"/>
            <a:ext cx="17811750" cy="502667"/>
          </a:xfrm>
          <a:prstGeom prst="rect">
            <a:avLst/>
          </a:prstGeom>
          <a:noFill/>
          <a:ln/>
        </p:spPr>
        <p:txBody>
          <a:bodyPr wrap="square" lIns="25400" tIns="25400" rIns="25400" bIns="25400" rtlCol="0" anchor="t">
            <a:normAutofit/>
          </a:bodyPr>
          <a:lstStyle/>
          <a:p>
            <a:pPr algn="l" indent="0" marL="0">
              <a:lnSpc>
                <a:spcPct val="123795"/>
              </a:lnSpc>
              <a:buNone/>
            </a:pPr>
            <a:r>
              <a:rPr lang="en-US" sz="2550" dirty="0">
                <a:solidFill>
                  <a:srgbClr val="FFFFFF"/>
                </a:solidFill>
                <a:latin typeface="Courier New" pitchFamily="34" charset="0"/>
                <a:ea typeface="Courier New" pitchFamily="34" charset="-122"/>
                <a:cs typeface="Courier New" pitchFamily="34" charset="-120"/>
              </a:rPr>
              <a:t>SEC_ARTIFACT_VERIFICATION </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gates only </a:t>
            </a:r>
            <a:pPr algn="l" indent="0" marL="0">
              <a:lnSpc>
                <a:spcPct val="123795"/>
              </a:lnSpc>
              <a:buNone/>
            </a:pPr>
            <a:r>
              <a:rPr lang="en-US" sz="2550" dirty="0">
                <a:solidFill>
                  <a:srgbClr val="FFFFFF"/>
                </a:solidFill>
                <a:latin typeface="Courier New" pitchFamily="34" charset="0"/>
                <a:ea typeface="Courier New" pitchFamily="34" charset="-122"/>
                <a:cs typeface="Courier New" pitchFamily="34" charset="-120"/>
              </a:rPr>
              <a:t>load_artifact</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 which is used only in the </a:t>
            </a:r>
            <a:pPr algn="l" indent="0" marL="0">
              <a:lnSpc>
                <a:spcPct val="123795"/>
              </a:lnSpc>
              <a:buNone/>
            </a:pPr>
            <a:r>
              <a:rPr lang="en-US" sz="2550" b="1" dirty="0">
                <a:solidFill>
                  <a:srgbClr val="FFFFFF"/>
                </a:solidFill>
                <a:latin typeface="Arial" pitchFamily="34" charset="0"/>
                <a:ea typeface="Arial" pitchFamily="34" charset="-122"/>
                <a:cs typeface="Arial" pitchFamily="34" charset="-120"/>
              </a:rPr>
              <a:t>instructor demo.</a:t>
            </a:r>
            <a:endParaRPr lang="en-US" sz="2550" dirty="0"/>
          </a:p>
        </p:txBody>
      </p:sp>
      <p:sp>
        <p:nvSpPr>
          <p:cNvPr id="5" name="Text 3"/>
          <p:cNvSpPr/>
          <p:nvPr/>
        </p:nvSpPr>
        <p:spPr>
          <a:xfrm>
            <a:off x="990600" y="4901654"/>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Participants prove the finding </a:t>
            </a:r>
            <a:pPr algn="l" indent="0" marL="0">
              <a:lnSpc>
                <a:spcPct val="125522"/>
              </a:lnSpc>
              <a:buNone/>
            </a:pPr>
            <a:r>
              <a:rPr lang="en-US" sz="2175" b="1" dirty="0">
                <a:solidFill>
                  <a:srgbClr val="36CDFF"/>
                </a:solidFill>
                <a:latin typeface="Arial" pitchFamily="34" charset="0"/>
                <a:ea typeface="Arial" pitchFamily="34" charset="-122"/>
                <a:cs typeface="Arial" pitchFamily="34" charset="-120"/>
              </a:rPr>
              <a:t>statically. </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They never load the file.</a:t>
            </a:r>
            <a:endParaRPr lang="en-US" sz="2175" dirty="0"/>
          </a:p>
        </p:txBody>
      </p:sp>
      <p:sp>
        <p:nvSpPr>
          <p:cNvPr id="6" name="Shape 4"/>
          <p:cNvSpPr/>
          <p:nvPr/>
        </p:nvSpPr>
        <p:spPr>
          <a:xfrm>
            <a:off x="990600" y="7264301"/>
            <a:ext cx="16192500" cy="9525"/>
          </a:xfrm>
          <a:prstGeom prst="rect">
            <a:avLst/>
          </a:prstGeom>
          <a:solidFill>
            <a:srgbClr val="FD7EF5">
              <a:alpha val="45000"/>
            </a:srgbClr>
          </a:solidFill>
          <a:ln/>
        </p:spPr>
      </p:sp>
      <p:sp>
        <p:nvSpPr>
          <p:cNvPr id="7" name="Shape 5"/>
          <p:cNvSpPr/>
          <p:nvPr/>
        </p:nvSpPr>
        <p:spPr>
          <a:xfrm>
            <a:off x="990600" y="5649813"/>
            <a:ext cx="16192500" cy="9525"/>
          </a:xfrm>
          <a:prstGeom prst="rect">
            <a:avLst/>
          </a:prstGeom>
          <a:solidFill>
            <a:srgbClr val="FD7EF5">
              <a:alpha val="45000"/>
            </a:srgbClr>
          </a:solidFill>
          <a:ln/>
        </p:spPr>
      </p:sp>
      <p:sp>
        <p:nvSpPr>
          <p:cNvPr id="8" name="Shape 6"/>
          <p:cNvSpPr/>
          <p:nvPr/>
        </p:nvSpPr>
        <p:spPr>
          <a:xfrm>
            <a:off x="990600" y="5649813"/>
            <a:ext cx="38100" cy="1624013"/>
          </a:xfrm>
          <a:prstGeom prst="rect">
            <a:avLst/>
          </a:prstGeom>
          <a:solidFill>
            <a:srgbClr val="FD7EF5"/>
          </a:solidFill>
          <a:ln/>
        </p:spPr>
      </p:sp>
      <p:sp>
        <p:nvSpPr>
          <p:cNvPr id="9" name="Shape 7"/>
          <p:cNvSpPr/>
          <p:nvPr/>
        </p:nvSpPr>
        <p:spPr>
          <a:xfrm>
            <a:off x="17173575" y="5649813"/>
            <a:ext cx="9525" cy="1624013"/>
          </a:xfrm>
          <a:prstGeom prst="rect">
            <a:avLst/>
          </a:prstGeom>
          <a:solidFill>
            <a:srgbClr val="FD7EF5">
              <a:alpha val="45000"/>
            </a:srgbClr>
          </a:solidFill>
          <a:ln/>
        </p:spPr>
      </p:sp>
      <p:sp>
        <p:nvSpPr>
          <p:cNvPr id="10" name="Text 8"/>
          <p:cNvSpPr/>
          <p:nvPr/>
        </p:nvSpPr>
        <p:spPr>
          <a:xfrm>
            <a:off x="1371600" y="5926038"/>
            <a:ext cx="17004983"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FD7EF5"/>
                </a:solidFill>
                <a:latin typeface="Courier New" pitchFamily="34" charset="0"/>
                <a:ea typeface="Courier New" pitchFamily="34" charset="-122"/>
                <a:cs typeface="Courier New" pitchFamily="34" charset="-120"/>
              </a:rPr>
              <a:t>LAB HYGIENE</a:t>
            </a:r>
            <a:endParaRPr lang="en-US" sz="1200" dirty="0"/>
          </a:p>
        </p:txBody>
      </p:sp>
      <p:sp>
        <p:nvSpPr>
          <p:cNvPr id="11" name="Text 9"/>
          <p:cNvSpPr/>
          <p:nvPr/>
        </p:nvSpPr>
        <p:spPr>
          <a:xfrm>
            <a:off x="1371600" y="6226076"/>
            <a:ext cx="15922847" cy="809625"/>
          </a:xfrm>
          <a:prstGeom prst="rect">
            <a:avLst/>
          </a:prstGeom>
          <a:noFill/>
          <a:ln/>
        </p:spPr>
        <p:txBody>
          <a:bodyPr wrap="square" lIns="25400" tIns="25400" rIns="25400" bIns="25400" rtlCol="0" anchor="t">
            <a:normAutofit/>
          </a:bodyPr>
          <a:lstStyle/>
          <a:p>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You do not want 22 people executing RCE on shared infrastructure. If you run the live demo, use a throwaway container — never your host, never conference wifi.</a:t>
            </a:r>
            <a:endParaRPr lang="en-US" sz="202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321942"/>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SCANNER</a:t>
            </a:r>
            <a:endParaRPr lang="en-US" sz="1500" dirty="0"/>
          </a:p>
        </p:txBody>
      </p:sp>
      <p:sp>
        <p:nvSpPr>
          <p:cNvPr id="3" name="Text 1"/>
          <p:cNvSpPr/>
          <p:nvPr/>
        </p:nvSpPr>
        <p:spPr>
          <a:xfrm>
            <a:off x="990600" y="2726754"/>
            <a:ext cx="17937480" cy="689595"/>
          </a:xfrm>
          <a:prstGeom prst="rect">
            <a:avLst/>
          </a:prstGeom>
          <a:noFill/>
          <a:ln/>
        </p:spPr>
        <p:txBody>
          <a:bodyPr wrap="square" lIns="25400" tIns="25400" rIns="25400" bIns="25400" rtlCol="0" anchor="t">
            <a:normAutofit/>
          </a:bodyPr>
          <a:lstStyle/>
          <a:p>
            <a:pPr algn="l" indent="0" marL="0">
              <a:lnSpc>
                <a:spcPct val="78171"/>
              </a:lnSpc>
              <a:buNone/>
            </a:pPr>
            <a:r>
              <a:rPr lang="en-US" sz="5700" b="1" dirty="0">
                <a:solidFill>
                  <a:srgbClr val="FFFFFF"/>
                </a:solidFill>
                <a:latin typeface="Arial" pitchFamily="34" charset="0"/>
                <a:ea typeface="Arial" pitchFamily="34" charset="-122"/>
                <a:cs typeface="Arial" pitchFamily="34" charset="-120"/>
              </a:rPr>
              <a:t>READ THE BYTECODE. NEVER EXECUTE IT.</a:t>
            </a:r>
            <a:endParaRPr lang="en-US" sz="5700" dirty="0"/>
          </a:p>
        </p:txBody>
      </p:sp>
      <p:sp>
        <p:nvSpPr>
          <p:cNvPr id="4" name="Text 2"/>
          <p:cNvSpPr/>
          <p:nvPr/>
        </p:nvSpPr>
        <p:spPr>
          <a:xfrm>
            <a:off x="990600" y="3759250"/>
            <a:ext cx="17811750" cy="448121"/>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Courier New" pitchFamily="34" charset="0"/>
                <a:ea typeface="Courier New" pitchFamily="34" charset="-122"/>
                <a:cs typeface="Courier New" pitchFamily="34" charset="-120"/>
              </a:rPr>
              <a:t>halcyon.scan_artifact </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walks the pickle with </a:t>
            </a:r>
            <a:pPr algn="l" indent="0" marL="0">
              <a:lnSpc>
                <a:spcPct val="125522"/>
              </a:lnSpc>
              <a:buNone/>
            </a:pPr>
            <a:r>
              <a:rPr lang="en-US" sz="2175" dirty="0">
                <a:solidFill>
                  <a:srgbClr val="C8C8C8"/>
                </a:solidFill>
                <a:latin typeface="Courier New" pitchFamily="34" charset="0"/>
                <a:ea typeface="Courier New" pitchFamily="34" charset="-122"/>
                <a:cs typeface="Courier New" pitchFamily="34" charset="-120"/>
              </a:rPr>
              <a:t>pickletools.genops </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it never unpickles.</a:t>
            </a:r>
            <a:endParaRPr lang="en-US" sz="2175" dirty="0"/>
          </a:p>
        </p:txBody>
      </p:sp>
      <p:sp>
        <p:nvSpPr>
          <p:cNvPr id="5" name="Shape 3"/>
          <p:cNvSpPr/>
          <p:nvPr/>
        </p:nvSpPr>
        <p:spPr>
          <a:xfrm>
            <a:off x="990600" y="4493121"/>
            <a:ext cx="16306800" cy="19050"/>
          </a:xfrm>
          <a:prstGeom prst="rect">
            <a:avLst/>
          </a:prstGeom>
          <a:solidFill>
            <a:srgbClr val="FFFFFF">
              <a:alpha val="20000"/>
            </a:srgbClr>
          </a:solidFill>
          <a:ln/>
        </p:spPr>
      </p:sp>
      <p:sp>
        <p:nvSpPr>
          <p:cNvPr id="6" name="Text 4"/>
          <p:cNvSpPr/>
          <p:nvPr/>
        </p:nvSpPr>
        <p:spPr>
          <a:xfrm>
            <a:off x="1200150" y="4683621"/>
            <a:ext cx="9378543"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FD7EF5"/>
                </a:solidFill>
                <a:latin typeface="Courier New" pitchFamily="34" charset="0"/>
                <a:ea typeface="Courier New" pitchFamily="34" charset="-122"/>
                <a:cs typeface="Courier New" pitchFamily="34" charset="-120"/>
              </a:rPr>
              <a:t>SIGNAL</a:t>
            </a:r>
            <a:endParaRPr lang="en-US" sz="1350" dirty="0"/>
          </a:p>
        </p:txBody>
      </p:sp>
      <p:sp>
        <p:nvSpPr>
          <p:cNvPr id="7" name="Text 5"/>
          <p:cNvSpPr/>
          <p:nvPr/>
        </p:nvSpPr>
        <p:spPr>
          <a:xfrm>
            <a:off x="10712425" y="4683621"/>
            <a:ext cx="6579184"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MEANING</a:t>
            </a:r>
            <a:endParaRPr lang="en-US" sz="1350" dirty="0"/>
          </a:p>
        </p:txBody>
      </p:sp>
      <p:sp>
        <p:nvSpPr>
          <p:cNvPr id="8" name="Shape 6"/>
          <p:cNvSpPr/>
          <p:nvPr/>
        </p:nvSpPr>
        <p:spPr>
          <a:xfrm>
            <a:off x="990600" y="5083671"/>
            <a:ext cx="9512275" cy="9525"/>
          </a:xfrm>
          <a:prstGeom prst="rect">
            <a:avLst/>
          </a:prstGeom>
          <a:solidFill>
            <a:srgbClr val="FFFFFF">
              <a:alpha val="13000"/>
            </a:srgbClr>
          </a:solidFill>
          <a:ln/>
        </p:spPr>
      </p:sp>
      <p:sp>
        <p:nvSpPr>
          <p:cNvPr id="9" name="Text 7"/>
          <p:cNvSpPr/>
          <p:nvPr/>
        </p:nvSpPr>
        <p:spPr>
          <a:xfrm>
            <a:off x="1200150" y="5359896"/>
            <a:ext cx="9378543"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Courier New" pitchFamily="34" charset="0"/>
                <a:ea typeface="Courier New" pitchFamily="34" charset="-122"/>
                <a:cs typeface="Courier New" pitchFamily="34" charset="-120"/>
              </a:rPr>
              <a:t>GLOBAL </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 </a:t>
            </a:r>
            <a:pPr algn="l" indent="0" marL="0">
              <a:lnSpc>
                <a:spcPct val="116379"/>
              </a:lnSpc>
              <a:buNone/>
            </a:pPr>
            <a:r>
              <a:rPr lang="en-US" sz="1875" b="1" dirty="0">
                <a:solidFill>
                  <a:srgbClr val="FFFFFF"/>
                </a:solidFill>
                <a:latin typeface="Courier New" pitchFamily="34" charset="0"/>
                <a:ea typeface="Courier New" pitchFamily="34" charset="-122"/>
                <a:cs typeface="Courier New" pitchFamily="34" charset="-120"/>
              </a:rPr>
              <a:t>STACK_GLOBAL </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 </a:t>
            </a:r>
            <a:pPr algn="l" indent="0" marL="0">
              <a:lnSpc>
                <a:spcPct val="116379"/>
              </a:lnSpc>
              <a:buNone/>
            </a:pPr>
            <a:r>
              <a:rPr lang="en-US" sz="1875" b="1" dirty="0">
                <a:solidFill>
                  <a:srgbClr val="FFFFFF"/>
                </a:solidFill>
                <a:latin typeface="Courier New" pitchFamily="34" charset="0"/>
                <a:ea typeface="Courier New" pitchFamily="34" charset="-122"/>
                <a:cs typeface="Courier New" pitchFamily="34" charset="-120"/>
              </a:rPr>
              <a:t>os</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 </a:t>
            </a:r>
            <a:pPr algn="l" indent="0" marL="0">
              <a:lnSpc>
                <a:spcPct val="116379"/>
              </a:lnSpc>
              <a:buNone/>
            </a:pPr>
            <a:r>
              <a:rPr lang="en-US" sz="1875" b="1" dirty="0">
                <a:solidFill>
                  <a:srgbClr val="FFFFFF"/>
                </a:solidFill>
                <a:latin typeface="Courier New" pitchFamily="34" charset="0"/>
                <a:ea typeface="Courier New" pitchFamily="34" charset="-122"/>
                <a:cs typeface="Courier New" pitchFamily="34" charset="-120"/>
              </a:rPr>
              <a:t>subprocess</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 </a:t>
            </a:r>
            <a:pPr algn="l" indent="0" marL="0">
              <a:lnSpc>
                <a:spcPct val="116379"/>
              </a:lnSpc>
              <a:buNone/>
            </a:pPr>
            <a:r>
              <a:rPr lang="en-US" sz="1875" b="1" dirty="0">
                <a:solidFill>
                  <a:srgbClr val="FFFFFF"/>
                </a:solidFill>
                <a:latin typeface="Courier New" pitchFamily="34" charset="0"/>
                <a:ea typeface="Courier New" pitchFamily="34" charset="-122"/>
                <a:cs typeface="Courier New" pitchFamily="34" charset="-120"/>
              </a:rPr>
              <a:t>sys</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a:t>
            </a:r>
            <a:endParaRPr lang="en-US" sz="1875" dirty="0"/>
          </a:p>
        </p:txBody>
      </p:sp>
      <p:sp>
        <p:nvSpPr>
          <p:cNvPr id="10" name="Shape 8"/>
          <p:cNvSpPr/>
          <p:nvPr/>
        </p:nvSpPr>
        <p:spPr>
          <a:xfrm>
            <a:off x="10502875" y="5083671"/>
            <a:ext cx="6794450" cy="9525"/>
          </a:xfrm>
          <a:prstGeom prst="rect">
            <a:avLst/>
          </a:prstGeom>
          <a:solidFill>
            <a:srgbClr val="FFFFFF">
              <a:alpha val="13000"/>
            </a:srgbClr>
          </a:solidFill>
          <a:ln/>
        </p:spPr>
      </p:sp>
      <p:sp>
        <p:nvSpPr>
          <p:cNvPr id="11" name="Text 9"/>
          <p:cNvSpPr/>
          <p:nvPr/>
        </p:nvSpPr>
        <p:spPr>
          <a:xfrm>
            <a:off x="10712425" y="5359896"/>
            <a:ext cx="6579184"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importing something dangerous</a:t>
            </a:r>
            <a:endParaRPr lang="en-US" sz="1875" dirty="0"/>
          </a:p>
        </p:txBody>
      </p:sp>
      <p:sp>
        <p:nvSpPr>
          <p:cNvPr id="12" name="Shape 10"/>
          <p:cNvSpPr/>
          <p:nvPr/>
        </p:nvSpPr>
        <p:spPr>
          <a:xfrm>
            <a:off x="990600" y="5962352"/>
            <a:ext cx="9512275" cy="9525"/>
          </a:xfrm>
          <a:prstGeom prst="rect">
            <a:avLst/>
          </a:prstGeom>
          <a:solidFill>
            <a:srgbClr val="FFFFFF">
              <a:alpha val="13000"/>
            </a:srgbClr>
          </a:solidFill>
          <a:ln/>
        </p:spPr>
      </p:sp>
      <p:sp>
        <p:nvSpPr>
          <p:cNvPr id="13" name="Text 11"/>
          <p:cNvSpPr/>
          <p:nvPr/>
        </p:nvSpPr>
        <p:spPr>
          <a:xfrm>
            <a:off x="1200150" y="6238577"/>
            <a:ext cx="9378543"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Courier New" pitchFamily="34" charset="0"/>
                <a:ea typeface="Courier New" pitchFamily="34" charset="-122"/>
                <a:cs typeface="Courier New" pitchFamily="34" charset="-120"/>
              </a:rPr>
              <a:t>REDUCE</a:t>
            </a:r>
            <a:endParaRPr lang="en-US" sz="1875" dirty="0"/>
          </a:p>
        </p:txBody>
      </p:sp>
      <p:sp>
        <p:nvSpPr>
          <p:cNvPr id="14" name="Shape 12"/>
          <p:cNvSpPr/>
          <p:nvPr/>
        </p:nvSpPr>
        <p:spPr>
          <a:xfrm>
            <a:off x="10502875" y="5962352"/>
            <a:ext cx="6794450" cy="9525"/>
          </a:xfrm>
          <a:prstGeom prst="rect">
            <a:avLst/>
          </a:prstGeom>
          <a:solidFill>
            <a:srgbClr val="FFFFFF">
              <a:alpha val="13000"/>
            </a:srgbClr>
          </a:solidFill>
          <a:ln/>
        </p:spPr>
      </p:sp>
      <p:sp>
        <p:nvSpPr>
          <p:cNvPr id="15" name="Text 13"/>
          <p:cNvSpPr/>
          <p:nvPr/>
        </p:nvSpPr>
        <p:spPr>
          <a:xfrm>
            <a:off x="10712425" y="6238577"/>
            <a:ext cx="6579184" cy="373856"/>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the opcode that actually </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calls</a:t>
            </a:r>
            <a:endParaRPr lang="en-US" sz="1875" dirty="0"/>
          </a:p>
        </p:txBody>
      </p:sp>
      <p:sp>
        <p:nvSpPr>
          <p:cNvPr id="16" name="Text 14"/>
          <p:cNvSpPr/>
          <p:nvPr/>
        </p:nvSpPr>
        <p:spPr>
          <a:xfrm>
            <a:off x="990600" y="7126784"/>
            <a:ext cx="17811750" cy="285750"/>
          </a:xfrm>
          <a:prstGeom prst="rect">
            <a:avLst/>
          </a:prstGeom>
          <a:noFill/>
          <a:ln/>
        </p:spPr>
        <p:txBody>
          <a:bodyPr wrap="square" lIns="25400" tIns="25400" rIns="25400" bIns="25400" rtlCol="0" anchor="t">
            <a:normAutofit/>
          </a:bodyPr>
          <a:lstStyle/>
          <a:p>
            <a:pPr algn="l" indent="0" marL="0">
              <a:buNone/>
            </a:pPr>
            <a:r>
              <a:rPr lang="en-US" sz="1800" dirty="0">
                <a:solidFill>
                  <a:srgbClr val="C8C8C8"/>
                </a:solidFill>
                <a:latin typeface="Arial" pitchFamily="34" charset="0"/>
                <a:ea typeface="Arial" pitchFamily="34" charset="-122"/>
                <a:cs typeface="Arial" pitchFamily="34" charset="-120"/>
              </a:rPr>
              <a:t>Parse vs execute — the same distinction that makes safetensors safe, and a transferable principle for any deserialization audit.</a:t>
            </a:r>
            <a:endParaRPr lang="en-US" sz="1800" dirty="0"/>
          </a:p>
        </p:txBody>
      </p:sp>
      <p:pic>
        <p:nvPicPr>
          <p:cNvPr id="17"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8" name="Text 15"/>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172370"/>
            <a:ext cx="433768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PROJECT THE REAL OUTPUT</a:t>
            </a:r>
            <a:endParaRPr lang="en-US" sz="1500" dirty="0"/>
          </a:p>
        </p:txBody>
      </p:sp>
      <p:sp>
        <p:nvSpPr>
          <p:cNvPr id="3" name="Text 1"/>
          <p:cNvSpPr/>
          <p:nvPr/>
        </p:nvSpPr>
        <p:spPr>
          <a:xfrm>
            <a:off x="990600" y="2577182"/>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RUN THE SCANNER</a:t>
            </a:r>
            <a:endParaRPr lang="en-US" sz="7200" dirty="0"/>
          </a:p>
        </p:txBody>
      </p:sp>
      <p:sp>
        <p:nvSpPr>
          <p:cNvPr id="4" name="Shape 2"/>
          <p:cNvSpPr/>
          <p:nvPr/>
        </p:nvSpPr>
        <p:spPr>
          <a:xfrm>
            <a:off x="990600" y="3723977"/>
            <a:ext cx="16306800" cy="3070920"/>
          </a:xfrm>
          <a:prstGeom prst="roundRect">
            <a:avLst>
              <a:gd name="adj" fmla="val 2481"/>
            </a:avLst>
          </a:prstGeom>
          <a:solidFill>
            <a:srgbClr val="0B0B0B"/>
          </a:solidFill>
          <a:ln w="9525">
            <a:solidFill>
              <a:srgbClr val="FFFFFF">
                <a:alpha val="16000"/>
              </a:srgbClr>
            </a:solidFill>
            <a:prstDash val="solid"/>
          </a:ln>
        </p:spPr>
      </p:sp>
      <p:sp>
        <p:nvSpPr>
          <p:cNvPr id="5" name="Shape 3"/>
          <p:cNvSpPr/>
          <p:nvPr/>
        </p:nvSpPr>
        <p:spPr>
          <a:xfrm>
            <a:off x="1000125" y="4190702"/>
            <a:ext cx="16287750" cy="9525"/>
          </a:xfrm>
          <a:prstGeom prst="rect">
            <a:avLst/>
          </a:prstGeom>
          <a:solidFill>
            <a:srgbClr val="FFFFFF">
              <a:alpha val="12000"/>
            </a:srgbClr>
          </a:solidFill>
          <a:ln/>
        </p:spPr>
      </p:sp>
      <p:sp>
        <p:nvSpPr>
          <p:cNvPr id="6" name="Shape 4"/>
          <p:cNvSpPr/>
          <p:nvPr/>
        </p:nvSpPr>
        <p:spPr>
          <a:xfrm>
            <a:off x="1190625" y="3909715"/>
            <a:ext cx="104775" cy="104775"/>
          </a:xfrm>
          <a:prstGeom prst="ellipse">
            <a:avLst/>
          </a:prstGeom>
          <a:solidFill>
            <a:srgbClr val="FD7EF5"/>
          </a:solidFill>
          <a:ln/>
        </p:spPr>
      </p:sp>
      <p:sp>
        <p:nvSpPr>
          <p:cNvPr id="7" name="Shape 5"/>
          <p:cNvSpPr/>
          <p:nvPr/>
        </p:nvSpPr>
        <p:spPr>
          <a:xfrm>
            <a:off x="1381125" y="3909715"/>
            <a:ext cx="104775" cy="104775"/>
          </a:xfrm>
          <a:prstGeom prst="ellipse">
            <a:avLst/>
          </a:prstGeom>
          <a:solidFill>
            <a:srgbClr val="36CDFF"/>
          </a:solidFill>
          <a:ln/>
        </p:spPr>
      </p:sp>
      <p:sp>
        <p:nvSpPr>
          <p:cNvPr id="8" name="Shape 6"/>
          <p:cNvSpPr/>
          <p:nvPr/>
        </p:nvSpPr>
        <p:spPr>
          <a:xfrm>
            <a:off x="1571625" y="3909715"/>
            <a:ext cx="104775" cy="104775"/>
          </a:xfrm>
          <a:prstGeom prst="ellipse">
            <a:avLst/>
          </a:prstGeom>
          <a:solidFill>
            <a:srgbClr val="969696"/>
          </a:solidFill>
          <a:ln/>
        </p:spPr>
      </p:sp>
      <p:sp>
        <p:nvSpPr>
          <p:cNvPr id="9" name="Text 7"/>
          <p:cNvSpPr/>
          <p:nvPr/>
        </p:nvSpPr>
        <p:spPr>
          <a:xfrm>
            <a:off x="1876425" y="3866852"/>
            <a:ext cx="762000"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terminal</a:t>
            </a:r>
            <a:endParaRPr lang="en-US" sz="1125" dirty="0"/>
          </a:p>
        </p:txBody>
      </p:sp>
      <p:sp>
        <p:nvSpPr>
          <p:cNvPr id="10" name="Text 8"/>
          <p:cNvSpPr/>
          <p:nvPr/>
        </p:nvSpPr>
        <p:spPr>
          <a:xfrm>
            <a:off x="1285875" y="4447877"/>
            <a:ext cx="16204883" cy="2127945"/>
          </a:xfrm>
          <a:prstGeom prst="rect">
            <a:avLst/>
          </a:prstGeom>
          <a:noFill/>
          <a:ln/>
        </p:spPr>
        <p:txBody>
          <a:bodyPr wrap="square" lIns="25400" tIns="25400" rIns="25400" bIns="25400" rtlCol="0" anchor="t">
            <a:normAutofit/>
          </a:bodyPr>
          <a:lstStyle/>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python -m halcyon.scan_artifact labs/m4/artifacts/*</a:t>
            </a:r>
            <a:endParaRPr lang="en-US" sz="1425" dirty="0"/>
          </a:p>
          <a:p>
            <a:pPr algn="l" indent="0" marL="0">
              <a:lnSpc>
                <a:spcPct val="145814"/>
              </a:lnSpc>
              <a:buNone/>
            </a:pP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community_model.pkl          sha256=22e1a204...5971b66   </a:t>
            </a:r>
            <a:endParaRPr lang="en-US" sz="1425" dirty="0"/>
          </a:p>
          <a:p>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MALICIOUS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a:t>
            </a:r>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 STACK_GLOBAL -&gt; os system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a:t>
            </a:r>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 REDUCE (callable invocation)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embedding_model.safetensors  sha256=...                  </a:t>
            </a:r>
            <a:pPr algn="l" indent="0" marL="0">
              <a:lnSpc>
                <a:spcPct val="145814"/>
              </a:lnSpc>
              <a:buNone/>
            </a:pPr>
            <a:r>
              <a:rPr lang="en-US" sz="1425" dirty="0">
                <a:solidFill>
                  <a:srgbClr val="36CDFF"/>
                </a:solidFill>
                <a:latin typeface="Courier New" pitchFamily="34" charset="0"/>
                <a:ea typeface="Courier New" pitchFamily="34" charset="-122"/>
                <a:cs typeface="Courier New" pitchFamily="34" charset="-120"/>
              </a:rPr>
              <a:t>clean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(not a valid pickle stream: ...)</a:t>
            </a:r>
            <a:endParaRPr lang="en-US" sz="1425" dirty="0"/>
          </a:p>
        </p:txBody>
      </p:sp>
      <p:sp>
        <p:nvSpPr>
          <p:cNvPr id="11" name="Text 9"/>
          <p:cNvSpPr/>
          <p:nvPr/>
        </p:nvSpPr>
        <p:spPr>
          <a:xfrm>
            <a:off x="990600" y="7118747"/>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The safetensors file is clean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and not even a parseable pickle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that is the teaching point, not a scanner failure.</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4356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STRUCTURAL SAFETY</a:t>
            </a:r>
            <a:endParaRPr lang="en-US" sz="1500" dirty="0"/>
          </a:p>
        </p:txBody>
      </p:sp>
      <p:sp>
        <p:nvSpPr>
          <p:cNvPr id="3" name="Text 1"/>
          <p:cNvSpPr/>
          <p:nvPr/>
        </p:nvSpPr>
        <p:spPr>
          <a:xfrm>
            <a:off x="990600" y="3048372"/>
            <a:ext cx="17937480" cy="929580"/>
          </a:xfrm>
          <a:prstGeom prst="rect">
            <a:avLst/>
          </a:prstGeom>
          <a:noFill/>
          <a:ln/>
        </p:spPr>
        <p:txBody>
          <a:bodyPr wrap="square" lIns="25400" tIns="25400" rIns="25400" bIns="25400" rtlCol="0" anchor="t">
            <a:normAutofit/>
          </a:bodyPr>
          <a:lstStyle/>
          <a:p>
            <a:pPr algn="l" indent="0" marL="0">
              <a:lnSpc>
                <a:spcPct val="78326"/>
              </a:lnSpc>
              <a:buNone/>
            </a:pPr>
            <a:r>
              <a:rPr lang="en-US" sz="7800" b="1" dirty="0">
                <a:solidFill>
                  <a:srgbClr val="FFFFFF"/>
                </a:solidFill>
                <a:latin typeface="Arial" pitchFamily="34" charset="0"/>
                <a:ea typeface="Arial" pitchFamily="34" charset="-122"/>
                <a:cs typeface="Arial" pitchFamily="34" charset="-120"/>
              </a:rPr>
              <a:t>WHY SAFETENSORS IS SAFE</a:t>
            </a:r>
            <a:endParaRPr lang="en-US" sz="7800" dirty="0"/>
          </a:p>
        </p:txBody>
      </p:sp>
      <p:sp>
        <p:nvSpPr>
          <p:cNvPr id="4" name="Text 2"/>
          <p:cNvSpPr/>
          <p:nvPr/>
        </p:nvSpPr>
        <p:spPr>
          <a:xfrm>
            <a:off x="990600" y="4320853"/>
            <a:ext cx="17811750" cy="502667"/>
          </a:xfrm>
          <a:prstGeom prst="rect">
            <a:avLst/>
          </a:prstGeom>
          <a:noFill/>
          <a:ln/>
        </p:spPr>
        <p:txBody>
          <a:bodyPr wrap="square" lIns="25400" tIns="25400" rIns="25400" bIns="25400" rtlCol="0" anchor="t">
            <a:normAutofit/>
          </a:bodyPr>
          <a:lstStyle/>
          <a:p>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A safetensors file is </a:t>
            </a:r>
            <a:pPr algn="l" indent="0" marL="0">
              <a:lnSpc>
                <a:spcPct val="123795"/>
              </a:lnSpc>
              <a:buNone/>
            </a:pPr>
            <a:r>
              <a:rPr lang="en-US" sz="2550" b="1" dirty="0">
                <a:solidFill>
                  <a:srgbClr val="36CDFF"/>
                </a:solidFill>
                <a:latin typeface="Arial" pitchFamily="34" charset="0"/>
                <a:ea typeface="Arial" pitchFamily="34" charset="-122"/>
                <a:cs typeface="Arial" pitchFamily="34" charset="-120"/>
              </a:rPr>
              <a:t>a JSON header of shapes and dtypes, plus raw tensor bytes.</a:t>
            </a:r>
            <a:endParaRPr lang="en-US" sz="2550" dirty="0"/>
          </a:p>
        </p:txBody>
      </p:sp>
      <p:sp>
        <p:nvSpPr>
          <p:cNvPr id="5" name="Text 3"/>
          <p:cNvSpPr/>
          <p:nvPr/>
        </p:nvSpPr>
        <p:spPr>
          <a:xfrm>
            <a:off x="990600" y="5071170"/>
            <a:ext cx="17811750" cy="438596"/>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No callable. No import. No code path. Loading it cannot execute anything. That is the entire reason the format exists.</a:t>
            </a:r>
            <a:endParaRPr lang="en-US" sz="2175" dirty="0"/>
          </a:p>
        </p:txBody>
      </p:sp>
      <p:sp>
        <p:nvSpPr>
          <p:cNvPr id="6" name="Shape 4"/>
          <p:cNvSpPr/>
          <p:nvPr/>
        </p:nvSpPr>
        <p:spPr>
          <a:xfrm>
            <a:off x="990600" y="7043291"/>
            <a:ext cx="16192500" cy="9525"/>
          </a:xfrm>
          <a:prstGeom prst="rect">
            <a:avLst/>
          </a:prstGeom>
          <a:solidFill>
            <a:srgbClr val="36CDFF">
              <a:alpha val="40000"/>
            </a:srgbClr>
          </a:solidFill>
          <a:ln/>
        </p:spPr>
      </p:sp>
      <p:sp>
        <p:nvSpPr>
          <p:cNvPr id="7" name="Shape 5"/>
          <p:cNvSpPr/>
          <p:nvPr/>
        </p:nvSpPr>
        <p:spPr>
          <a:xfrm>
            <a:off x="990600" y="5814566"/>
            <a:ext cx="16192500" cy="9525"/>
          </a:xfrm>
          <a:prstGeom prst="rect">
            <a:avLst/>
          </a:prstGeom>
          <a:solidFill>
            <a:srgbClr val="36CDFF">
              <a:alpha val="40000"/>
            </a:srgbClr>
          </a:solidFill>
          <a:ln/>
        </p:spPr>
      </p:sp>
      <p:sp>
        <p:nvSpPr>
          <p:cNvPr id="8" name="Shape 6"/>
          <p:cNvSpPr/>
          <p:nvPr/>
        </p:nvSpPr>
        <p:spPr>
          <a:xfrm>
            <a:off x="990600" y="5814566"/>
            <a:ext cx="38100" cy="1238250"/>
          </a:xfrm>
          <a:prstGeom prst="rect">
            <a:avLst/>
          </a:prstGeom>
          <a:solidFill>
            <a:srgbClr val="36CDFF"/>
          </a:solidFill>
          <a:ln/>
        </p:spPr>
      </p:sp>
      <p:sp>
        <p:nvSpPr>
          <p:cNvPr id="9" name="Shape 7"/>
          <p:cNvSpPr/>
          <p:nvPr/>
        </p:nvSpPr>
        <p:spPr>
          <a:xfrm>
            <a:off x="17173575" y="5814566"/>
            <a:ext cx="9525" cy="1238250"/>
          </a:xfrm>
          <a:prstGeom prst="rect">
            <a:avLst/>
          </a:prstGeom>
          <a:solidFill>
            <a:srgbClr val="36CDFF">
              <a:alpha val="40000"/>
            </a:srgbClr>
          </a:solidFill>
          <a:ln/>
        </p:spPr>
      </p:sp>
      <p:sp>
        <p:nvSpPr>
          <p:cNvPr id="10" name="Text 8"/>
          <p:cNvSpPr/>
          <p:nvPr/>
        </p:nvSpPr>
        <p:spPr>
          <a:xfrm>
            <a:off x="1371600" y="6090791"/>
            <a:ext cx="17004983"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36CDFF"/>
                </a:solidFill>
                <a:latin typeface="Courier New" pitchFamily="34" charset="0"/>
                <a:ea typeface="Courier New" pitchFamily="34" charset="-122"/>
                <a:cs typeface="Courier New" pitchFamily="34" charset="-120"/>
              </a:rPr>
              <a:t>THE CONTRAST</a:t>
            </a:r>
            <a:endParaRPr lang="en-US" sz="1200" dirty="0"/>
          </a:p>
        </p:txBody>
      </p:sp>
      <p:sp>
        <p:nvSpPr>
          <p:cNvPr id="11" name="Text 9"/>
          <p:cNvSpPr/>
          <p:nvPr/>
        </p:nvSpPr>
        <p:spPr>
          <a:xfrm>
            <a:off x="1371600" y="6390829"/>
            <a:ext cx="17004983" cy="423863"/>
          </a:xfrm>
          <a:prstGeom prst="rect">
            <a:avLst/>
          </a:prstGeom>
          <a:noFill/>
          <a:ln/>
        </p:spPr>
        <p:txBody>
          <a:bodyPr wrap="square" lIns="25400" tIns="25400" rIns="25400" bIns="25400" rtlCol="0" anchor="t">
            <a:normAutofit/>
          </a:bodyPr>
          <a:lstStyle/>
          <a:p>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Pickle is a program. Safetensors is data. There is no opcode to abuse because there are no opcodes.</a:t>
            </a:r>
            <a:endParaRPr lang="en-US" sz="202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824163"/>
            <a:ext cx="3018011"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 LAB / BREAK IT</a:t>
            </a:r>
            <a:endParaRPr lang="en-US" sz="1500" dirty="0"/>
          </a:p>
        </p:txBody>
      </p:sp>
      <p:sp>
        <p:nvSpPr>
          <p:cNvPr id="3" name="Shape 1"/>
          <p:cNvSpPr/>
          <p:nvPr/>
        </p:nvSpPr>
        <p:spPr>
          <a:xfrm>
            <a:off x="3886646" y="2807494"/>
            <a:ext cx="1531665" cy="285750"/>
          </a:xfrm>
          <a:prstGeom prst="roundRect">
            <a:avLst>
              <a:gd name="adj" fmla="val 13333"/>
            </a:avLst>
          </a:prstGeom>
          <a:solidFill>
            <a:srgbClr val="FD7EF5"/>
          </a:solidFill>
          <a:ln/>
        </p:spPr>
      </p:sp>
      <p:sp>
        <p:nvSpPr>
          <p:cNvPr id="4" name="Text 2"/>
          <p:cNvSpPr/>
          <p:nvPr/>
        </p:nvSpPr>
        <p:spPr>
          <a:xfrm>
            <a:off x="4000946" y="2855119"/>
            <a:ext cx="1379265" cy="228600"/>
          </a:xfrm>
          <a:prstGeom prst="rect">
            <a:avLst/>
          </a:prstGeom>
          <a:noFill/>
          <a:ln/>
        </p:spPr>
        <p:txBody>
          <a:bodyPr wrap="square" lIns="25400" tIns="25400" rIns="25400" bIns="25400" rtlCol="0" anchor="t">
            <a:normAutofit/>
          </a:bodyPr>
          <a:lstStyle/>
          <a:p>
            <a:pPr algn="l" indent="0" marL="0">
              <a:buNone/>
            </a:pPr>
            <a:r>
              <a:rPr lang="en-US" sz="1125" spc="180" kern="0" dirty="0">
                <a:solidFill>
                  <a:srgbClr val="000000"/>
                </a:solidFill>
                <a:latin typeface="Courier New" pitchFamily="34" charset="0"/>
                <a:ea typeface="Courier New" pitchFamily="34" charset="-122"/>
                <a:cs typeface="Courier New" pitchFamily="34" charset="-120"/>
              </a:rPr>
              <a:t>STATIC AUDIT</a:t>
            </a:r>
            <a:endParaRPr lang="en-US" sz="1125" dirty="0"/>
          </a:p>
        </p:txBody>
      </p:sp>
      <p:sp>
        <p:nvSpPr>
          <p:cNvPr id="5" name="Text 3"/>
          <p:cNvSpPr/>
          <p:nvPr/>
        </p:nvSpPr>
        <p:spPr>
          <a:xfrm>
            <a:off x="990600" y="3245644"/>
            <a:ext cx="17937480" cy="603870"/>
          </a:xfrm>
          <a:prstGeom prst="rect">
            <a:avLst/>
          </a:prstGeom>
          <a:noFill/>
          <a:ln/>
        </p:spPr>
        <p:txBody>
          <a:bodyPr wrap="square" lIns="25400" tIns="25400" rIns="25400" bIns="25400" rtlCol="0" anchor="t">
            <a:normAutofit/>
          </a:bodyPr>
          <a:lstStyle/>
          <a:p>
            <a:pPr algn="l" indent="0" marL="0">
              <a:lnSpc>
                <a:spcPct val="78675"/>
              </a:lnSpc>
              <a:buNone/>
            </a:pPr>
            <a:r>
              <a:rPr lang="en-US" sz="4950" b="1" dirty="0">
                <a:solidFill>
                  <a:srgbClr val="FFFFFF"/>
                </a:solidFill>
                <a:latin typeface="Arial" pitchFamily="34" charset="0"/>
                <a:ea typeface="Arial" pitchFamily="34" charset="-122"/>
                <a:cs typeface="Arial" pitchFamily="34" charset="-120"/>
              </a:rPr>
              <a:t>AUDIT IT AND SUBMIT YOUR FINDINGS</a:t>
            </a:r>
            <a:endParaRPr lang="en-US" sz="4950" dirty="0"/>
          </a:p>
        </p:txBody>
      </p:sp>
      <p:sp>
        <p:nvSpPr>
          <p:cNvPr id="6" name="Shape 4"/>
          <p:cNvSpPr/>
          <p:nvPr/>
        </p:nvSpPr>
        <p:spPr>
          <a:xfrm>
            <a:off x="990600" y="4135264"/>
            <a:ext cx="16306800" cy="1609725"/>
          </a:xfrm>
          <a:prstGeom prst="roundRect">
            <a:avLst>
              <a:gd name="adj" fmla="val 4734"/>
            </a:avLst>
          </a:prstGeom>
          <a:solidFill>
            <a:srgbClr val="0B0B0B"/>
          </a:solidFill>
          <a:ln w="9525">
            <a:solidFill>
              <a:srgbClr val="FFFFFF">
                <a:alpha val="16000"/>
              </a:srgbClr>
            </a:solidFill>
            <a:prstDash val="solid"/>
          </a:ln>
        </p:spPr>
      </p:sp>
      <p:sp>
        <p:nvSpPr>
          <p:cNvPr id="7" name="Shape 5"/>
          <p:cNvSpPr/>
          <p:nvPr/>
        </p:nvSpPr>
        <p:spPr>
          <a:xfrm>
            <a:off x="1000125" y="4601989"/>
            <a:ext cx="16287750" cy="9525"/>
          </a:xfrm>
          <a:prstGeom prst="rect">
            <a:avLst/>
          </a:prstGeom>
          <a:solidFill>
            <a:srgbClr val="FFFFFF">
              <a:alpha val="12000"/>
            </a:srgbClr>
          </a:solidFill>
          <a:ln/>
        </p:spPr>
      </p:sp>
      <p:sp>
        <p:nvSpPr>
          <p:cNvPr id="8" name="Shape 6"/>
          <p:cNvSpPr/>
          <p:nvPr/>
        </p:nvSpPr>
        <p:spPr>
          <a:xfrm>
            <a:off x="1190625" y="4321001"/>
            <a:ext cx="104775" cy="104775"/>
          </a:xfrm>
          <a:prstGeom prst="ellipse">
            <a:avLst/>
          </a:prstGeom>
          <a:solidFill>
            <a:srgbClr val="FD7EF5"/>
          </a:solidFill>
          <a:ln/>
        </p:spPr>
      </p:sp>
      <p:sp>
        <p:nvSpPr>
          <p:cNvPr id="9" name="Shape 7"/>
          <p:cNvSpPr/>
          <p:nvPr/>
        </p:nvSpPr>
        <p:spPr>
          <a:xfrm>
            <a:off x="1381125" y="4321001"/>
            <a:ext cx="104775" cy="104775"/>
          </a:xfrm>
          <a:prstGeom prst="ellipse">
            <a:avLst/>
          </a:prstGeom>
          <a:solidFill>
            <a:srgbClr val="36CDFF"/>
          </a:solidFill>
          <a:ln/>
        </p:spPr>
      </p:sp>
      <p:sp>
        <p:nvSpPr>
          <p:cNvPr id="10" name="Shape 8"/>
          <p:cNvSpPr/>
          <p:nvPr/>
        </p:nvSpPr>
        <p:spPr>
          <a:xfrm>
            <a:off x="1571625" y="4321001"/>
            <a:ext cx="104775" cy="104775"/>
          </a:xfrm>
          <a:prstGeom prst="ellipse">
            <a:avLst/>
          </a:prstGeom>
          <a:solidFill>
            <a:srgbClr val="969696"/>
          </a:solidFill>
          <a:ln/>
        </p:spPr>
      </p:sp>
      <p:sp>
        <p:nvSpPr>
          <p:cNvPr id="11" name="Text 9"/>
          <p:cNvSpPr/>
          <p:nvPr/>
        </p:nvSpPr>
        <p:spPr>
          <a:xfrm>
            <a:off x="1876425" y="4278139"/>
            <a:ext cx="101917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submissions</a:t>
            </a:r>
            <a:endParaRPr lang="en-US" sz="1125" dirty="0"/>
          </a:p>
        </p:txBody>
      </p:sp>
      <p:sp>
        <p:nvSpPr>
          <p:cNvPr id="12" name="Text 10"/>
          <p:cNvSpPr/>
          <p:nvPr/>
        </p:nvSpPr>
        <p:spPr>
          <a:xfrm>
            <a:off x="1285875" y="4859164"/>
            <a:ext cx="16204883" cy="666750"/>
          </a:xfrm>
          <a:prstGeom prst="rect">
            <a:avLst/>
          </a:prstGeom>
          <a:noFill/>
          <a:ln/>
        </p:spPr>
        <p:txBody>
          <a:bodyPr wrap="square" lIns="25400" tIns="25400" rIns="25400" bIns="25400" rtlCol="0" anchor="t">
            <a:normAutofit/>
          </a:bodyPr>
          <a:lstStyle/>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POST /submit/m4  {finding_type: </a:t>
            </a:r>
            <a:pPr algn="l" indent="0" marL="0">
              <a:lnSpc>
                <a:spcPct val="146667"/>
              </a:lnSpc>
              <a:buNone/>
            </a:pPr>
            <a:r>
              <a:rPr lang="en-US" sz="1500" dirty="0">
                <a:solidFill>
                  <a:srgbClr val="FD7EF5"/>
                </a:solidFill>
                <a:latin typeface="Courier New" pitchFamily="34" charset="0"/>
                <a:ea typeface="Courier New" pitchFamily="34" charset="-122"/>
                <a:cs typeface="Courier New" pitchFamily="34" charset="-120"/>
              </a:rPr>
              <a:t>"malicious_artifact" </a:t>
            </a:r>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value: "&lt;sha256&gt;"}</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POST /submit/m4  {finding_type:  </a:t>
            </a:r>
            <a:endParaRPr lang="en-US" sz="1500" dirty="0"/>
          </a:p>
          <a:p>
            <a:pPr algn="l" indent="0" marL="0">
              <a:lnSpc>
                <a:spcPct val="146667"/>
              </a:lnSpc>
              <a:buNone/>
            </a:pPr>
            <a:r>
              <a:rPr lang="en-US" sz="1500" dirty="0">
                <a:solidFill>
                  <a:srgbClr val="FD7EF5"/>
                </a:solidFill>
                <a:latin typeface="Courier New" pitchFamily="34" charset="0"/>
                <a:ea typeface="Courier New" pitchFamily="34" charset="-122"/>
                <a:cs typeface="Courier New" pitchFamily="34" charset="-120"/>
              </a:rPr>
              <a:t>"vulnerable_dependency"</a:t>
            </a:r>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value: "PyYAML==5.3.1"}</a:t>
            </a:r>
            <a:endParaRPr lang="en-US" sz="1500" dirty="0"/>
          </a:p>
        </p:txBody>
      </p:sp>
      <p:sp>
        <p:nvSpPr>
          <p:cNvPr id="13" name="Text 11"/>
          <p:cNvSpPr/>
          <p:nvPr/>
        </p:nvSpPr>
        <p:spPr>
          <a:xfrm>
            <a:off x="990600" y="6068839"/>
            <a:ext cx="16678275" cy="858143"/>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Core: the poisoned artifact’s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sha256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a:t>
            </a:r>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malicious_artifact_identified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Stretch: the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vulnerable pin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a:t>
            </a:r>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vulnerable_dependency_identified</a:t>
            </a:r>
            <a:endParaRPr lang="en-US" sz="2175"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733005"/>
            <a:ext cx="358330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DEPENDENCY HALF</a:t>
            </a:r>
            <a:endParaRPr lang="en-US" sz="1500" dirty="0"/>
          </a:p>
        </p:txBody>
      </p:sp>
      <p:sp>
        <p:nvSpPr>
          <p:cNvPr id="3" name="Text 1"/>
          <p:cNvSpPr/>
          <p:nvPr/>
        </p:nvSpPr>
        <p:spPr>
          <a:xfrm>
            <a:off x="990600" y="3137818"/>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THE VULNERABLE DEPENDENCY</a:t>
            </a:r>
            <a:endParaRPr lang="en-US" sz="6600" dirty="0"/>
          </a:p>
        </p:txBody>
      </p:sp>
      <p:sp>
        <p:nvSpPr>
          <p:cNvPr id="4" name="Shape 2"/>
          <p:cNvSpPr/>
          <p:nvPr/>
        </p:nvSpPr>
        <p:spPr>
          <a:xfrm>
            <a:off x="990600" y="4216003"/>
            <a:ext cx="16306800" cy="2018258"/>
          </a:xfrm>
          <a:prstGeom prst="roundRect">
            <a:avLst>
              <a:gd name="adj" fmla="val 3776"/>
            </a:avLst>
          </a:prstGeom>
          <a:solidFill>
            <a:srgbClr val="0B0B0B"/>
          </a:solidFill>
          <a:ln w="9525">
            <a:solidFill>
              <a:srgbClr val="FFFFFF">
                <a:alpha val="16000"/>
              </a:srgbClr>
            </a:solidFill>
            <a:prstDash val="solid"/>
          </a:ln>
        </p:spPr>
      </p:sp>
      <p:sp>
        <p:nvSpPr>
          <p:cNvPr id="5" name="Shape 3"/>
          <p:cNvSpPr/>
          <p:nvPr/>
        </p:nvSpPr>
        <p:spPr>
          <a:xfrm>
            <a:off x="1000125" y="4682728"/>
            <a:ext cx="16287750" cy="9525"/>
          </a:xfrm>
          <a:prstGeom prst="rect">
            <a:avLst/>
          </a:prstGeom>
          <a:solidFill>
            <a:srgbClr val="FFFFFF">
              <a:alpha val="12000"/>
            </a:srgbClr>
          </a:solidFill>
          <a:ln/>
        </p:spPr>
      </p:sp>
      <p:sp>
        <p:nvSpPr>
          <p:cNvPr id="6" name="Shape 4"/>
          <p:cNvSpPr/>
          <p:nvPr/>
        </p:nvSpPr>
        <p:spPr>
          <a:xfrm>
            <a:off x="1190625" y="4401741"/>
            <a:ext cx="104775" cy="104775"/>
          </a:xfrm>
          <a:prstGeom prst="ellipse">
            <a:avLst/>
          </a:prstGeom>
          <a:solidFill>
            <a:srgbClr val="FD7EF5"/>
          </a:solidFill>
          <a:ln/>
        </p:spPr>
      </p:sp>
      <p:sp>
        <p:nvSpPr>
          <p:cNvPr id="7" name="Shape 5"/>
          <p:cNvSpPr/>
          <p:nvPr/>
        </p:nvSpPr>
        <p:spPr>
          <a:xfrm>
            <a:off x="1381125" y="4401741"/>
            <a:ext cx="104775" cy="104775"/>
          </a:xfrm>
          <a:prstGeom prst="ellipse">
            <a:avLst/>
          </a:prstGeom>
          <a:solidFill>
            <a:srgbClr val="36CDFF"/>
          </a:solidFill>
          <a:ln/>
        </p:spPr>
      </p:sp>
      <p:sp>
        <p:nvSpPr>
          <p:cNvPr id="8" name="Shape 6"/>
          <p:cNvSpPr/>
          <p:nvPr/>
        </p:nvSpPr>
        <p:spPr>
          <a:xfrm>
            <a:off x="1571625" y="4401741"/>
            <a:ext cx="104775" cy="104775"/>
          </a:xfrm>
          <a:prstGeom prst="ellipse">
            <a:avLst/>
          </a:prstGeom>
          <a:solidFill>
            <a:srgbClr val="969696"/>
          </a:solidFill>
          <a:ln/>
        </p:spPr>
      </p:sp>
      <p:sp>
        <p:nvSpPr>
          <p:cNvPr id="9" name="Text 7"/>
          <p:cNvSpPr/>
          <p:nvPr/>
        </p:nvSpPr>
        <p:spPr>
          <a:xfrm>
            <a:off x="1876425" y="4358878"/>
            <a:ext cx="3300413"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labs/m4/requirements-vulnerable.txt</a:t>
            </a:r>
            <a:endParaRPr lang="en-US" sz="1125" dirty="0"/>
          </a:p>
        </p:txBody>
      </p:sp>
      <p:sp>
        <p:nvSpPr>
          <p:cNvPr id="10" name="Text 8"/>
          <p:cNvSpPr/>
          <p:nvPr/>
        </p:nvSpPr>
        <p:spPr>
          <a:xfrm>
            <a:off x="1285875" y="4939903"/>
            <a:ext cx="16204883" cy="1075283"/>
          </a:xfrm>
          <a:prstGeom prst="rect">
            <a:avLst/>
          </a:prstGeom>
          <a:noFill/>
          <a:ln/>
        </p:spPr>
        <p:txBody>
          <a:bodyPr wrap="square" lIns="25400" tIns="25400" rIns="25400" bIns="25400" rtlCol="0" anchor="t">
            <a:normAutofit/>
          </a:bodyPr>
          <a:lstStyle/>
          <a:p>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numpy==1.26.4 </a:t>
            </a:r>
            <a:pPr algn="l" indent="0" marL="0">
              <a:lnSpc>
                <a:spcPct val="145200"/>
              </a:lnSpc>
              <a:buNone/>
            </a:pPr>
            <a:r>
              <a:rPr lang="en-US" sz="1650" dirty="0">
                <a:solidFill>
                  <a:srgbClr val="FD7EF5"/>
                </a:solidFill>
                <a:latin typeface="Courier New" pitchFamily="34" charset="0"/>
                <a:ea typeface="Courier New" pitchFamily="34" charset="-122"/>
                <a:cs typeface="Courier New" pitchFamily="34" charset="-120"/>
              </a:rPr>
              <a:t>PyYAML==5.3.1</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      </a:t>
            </a:r>
            <a:pPr algn="l" indent="0" marL="0">
              <a:lnSpc>
                <a:spcPct val="145200"/>
              </a:lnSpc>
              <a:buNone/>
            </a:pPr>
            <a:r>
              <a:rPr lang="en-US" sz="1650" dirty="0">
                <a:solidFill>
                  <a:srgbClr val="FD7EF5"/>
                </a:solidFill>
                <a:latin typeface="Courier New" pitchFamily="34" charset="0"/>
                <a:ea typeface="Courier New" pitchFamily="34" charset="-122"/>
                <a:cs typeface="Courier New" pitchFamily="34" charset="-120"/>
              </a:rPr>
              <a:t>&lt;-- CVE-2020-14343: yaml.load() -&gt; arbitrary code execution </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requests==2.31.0</a:t>
            </a:r>
            <a:endParaRPr lang="en-US" sz="1650" dirty="0"/>
          </a:p>
        </p:txBody>
      </p:sp>
      <p:sp>
        <p:nvSpPr>
          <p:cNvPr id="11" name="Text 9"/>
          <p:cNvSpPr/>
          <p:nvPr/>
        </p:nvSpPr>
        <p:spPr>
          <a:xfrm>
            <a:off x="990600" y="6558111"/>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Pinning for reproducibility can pin you to a known-vulnerable version.</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FD7EF5"/>
          </a:solidFill>
          <a:ln/>
        </p:spPr>
      </p:sp>
      <p:sp>
        <p:nvSpPr>
          <p:cNvPr id="3" name="Text 1"/>
          <p:cNvSpPr/>
          <p:nvPr/>
        </p:nvSpPr>
        <p:spPr>
          <a:xfrm>
            <a:off x="990600" y="2799011"/>
            <a:ext cx="17937480" cy="366713"/>
          </a:xfrm>
          <a:prstGeom prst="rect">
            <a:avLst/>
          </a:prstGeom>
          <a:noFill/>
          <a:ln/>
        </p:spPr>
        <p:txBody>
          <a:bodyPr wrap="square" lIns="25400" tIns="25400" rIns="25400" bIns="25400" rtlCol="0" anchor="t">
            <a:normAutofit/>
          </a:bodyPr>
          <a:lstStyle/>
          <a:p>
            <a:pPr algn="l" indent="0" marL="0">
              <a:buNone/>
            </a:pPr>
            <a:r>
              <a:rPr lang="en-US" sz="1950" spc="663" kern="0" dirty="0">
                <a:solidFill>
                  <a:srgbClr val="FD7EF5"/>
                </a:solidFill>
                <a:latin typeface="Courier New" pitchFamily="34" charset="0"/>
                <a:ea typeface="Courier New" pitchFamily="34" charset="-122"/>
                <a:cs typeface="Courier New" pitchFamily="34" charset="-120"/>
              </a:rPr>
              <a:t>▶ DEMO / INSTRUCTOR ONLY</a:t>
            </a:r>
            <a:endParaRPr lang="en-US" sz="1950" dirty="0"/>
          </a:p>
        </p:txBody>
      </p:sp>
      <p:sp>
        <p:nvSpPr>
          <p:cNvPr id="4" name="Text 2"/>
          <p:cNvSpPr/>
          <p:nvPr/>
        </p:nvSpPr>
        <p:spPr>
          <a:xfrm>
            <a:off x="990600" y="3413373"/>
            <a:ext cx="16796004" cy="2224980"/>
          </a:xfrm>
          <a:prstGeom prst="rect">
            <a:avLst/>
          </a:prstGeom>
          <a:noFill/>
          <a:ln/>
        </p:spPr>
        <p:txBody>
          <a:bodyPr wrap="square" lIns="25400" tIns="25400" rIns="25400" bIns="25400" rtlCol="0" anchor="t">
            <a:normAutofit/>
          </a:bodyPr>
          <a:lstStyle/>
          <a:p>
            <a:pPr algn="l" indent="0" marL="0">
              <a:lnSpc>
                <a:spcPct val="71526"/>
              </a:lnSpc>
              <a:buNone/>
            </a:pPr>
            <a:r>
              <a:rPr lang="en-US" sz="10500" b="1" dirty="0">
                <a:solidFill>
                  <a:srgbClr val="FFFFFF"/>
                </a:solidFill>
                <a:latin typeface="Arial" pitchFamily="34" charset="0"/>
                <a:ea typeface="Arial" pitchFamily="34" charset="-122"/>
                <a:cs typeface="Arial" pitchFamily="34" charset="-120"/>
              </a:rPr>
              <a:t>THE LOADER, BOTH WAYS</a:t>
            </a:r>
            <a:endParaRPr lang="en-US" sz="10500" dirty="0"/>
          </a:p>
        </p:txBody>
      </p:sp>
      <p:sp>
        <p:nvSpPr>
          <p:cNvPr id="5" name="Text 3"/>
          <p:cNvSpPr/>
          <p:nvPr/>
        </p:nvSpPr>
        <p:spPr>
          <a:xfrm>
            <a:off x="990600" y="5981254"/>
            <a:ext cx="14716125" cy="954286"/>
          </a:xfrm>
          <a:prstGeom prst="rect">
            <a:avLst/>
          </a:prstGeom>
          <a:noFill/>
          <a:ln/>
        </p:spPr>
        <p:txBody>
          <a:bodyPr wrap="square" lIns="25400" tIns="25400" rIns="25400" bIns="25400" rtlCol="0" anchor="t">
            <a:normAutofit/>
          </a:bodyPr>
          <a:lstStyle/>
          <a:p>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Vulnerable loader → </a:t>
            </a:r>
            <a:pPr algn="l" indent="0" marL="0">
              <a:lnSpc>
                <a:spcPct val="122051"/>
              </a:lnSpc>
              <a:buNone/>
            </a:pPr>
            <a:r>
              <a:rPr lang="en-US" sz="2550" dirty="0">
                <a:solidFill>
                  <a:srgbClr val="C8C8C8"/>
                </a:solidFill>
                <a:latin typeface="Courier New" pitchFamily="34" charset="0"/>
                <a:ea typeface="Courier New" pitchFamily="34" charset="-122"/>
                <a:cs typeface="Courier New" pitchFamily="34" charset="-120"/>
              </a:rPr>
              <a:t>eiger-m4-rce </a:t>
            </a:r>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prints from </a:t>
            </a:r>
            <a:pPr algn="l" indent="0" marL="0">
              <a:lnSpc>
                <a:spcPct val="122051"/>
              </a:lnSpc>
              <a:buNone/>
            </a:pPr>
            <a:r>
              <a:rPr lang="en-US" sz="2550" i="1" dirty="0">
                <a:solidFill>
                  <a:srgbClr val="C8C8C8"/>
                </a:solidFill>
                <a:latin typeface="Arial" pitchFamily="34" charset="0"/>
                <a:ea typeface="Arial" pitchFamily="34" charset="-122"/>
                <a:cs typeface="Arial" pitchFamily="34" charset="-120"/>
              </a:rPr>
              <a:t>loading a file. </a:t>
            </a:r>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Secure loader → refused on format, before any deserialization.</a:t>
            </a:r>
            <a:endParaRPr lang="en-US" sz="2550" dirty="0"/>
          </a:p>
        </p:txBody>
      </p:sp>
      <p:pic>
        <p:nvPicPr>
          <p:cNvPr id="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7" name="Text 4"/>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406551"/>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SECURE IT · DEMO, NOT GRADED</a:t>
            </a:r>
            <a:endParaRPr lang="en-US" sz="1500" dirty="0"/>
          </a:p>
        </p:txBody>
      </p:sp>
      <p:sp>
        <p:nvSpPr>
          <p:cNvPr id="3" name="Text 1"/>
          <p:cNvSpPr/>
          <p:nvPr/>
        </p:nvSpPr>
        <p:spPr>
          <a:xfrm>
            <a:off x="990600" y="2811363"/>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THE LOADER DIFF</a:t>
            </a:r>
            <a:endParaRPr lang="en-US" sz="7200" dirty="0"/>
          </a:p>
        </p:txBody>
      </p:sp>
      <p:sp>
        <p:nvSpPr>
          <p:cNvPr id="4" name="Shape 2"/>
          <p:cNvSpPr/>
          <p:nvPr/>
        </p:nvSpPr>
        <p:spPr>
          <a:xfrm>
            <a:off x="990600" y="4015308"/>
            <a:ext cx="16306800" cy="19050"/>
          </a:xfrm>
          <a:prstGeom prst="rect">
            <a:avLst/>
          </a:prstGeom>
          <a:solidFill>
            <a:srgbClr val="FFFFFF">
              <a:alpha val="20000"/>
            </a:srgbClr>
          </a:solidFill>
          <a:ln/>
        </p:spPr>
      </p:sp>
      <p:sp>
        <p:nvSpPr>
          <p:cNvPr id="5" name="Text 3"/>
          <p:cNvSpPr/>
          <p:nvPr/>
        </p:nvSpPr>
        <p:spPr>
          <a:xfrm>
            <a:off x="1200150" y="4205808"/>
            <a:ext cx="797890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FD7EF5"/>
                </a:solidFill>
                <a:latin typeface="Courier New" pitchFamily="34" charset="0"/>
                <a:ea typeface="Courier New" pitchFamily="34" charset="-122"/>
                <a:cs typeface="Courier New" pitchFamily="34" charset="-120"/>
              </a:rPr>
              <a:t>VULNERABLE</a:t>
            </a:r>
            <a:endParaRPr lang="en-US" sz="1350" dirty="0"/>
          </a:p>
        </p:txBody>
      </p:sp>
      <p:sp>
        <p:nvSpPr>
          <p:cNvPr id="6" name="Text 4"/>
          <p:cNvSpPr/>
          <p:nvPr/>
        </p:nvSpPr>
        <p:spPr>
          <a:xfrm>
            <a:off x="9353550" y="4205808"/>
            <a:ext cx="797890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36CDFF"/>
                </a:solidFill>
                <a:latin typeface="Courier New" pitchFamily="34" charset="0"/>
                <a:ea typeface="Courier New" pitchFamily="34" charset="-122"/>
                <a:cs typeface="Courier New" pitchFamily="34" charset="-120"/>
              </a:rPr>
              <a:t>SECURE</a:t>
            </a:r>
            <a:endParaRPr lang="en-US" sz="1350" dirty="0"/>
          </a:p>
        </p:txBody>
      </p:sp>
      <p:sp>
        <p:nvSpPr>
          <p:cNvPr id="7" name="Shape 5"/>
          <p:cNvSpPr/>
          <p:nvPr/>
        </p:nvSpPr>
        <p:spPr>
          <a:xfrm>
            <a:off x="990600" y="4605858"/>
            <a:ext cx="8153400" cy="9525"/>
          </a:xfrm>
          <a:prstGeom prst="rect">
            <a:avLst/>
          </a:prstGeom>
          <a:solidFill>
            <a:srgbClr val="FFFFFF">
              <a:alpha val="13000"/>
            </a:srgbClr>
          </a:solidFill>
          <a:ln/>
        </p:spPr>
      </p:sp>
      <p:sp>
        <p:nvSpPr>
          <p:cNvPr id="8" name="Text 6"/>
          <p:cNvSpPr/>
          <p:nvPr/>
        </p:nvSpPr>
        <p:spPr>
          <a:xfrm>
            <a:off x="1200150" y="4882083"/>
            <a:ext cx="7978902" cy="396180"/>
          </a:xfrm>
          <a:prstGeom prst="rect">
            <a:avLst/>
          </a:prstGeom>
          <a:noFill/>
          <a:ln/>
        </p:spPr>
        <p:txBody>
          <a:bodyPr wrap="square" lIns="25400" tIns="25400" rIns="25400" bIns="25400" rtlCol="0" anchor="t">
            <a:normAutofit/>
          </a:bodyPr>
          <a:lstStyle/>
          <a:p>
            <a:pPr algn="l" indent="0" marL="0">
              <a:lnSpc>
                <a:spcPct val="117000"/>
              </a:lnSpc>
              <a:buNone/>
            </a:pPr>
            <a:r>
              <a:rPr lang="en-US" sz="1950" b="1" dirty="0">
                <a:solidFill>
                  <a:srgbClr val="FFFFFF"/>
                </a:solidFill>
                <a:latin typeface="Arial" pitchFamily="34" charset="0"/>
                <a:ea typeface="Arial" pitchFamily="34" charset="-122"/>
                <a:cs typeface="Arial" pitchFamily="34" charset="-120"/>
              </a:rPr>
              <a:t>any file → </a:t>
            </a:r>
            <a:pPr algn="l" indent="0" marL="0">
              <a:lnSpc>
                <a:spcPct val="117000"/>
              </a:lnSpc>
              <a:buNone/>
            </a:pPr>
            <a:r>
              <a:rPr lang="en-US" sz="1950" b="1" dirty="0">
                <a:solidFill>
                  <a:srgbClr val="FFFFFF"/>
                </a:solidFill>
                <a:latin typeface="Courier New" pitchFamily="34" charset="0"/>
                <a:ea typeface="Courier New" pitchFamily="34" charset="-122"/>
                <a:cs typeface="Courier New" pitchFamily="34" charset="-120"/>
              </a:rPr>
              <a:t>pickle.load()</a:t>
            </a:r>
            <a:endParaRPr lang="en-US" sz="1950" dirty="0"/>
          </a:p>
        </p:txBody>
      </p:sp>
      <p:sp>
        <p:nvSpPr>
          <p:cNvPr id="9" name="Shape 7"/>
          <p:cNvSpPr/>
          <p:nvPr/>
        </p:nvSpPr>
        <p:spPr>
          <a:xfrm>
            <a:off x="9144000" y="4605858"/>
            <a:ext cx="8153400" cy="9525"/>
          </a:xfrm>
          <a:prstGeom prst="rect">
            <a:avLst/>
          </a:prstGeom>
          <a:solidFill>
            <a:srgbClr val="FFFFFF">
              <a:alpha val="13000"/>
            </a:srgbClr>
          </a:solidFill>
          <a:ln/>
        </p:spPr>
      </p:sp>
      <p:sp>
        <p:nvSpPr>
          <p:cNvPr id="10" name="Text 8"/>
          <p:cNvSpPr/>
          <p:nvPr/>
        </p:nvSpPr>
        <p:spPr>
          <a:xfrm>
            <a:off x="9353550" y="4882083"/>
            <a:ext cx="7978902" cy="396180"/>
          </a:xfrm>
          <a:prstGeom prst="rect">
            <a:avLst/>
          </a:prstGeom>
          <a:noFill/>
          <a:ln/>
        </p:spPr>
        <p:txBody>
          <a:bodyPr wrap="square" lIns="25400" tIns="25400" rIns="25400" bIns="25400" rtlCol="0" anchor="t">
            <a:normAutofit/>
          </a:bodyPr>
          <a:lstStyle/>
          <a:p>
            <a:pPr algn="l" indent="0" marL="0">
              <a:lnSpc>
                <a:spcPct val="117000"/>
              </a:lnSpc>
              <a:buNone/>
            </a:pPr>
            <a:r>
              <a:rPr lang="en-US" sz="1950" b="1" dirty="0">
                <a:solidFill>
                  <a:srgbClr val="36CDFF"/>
                </a:solidFill>
                <a:latin typeface="Arial" pitchFamily="34" charset="0"/>
                <a:ea typeface="Arial" pitchFamily="34" charset="-122"/>
                <a:cs typeface="Arial" pitchFamily="34" charset="-120"/>
              </a:rPr>
              <a:t>format allowlist</a:t>
            </a:r>
            <a:pPr algn="l" indent="0" marL="0">
              <a:lnSpc>
                <a:spcPct val="117000"/>
              </a:lnSpc>
              <a:buNone/>
            </a:pPr>
            <a:r>
              <a:rPr lang="en-US" sz="1950" dirty="0">
                <a:solidFill>
                  <a:srgbClr val="C8C8C8"/>
                </a:solidFill>
                <a:latin typeface="Arial" pitchFamily="34" charset="0"/>
                <a:ea typeface="Arial" pitchFamily="34" charset="-122"/>
                <a:cs typeface="Arial" pitchFamily="34" charset="-120"/>
              </a:rPr>
              <a:t>: .safetensors only</a:t>
            </a:r>
            <a:endParaRPr lang="en-US" sz="1950" dirty="0"/>
          </a:p>
        </p:txBody>
      </p:sp>
      <p:sp>
        <p:nvSpPr>
          <p:cNvPr id="11" name="Shape 9"/>
          <p:cNvSpPr/>
          <p:nvPr/>
        </p:nvSpPr>
        <p:spPr>
          <a:xfrm>
            <a:off x="990600" y="5506864"/>
            <a:ext cx="8153400" cy="9525"/>
          </a:xfrm>
          <a:prstGeom prst="rect">
            <a:avLst/>
          </a:prstGeom>
          <a:solidFill>
            <a:srgbClr val="FFFFFF">
              <a:alpha val="13000"/>
            </a:srgbClr>
          </a:solidFill>
          <a:ln/>
        </p:spPr>
      </p:sp>
      <p:sp>
        <p:nvSpPr>
          <p:cNvPr id="12" name="Text 10"/>
          <p:cNvSpPr/>
          <p:nvPr/>
        </p:nvSpPr>
        <p:spPr>
          <a:xfrm>
            <a:off x="1200150" y="5783089"/>
            <a:ext cx="7978902" cy="396180"/>
          </a:xfrm>
          <a:prstGeom prst="rect">
            <a:avLst/>
          </a:prstGeom>
          <a:noFill/>
          <a:ln/>
        </p:spPr>
        <p:txBody>
          <a:bodyPr wrap="square" lIns="25400" tIns="25400" rIns="25400" bIns="25400" rtlCol="0" anchor="t">
            <a:normAutofit/>
          </a:bodyPr>
          <a:lstStyle/>
          <a:p>
            <a:pPr algn="l" indent="0" marL="0">
              <a:lnSpc>
                <a:spcPct val="117000"/>
              </a:lnSpc>
              <a:buNone/>
            </a:pPr>
            <a:r>
              <a:rPr lang="en-US" sz="1950" b="1" dirty="0">
                <a:solidFill>
                  <a:srgbClr val="FFFFFF"/>
                </a:solidFill>
                <a:latin typeface="Courier New" pitchFamily="34" charset="0"/>
                <a:ea typeface="Courier New" pitchFamily="34" charset="-122"/>
                <a:cs typeface="Courier New" pitchFamily="34" charset="-120"/>
              </a:rPr>
              <a:t>__reduce__ </a:t>
            </a:r>
            <a:pPr algn="l" indent="0" marL="0">
              <a:lnSpc>
                <a:spcPct val="117000"/>
              </a:lnSpc>
              <a:buNone/>
            </a:pPr>
            <a:r>
              <a:rPr lang="en-US" sz="1950" b="1" dirty="0">
                <a:solidFill>
                  <a:srgbClr val="FFFFFF"/>
                </a:solidFill>
                <a:latin typeface="Arial" pitchFamily="34" charset="0"/>
                <a:ea typeface="Arial" pitchFamily="34" charset="-122"/>
                <a:cs typeface="Arial" pitchFamily="34" charset="-120"/>
              </a:rPr>
              <a:t>fires → </a:t>
            </a:r>
            <a:pPr algn="l" indent="0" marL="0">
              <a:lnSpc>
                <a:spcPct val="117000"/>
              </a:lnSpc>
              <a:buNone/>
            </a:pPr>
            <a:r>
              <a:rPr lang="en-US" sz="1950" b="1" dirty="0">
                <a:solidFill>
                  <a:srgbClr val="FFFFFF"/>
                </a:solidFill>
                <a:latin typeface="Courier New" pitchFamily="34" charset="0"/>
                <a:ea typeface="Courier New" pitchFamily="34" charset="-122"/>
                <a:cs typeface="Courier New" pitchFamily="34" charset="-120"/>
              </a:rPr>
              <a:t>os.system</a:t>
            </a:r>
            <a:endParaRPr lang="en-US" sz="1950" dirty="0"/>
          </a:p>
        </p:txBody>
      </p:sp>
      <p:sp>
        <p:nvSpPr>
          <p:cNvPr id="13" name="Shape 11"/>
          <p:cNvSpPr/>
          <p:nvPr/>
        </p:nvSpPr>
        <p:spPr>
          <a:xfrm>
            <a:off x="9144000" y="5506864"/>
            <a:ext cx="8153400" cy="9525"/>
          </a:xfrm>
          <a:prstGeom prst="rect">
            <a:avLst/>
          </a:prstGeom>
          <a:solidFill>
            <a:srgbClr val="FFFFFF">
              <a:alpha val="13000"/>
            </a:srgbClr>
          </a:solidFill>
          <a:ln/>
        </p:spPr>
      </p:sp>
      <p:sp>
        <p:nvSpPr>
          <p:cNvPr id="14" name="Text 12"/>
          <p:cNvSpPr/>
          <p:nvPr/>
        </p:nvSpPr>
        <p:spPr>
          <a:xfrm>
            <a:off x="9353550" y="5783089"/>
            <a:ext cx="7978902" cy="396180"/>
          </a:xfrm>
          <a:prstGeom prst="rect">
            <a:avLst/>
          </a:prstGeom>
          <a:noFill/>
          <a:ln/>
        </p:spPr>
        <p:txBody>
          <a:bodyPr wrap="square" lIns="25400" tIns="25400" rIns="25400" bIns="25400" rtlCol="0" anchor="t">
            <a:normAutofit/>
          </a:bodyPr>
          <a:lstStyle/>
          <a:p>
            <a:pPr algn="l" indent="0" marL="0">
              <a:lnSpc>
                <a:spcPct val="117000"/>
              </a:lnSpc>
              <a:buNone/>
            </a:pPr>
            <a:r>
              <a:rPr lang="en-US" sz="1950" b="1" dirty="0">
                <a:solidFill>
                  <a:srgbClr val="36CDFF"/>
                </a:solidFill>
                <a:latin typeface="Arial" pitchFamily="34" charset="0"/>
                <a:ea typeface="Arial" pitchFamily="34" charset="-122"/>
                <a:cs typeface="Arial" pitchFamily="34" charset="-120"/>
              </a:rPr>
              <a:t>then </a:t>
            </a:r>
            <a:pPr algn="l" indent="0" marL="0">
              <a:lnSpc>
                <a:spcPct val="117000"/>
              </a:lnSpc>
              <a:buNone/>
            </a:pPr>
            <a:r>
              <a:rPr lang="en-US" sz="1950" dirty="0">
                <a:solidFill>
                  <a:srgbClr val="C8C8C8"/>
                </a:solidFill>
                <a:latin typeface="Arial" pitchFamily="34" charset="0"/>
                <a:ea typeface="Arial" pitchFamily="34" charset="-122"/>
                <a:cs typeface="Arial" pitchFamily="34" charset="-120"/>
              </a:rPr>
              <a:t>sha256 must be in a pinned allowlist</a:t>
            </a:r>
            <a:endParaRPr lang="en-US" sz="1950" dirty="0"/>
          </a:p>
        </p:txBody>
      </p:sp>
      <p:sp>
        <p:nvSpPr>
          <p:cNvPr id="15" name="Shape 13"/>
          <p:cNvSpPr/>
          <p:nvPr/>
        </p:nvSpPr>
        <p:spPr>
          <a:xfrm>
            <a:off x="990600" y="6407869"/>
            <a:ext cx="8153400" cy="9525"/>
          </a:xfrm>
          <a:prstGeom prst="rect">
            <a:avLst/>
          </a:prstGeom>
          <a:solidFill>
            <a:srgbClr val="FFFFFF">
              <a:alpha val="13000"/>
            </a:srgbClr>
          </a:solidFill>
          <a:ln/>
        </p:spPr>
      </p:sp>
      <p:sp>
        <p:nvSpPr>
          <p:cNvPr id="16" name="Text 14"/>
          <p:cNvSpPr/>
          <p:nvPr/>
        </p:nvSpPr>
        <p:spPr>
          <a:xfrm>
            <a:off x="1200150" y="6684094"/>
            <a:ext cx="7978902" cy="377130"/>
          </a:xfrm>
          <a:prstGeom prst="rect">
            <a:avLst/>
          </a:prstGeom>
          <a:noFill/>
          <a:ln/>
        </p:spPr>
        <p:txBody>
          <a:bodyPr wrap="square" lIns="25400" tIns="25400" rIns="25400" bIns="25400" rtlCol="0" anchor="t">
            <a:normAutofit/>
          </a:bodyPr>
          <a:lstStyle/>
          <a:p>
            <a:pPr algn="l" indent="0" marL="0">
              <a:lnSpc>
                <a:spcPct val="117000"/>
              </a:lnSpc>
              <a:buNone/>
            </a:pPr>
            <a:r>
              <a:rPr lang="en-US" sz="1950" b="1" dirty="0">
                <a:solidFill>
                  <a:srgbClr val="FFFFFF"/>
                </a:solidFill>
                <a:latin typeface="Arial" pitchFamily="34" charset="0"/>
                <a:ea typeface="Arial" pitchFamily="34" charset="-122"/>
                <a:cs typeface="Arial" pitchFamily="34" charset="-120"/>
              </a:rPr>
              <a:t>RCE from “loading a model”</a:t>
            </a:r>
            <a:endParaRPr lang="en-US" sz="1950" dirty="0"/>
          </a:p>
        </p:txBody>
      </p:sp>
      <p:sp>
        <p:nvSpPr>
          <p:cNvPr id="17" name="Shape 15"/>
          <p:cNvSpPr/>
          <p:nvPr/>
        </p:nvSpPr>
        <p:spPr>
          <a:xfrm>
            <a:off x="9144000" y="6407869"/>
            <a:ext cx="8153400" cy="9525"/>
          </a:xfrm>
          <a:prstGeom prst="rect">
            <a:avLst/>
          </a:prstGeom>
          <a:solidFill>
            <a:srgbClr val="FFFFFF">
              <a:alpha val="13000"/>
            </a:srgbClr>
          </a:solidFill>
          <a:ln/>
        </p:spPr>
      </p:sp>
      <p:sp>
        <p:nvSpPr>
          <p:cNvPr id="18" name="Text 16"/>
          <p:cNvSpPr/>
          <p:nvPr/>
        </p:nvSpPr>
        <p:spPr>
          <a:xfrm>
            <a:off x="9353550" y="6684094"/>
            <a:ext cx="7978902" cy="377130"/>
          </a:xfrm>
          <a:prstGeom prst="rect">
            <a:avLst/>
          </a:prstGeom>
          <a:noFill/>
          <a:ln/>
        </p:spPr>
        <p:txBody>
          <a:bodyPr wrap="square" lIns="25400" tIns="25400" rIns="25400" bIns="25400" rtlCol="0" anchor="t">
            <a:normAutofit/>
          </a:bodyPr>
          <a:lstStyle/>
          <a:p>
            <a:pPr algn="l" indent="0" marL="0">
              <a:lnSpc>
                <a:spcPct val="117000"/>
              </a:lnSpc>
              <a:buNone/>
            </a:pPr>
            <a:r>
              <a:rPr lang="en-US" sz="1950" dirty="0">
                <a:solidFill>
                  <a:srgbClr val="C8C8C8"/>
                </a:solidFill>
                <a:latin typeface="Arial" pitchFamily="34" charset="0"/>
                <a:ea typeface="Arial" pitchFamily="34" charset="-122"/>
                <a:cs typeface="Arial" pitchFamily="34" charset="-120"/>
              </a:rPr>
              <a:t>refused </a:t>
            </a:r>
            <a:pPr algn="l" indent="0" marL="0">
              <a:lnSpc>
                <a:spcPct val="117000"/>
              </a:lnSpc>
              <a:buNone/>
            </a:pPr>
            <a:r>
              <a:rPr lang="en-US" sz="1950" b="1" dirty="0">
                <a:solidFill>
                  <a:srgbClr val="36CDFF"/>
                </a:solidFill>
                <a:latin typeface="Arial" pitchFamily="34" charset="0"/>
                <a:ea typeface="Arial" pitchFamily="34" charset="-122"/>
                <a:cs typeface="Arial" pitchFamily="34" charset="-120"/>
              </a:rPr>
              <a:t>before a byte is deserialized</a:t>
            </a:r>
            <a:endParaRPr lang="en-US" sz="1950" dirty="0"/>
          </a:p>
        </p:txBody>
      </p:sp>
      <p:pic>
        <p:nvPicPr>
          <p:cNvPr id="19"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0" name="Text 17"/>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938016"/>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DISCUSSION BEAT</a:t>
            </a:r>
            <a:endParaRPr lang="en-US" sz="1500" dirty="0"/>
          </a:p>
        </p:txBody>
      </p:sp>
      <p:sp>
        <p:nvSpPr>
          <p:cNvPr id="3" name="Text 1"/>
          <p:cNvSpPr/>
          <p:nvPr/>
        </p:nvSpPr>
        <p:spPr>
          <a:xfrm>
            <a:off x="990600" y="3342829"/>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NOW BREAK THE FIX</a:t>
            </a:r>
            <a:endParaRPr lang="en-US" sz="7200" dirty="0"/>
          </a:p>
        </p:txBody>
      </p:sp>
      <p:sp>
        <p:nvSpPr>
          <p:cNvPr id="4" name="Text 2"/>
          <p:cNvSpPr/>
          <p:nvPr/>
        </p:nvSpPr>
        <p:spPr>
          <a:xfrm>
            <a:off x="990600" y="4546774"/>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5" name="Text 3"/>
          <p:cNvSpPr/>
          <p:nvPr/>
        </p:nvSpPr>
        <p:spPr>
          <a:xfrm>
            <a:off x="1307306" y="4546774"/>
            <a:ext cx="8706148" cy="402878"/>
          </a:xfrm>
          <a:prstGeom prst="rect">
            <a:avLst/>
          </a:prstGeom>
          <a:noFill/>
          <a:ln/>
        </p:spPr>
        <p:txBody>
          <a:bodyPr wrap="square" lIns="25400" tIns="25400" rIns="25400" bIns="25400" rtlCol="0" anchor="t">
            <a:normAutofit/>
          </a:bodyPr>
          <a:lstStyle/>
          <a:p>
            <a:pPr algn="l" indent="0" marL="0">
              <a:lnSpc>
                <a:spcPct val="121935"/>
              </a:lnSpc>
              <a:buNone/>
            </a:pPr>
            <a:r>
              <a:rPr lang="en-US" sz="2025" b="1" dirty="0">
                <a:solidFill>
                  <a:srgbClr val="FD7EF5"/>
                </a:solidFill>
                <a:latin typeface="Arial" pitchFamily="34" charset="0"/>
                <a:ea typeface="Arial" pitchFamily="34" charset="-122"/>
                <a:cs typeface="Arial" pitchFamily="34" charset="-120"/>
              </a:rPr>
              <a:t>rename it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 does anything trust the </a:t>
            </a:r>
            <a:pPr algn="l" indent="0" marL="0">
              <a:lnSpc>
                <a:spcPct val="121935"/>
              </a:lnSpc>
              <a:buNone/>
            </a:pPr>
            <a:r>
              <a:rPr lang="en-US" sz="2025" i="1" dirty="0">
                <a:solidFill>
                  <a:srgbClr val="FFFFFF"/>
                </a:solidFill>
                <a:latin typeface="Arial" pitchFamily="34" charset="0"/>
                <a:ea typeface="Arial" pitchFamily="34" charset="-122"/>
                <a:cs typeface="Arial" pitchFamily="34" charset="-120"/>
              </a:rPr>
              <a:t>extension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rather than the </a:t>
            </a:r>
            <a:pPr algn="l" indent="0" marL="0">
              <a:lnSpc>
                <a:spcPct val="121935"/>
              </a:lnSpc>
              <a:buNone/>
            </a:pPr>
            <a:r>
              <a:rPr lang="en-US" sz="2025" i="1" dirty="0">
                <a:solidFill>
                  <a:srgbClr val="FFFFFF"/>
                </a:solidFill>
                <a:latin typeface="Arial" pitchFamily="34" charset="0"/>
                <a:ea typeface="Arial" pitchFamily="34" charset="-122"/>
                <a:cs typeface="Arial" pitchFamily="34" charset="-120"/>
              </a:rPr>
              <a:t>content</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a:t>
            </a:r>
            <a:endParaRPr lang="en-US" sz="2025" dirty="0"/>
          </a:p>
        </p:txBody>
      </p:sp>
      <p:sp>
        <p:nvSpPr>
          <p:cNvPr id="6" name="Text 4"/>
          <p:cNvSpPr/>
          <p:nvPr/>
        </p:nvSpPr>
        <p:spPr>
          <a:xfrm>
            <a:off x="990600" y="5159201"/>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7" name="Text 5"/>
          <p:cNvSpPr/>
          <p:nvPr/>
        </p:nvSpPr>
        <p:spPr>
          <a:xfrm>
            <a:off x="1307306" y="5159201"/>
            <a:ext cx="15840179" cy="407640"/>
          </a:xfrm>
          <a:prstGeom prst="rect">
            <a:avLst/>
          </a:prstGeom>
          <a:noFill/>
          <a:ln/>
        </p:spPr>
        <p:txBody>
          <a:bodyPr wrap="square" lIns="25400" tIns="25400" rIns="25400" bIns="25400" rtlCol="0" anchor="t">
            <a:normAutofit/>
          </a:bodyPr>
          <a:lstStyle/>
          <a:p>
            <a:pPr algn="l" indent="0" marL="0">
              <a:lnSpc>
                <a:spcPct val="121935"/>
              </a:lnSpc>
              <a:buNone/>
            </a:pPr>
            <a:r>
              <a:rPr lang="en-US" sz="2025" b="1" dirty="0">
                <a:solidFill>
                  <a:srgbClr val="FD7EF5"/>
                </a:solidFill>
                <a:latin typeface="Arial" pitchFamily="34" charset="0"/>
                <a:ea typeface="Arial" pitchFamily="34" charset="-122"/>
                <a:cs typeface="Arial" pitchFamily="34" charset="-120"/>
              </a:rPr>
              <a:t>the allowlist is empty by default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a:t>
            </a:r>
            <a:pPr algn="l" indent="0" marL="0">
              <a:lnSpc>
                <a:spcPct val="121935"/>
              </a:lnSpc>
              <a:buNone/>
            </a:pPr>
            <a:r>
              <a:rPr lang="en-US" sz="2025" dirty="0">
                <a:solidFill>
                  <a:srgbClr val="FFFFFF"/>
                </a:solidFill>
                <a:latin typeface="Courier New" pitchFamily="34" charset="0"/>
                <a:ea typeface="Courier New" pitchFamily="34" charset="-122"/>
                <a:cs typeface="Courier New" pitchFamily="34" charset="-120"/>
              </a:rPr>
              <a:t>ALLOWED_HASHES = set()</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 — who populates it, and how do they verify a hash is legitimate?</a:t>
            </a:r>
            <a:endParaRPr lang="en-US" sz="2025" dirty="0"/>
          </a:p>
        </p:txBody>
      </p:sp>
      <p:sp>
        <p:nvSpPr>
          <p:cNvPr id="8" name="Text 6"/>
          <p:cNvSpPr/>
          <p:nvPr/>
        </p:nvSpPr>
        <p:spPr>
          <a:xfrm>
            <a:off x="990600" y="5776392"/>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9" name="Text 7"/>
          <p:cNvSpPr/>
          <p:nvPr/>
        </p:nvSpPr>
        <p:spPr>
          <a:xfrm>
            <a:off x="1307306" y="5776392"/>
            <a:ext cx="7059789" cy="402878"/>
          </a:xfrm>
          <a:prstGeom prst="rect">
            <a:avLst/>
          </a:prstGeom>
          <a:noFill/>
          <a:ln/>
        </p:spPr>
        <p:txBody>
          <a:bodyPr wrap="square" lIns="25400" tIns="25400" rIns="25400" bIns="25400" rtlCol="0" anchor="t">
            <a:normAutofit/>
          </a:bodyPr>
          <a:lstStyle/>
          <a:p>
            <a:pPr algn="l" indent="0" marL="0">
              <a:lnSpc>
                <a:spcPct val="121935"/>
              </a:lnSpc>
              <a:buNone/>
            </a:pPr>
            <a:r>
              <a:rPr lang="en-US" sz="2025" b="1" dirty="0">
                <a:solidFill>
                  <a:srgbClr val="FD7EF5"/>
                </a:solidFill>
                <a:latin typeface="Arial" pitchFamily="34" charset="0"/>
                <a:ea typeface="Arial" pitchFamily="34" charset="-122"/>
                <a:cs typeface="Arial" pitchFamily="34" charset="-120"/>
              </a:rPr>
              <a:t>TOCTOU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 hash checked, then the file re-read from disk</a:t>
            </a:r>
            <a:endParaRPr lang="en-US" sz="2025" dirty="0"/>
          </a:p>
        </p:txBody>
      </p:sp>
      <p:sp>
        <p:nvSpPr>
          <p:cNvPr id="10" name="Text 8"/>
          <p:cNvSpPr/>
          <p:nvPr/>
        </p:nvSpPr>
        <p:spPr>
          <a:xfrm>
            <a:off x="990600" y="6388819"/>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1" name="Text 9"/>
          <p:cNvSpPr/>
          <p:nvPr/>
        </p:nvSpPr>
        <p:spPr>
          <a:xfrm>
            <a:off x="1307306" y="6388819"/>
            <a:ext cx="14756986" cy="407640"/>
          </a:xfrm>
          <a:prstGeom prst="rect">
            <a:avLst/>
          </a:prstGeom>
          <a:noFill/>
          <a:ln/>
        </p:spPr>
        <p:txBody>
          <a:bodyPr wrap="square" lIns="25400" tIns="25400" rIns="25400" bIns="25400" rtlCol="0" anchor="t">
            <a:normAutofit/>
          </a:bodyPr>
          <a:lstStyle/>
          <a:p>
            <a:pPr algn="l" indent="0" marL="0">
              <a:lnSpc>
                <a:spcPct val="121935"/>
              </a:lnSpc>
              <a:buNone/>
            </a:pPr>
            <a:r>
              <a:rPr lang="en-US" sz="2025" b="1" dirty="0">
                <a:solidFill>
                  <a:srgbClr val="FD7EF5"/>
                </a:solidFill>
                <a:latin typeface="Arial" pitchFamily="34" charset="0"/>
                <a:ea typeface="Arial" pitchFamily="34" charset="-122"/>
                <a:cs typeface="Arial" pitchFamily="34" charset="-120"/>
              </a:rPr>
              <a:t>attack a different link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 the tokenizer, config, </a:t>
            </a:r>
            <a:pPr algn="l" indent="0" marL="0">
              <a:lnSpc>
                <a:spcPct val="121935"/>
              </a:lnSpc>
              <a:buNone/>
            </a:pPr>
            <a:r>
              <a:rPr lang="en-US" sz="2025" dirty="0">
                <a:solidFill>
                  <a:srgbClr val="FFFFFF"/>
                </a:solidFill>
                <a:latin typeface="Courier New" pitchFamily="34" charset="0"/>
                <a:ea typeface="Courier New" pitchFamily="34" charset="-122"/>
                <a:cs typeface="Courier New" pitchFamily="34" charset="-120"/>
              </a:rPr>
              <a:t>trust_remote_code=True</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 or a pip dependency instead of the weights</a:t>
            </a:r>
            <a:endParaRPr lang="en-US" sz="202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907604"/>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SCORECARD</a:t>
            </a:r>
            <a:endParaRPr lang="en-US" sz="1500" dirty="0"/>
          </a:p>
        </p:txBody>
      </p:sp>
      <p:sp>
        <p:nvSpPr>
          <p:cNvPr id="3" name="Text 1"/>
          <p:cNvSpPr/>
          <p:nvPr/>
        </p:nvSpPr>
        <p:spPr>
          <a:xfrm>
            <a:off x="990600" y="2312417"/>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WHAT ACTUALLY HOLDS</a:t>
            </a:r>
            <a:endParaRPr lang="en-US" sz="6600" dirty="0"/>
          </a:p>
        </p:txBody>
      </p:sp>
      <p:sp>
        <p:nvSpPr>
          <p:cNvPr id="4" name="Shape 2"/>
          <p:cNvSpPr/>
          <p:nvPr/>
        </p:nvSpPr>
        <p:spPr>
          <a:xfrm>
            <a:off x="990600" y="3447752"/>
            <a:ext cx="16306800" cy="19050"/>
          </a:xfrm>
          <a:prstGeom prst="rect">
            <a:avLst/>
          </a:prstGeom>
          <a:solidFill>
            <a:srgbClr val="FFFFFF">
              <a:alpha val="20000"/>
            </a:srgbClr>
          </a:solidFill>
          <a:ln/>
        </p:spPr>
      </p:sp>
      <p:sp>
        <p:nvSpPr>
          <p:cNvPr id="5" name="Text 3"/>
          <p:cNvSpPr/>
          <p:nvPr/>
        </p:nvSpPr>
        <p:spPr>
          <a:xfrm>
            <a:off x="1200150" y="3638252"/>
            <a:ext cx="797890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DEFENCE</a:t>
            </a:r>
            <a:endParaRPr lang="en-US" sz="1350" dirty="0"/>
          </a:p>
        </p:txBody>
      </p:sp>
      <p:sp>
        <p:nvSpPr>
          <p:cNvPr id="6" name="Text 4"/>
          <p:cNvSpPr/>
          <p:nvPr/>
        </p:nvSpPr>
        <p:spPr>
          <a:xfrm>
            <a:off x="9353550" y="3638252"/>
            <a:ext cx="797890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36CDFF"/>
                </a:solidFill>
                <a:latin typeface="Courier New" pitchFamily="34" charset="0"/>
                <a:ea typeface="Courier New" pitchFamily="34" charset="-122"/>
                <a:cs typeface="Courier New" pitchFamily="34" charset="-120"/>
              </a:rPr>
              <a:t>STRENGTH</a:t>
            </a:r>
            <a:endParaRPr lang="en-US" sz="1350" dirty="0"/>
          </a:p>
        </p:txBody>
      </p:sp>
      <p:sp>
        <p:nvSpPr>
          <p:cNvPr id="7" name="Shape 5"/>
          <p:cNvSpPr/>
          <p:nvPr/>
        </p:nvSpPr>
        <p:spPr>
          <a:xfrm>
            <a:off x="990600" y="4038302"/>
            <a:ext cx="8153400" cy="750094"/>
          </a:xfrm>
          <a:prstGeom prst="rect">
            <a:avLst/>
          </a:prstGeom>
          <a:solidFill>
            <a:srgbClr val="36CDFF">
              <a:alpha val="7000"/>
            </a:srgbClr>
          </a:solidFill>
          <a:ln/>
        </p:spPr>
      </p:sp>
      <p:sp>
        <p:nvSpPr>
          <p:cNvPr id="8" name="Shape 6"/>
          <p:cNvSpPr/>
          <p:nvPr/>
        </p:nvSpPr>
        <p:spPr>
          <a:xfrm>
            <a:off x="990600" y="4038302"/>
            <a:ext cx="8153400" cy="9525"/>
          </a:xfrm>
          <a:prstGeom prst="rect">
            <a:avLst/>
          </a:prstGeom>
          <a:solidFill>
            <a:srgbClr val="FFFFFF">
              <a:alpha val="13000"/>
            </a:srgbClr>
          </a:solidFill>
          <a:ln/>
        </p:spPr>
      </p:sp>
      <p:sp>
        <p:nvSpPr>
          <p:cNvPr id="9" name="Text 7"/>
          <p:cNvSpPr/>
          <p:nvPr/>
        </p:nvSpPr>
        <p:spPr>
          <a:xfrm>
            <a:off x="1200150" y="4257377"/>
            <a:ext cx="7978902"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Prefer safe formats (safetensors)</a:t>
            </a:r>
            <a:endParaRPr lang="en-US" sz="1875" dirty="0"/>
          </a:p>
        </p:txBody>
      </p:sp>
      <p:sp>
        <p:nvSpPr>
          <p:cNvPr id="10" name="Shape 8"/>
          <p:cNvSpPr/>
          <p:nvPr/>
        </p:nvSpPr>
        <p:spPr>
          <a:xfrm>
            <a:off x="9144000" y="4038302"/>
            <a:ext cx="8153400" cy="750094"/>
          </a:xfrm>
          <a:prstGeom prst="rect">
            <a:avLst/>
          </a:prstGeom>
          <a:solidFill>
            <a:srgbClr val="36CDFF">
              <a:alpha val="7000"/>
            </a:srgbClr>
          </a:solidFill>
          <a:ln/>
        </p:spPr>
      </p:sp>
      <p:sp>
        <p:nvSpPr>
          <p:cNvPr id="11" name="Shape 9"/>
          <p:cNvSpPr/>
          <p:nvPr/>
        </p:nvSpPr>
        <p:spPr>
          <a:xfrm>
            <a:off x="9144000" y="4038302"/>
            <a:ext cx="8153400" cy="9525"/>
          </a:xfrm>
          <a:prstGeom prst="rect">
            <a:avLst/>
          </a:prstGeom>
          <a:solidFill>
            <a:srgbClr val="FFFFFF">
              <a:alpha val="13000"/>
            </a:srgbClr>
          </a:solidFill>
          <a:ln/>
        </p:spPr>
      </p:sp>
      <p:sp>
        <p:nvSpPr>
          <p:cNvPr id="12" name="Text 10"/>
          <p:cNvSpPr/>
          <p:nvPr/>
        </p:nvSpPr>
        <p:spPr>
          <a:xfrm>
            <a:off x="9353550" y="4257377"/>
            <a:ext cx="7978902"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36CDFF"/>
                </a:solidFill>
                <a:latin typeface="Arial" pitchFamily="34" charset="0"/>
                <a:ea typeface="Arial" pitchFamily="34" charset="-122"/>
                <a:cs typeface="Arial" pitchFamily="34" charset="-120"/>
              </a:rPr>
              <a:t>strong </a:t>
            </a:r>
            <a:pPr algn="l" indent="0" marL="0">
              <a:lnSpc>
                <a:spcPct val="116379"/>
              </a:lnSpc>
              <a:buNone/>
            </a:pPr>
            <a:r>
              <a:rPr lang="en-US" sz="1875" dirty="0">
                <a:solidFill>
                  <a:srgbClr val="C8C8C8"/>
                </a:solidFill>
                <a:highlight>
                  <a:srgbClr val="F1FBFF"/>
                </a:highlight>
                <a:latin typeface="Arial" pitchFamily="34" charset="0"/>
                <a:ea typeface="Arial" pitchFamily="34" charset="-122"/>
                <a:cs typeface="Arial" pitchFamily="34" charset="-120"/>
              </a:rPr>
              <a:t>— removes the capability</a:t>
            </a:r>
            <a:endParaRPr lang="en-US" sz="1875" dirty="0"/>
          </a:p>
        </p:txBody>
      </p:sp>
      <p:sp>
        <p:nvSpPr>
          <p:cNvPr id="13" name="Shape 11"/>
          <p:cNvSpPr/>
          <p:nvPr/>
        </p:nvSpPr>
        <p:spPr>
          <a:xfrm>
            <a:off x="990600" y="4788396"/>
            <a:ext cx="8153400" cy="750094"/>
          </a:xfrm>
          <a:prstGeom prst="rect">
            <a:avLst/>
          </a:prstGeom>
          <a:solidFill>
            <a:srgbClr val="36CDFF">
              <a:alpha val="7000"/>
            </a:srgbClr>
          </a:solidFill>
          <a:ln/>
        </p:spPr>
      </p:sp>
      <p:sp>
        <p:nvSpPr>
          <p:cNvPr id="14" name="Shape 12"/>
          <p:cNvSpPr/>
          <p:nvPr/>
        </p:nvSpPr>
        <p:spPr>
          <a:xfrm>
            <a:off x="990600" y="4788396"/>
            <a:ext cx="8153400" cy="9525"/>
          </a:xfrm>
          <a:prstGeom prst="rect">
            <a:avLst/>
          </a:prstGeom>
          <a:solidFill>
            <a:srgbClr val="FFFFFF">
              <a:alpha val="13000"/>
            </a:srgbClr>
          </a:solidFill>
          <a:ln/>
        </p:spPr>
      </p:sp>
      <p:sp>
        <p:nvSpPr>
          <p:cNvPr id="15" name="Text 13"/>
          <p:cNvSpPr/>
          <p:nvPr/>
        </p:nvSpPr>
        <p:spPr>
          <a:xfrm>
            <a:off x="1200150" y="5007471"/>
            <a:ext cx="7978902"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Hash-pin and verify artifacts</a:t>
            </a:r>
            <a:endParaRPr lang="en-US" sz="1875" dirty="0"/>
          </a:p>
        </p:txBody>
      </p:sp>
      <p:sp>
        <p:nvSpPr>
          <p:cNvPr id="16" name="Shape 14"/>
          <p:cNvSpPr/>
          <p:nvPr/>
        </p:nvSpPr>
        <p:spPr>
          <a:xfrm>
            <a:off x="9144000" y="4788396"/>
            <a:ext cx="8153400" cy="750094"/>
          </a:xfrm>
          <a:prstGeom prst="rect">
            <a:avLst/>
          </a:prstGeom>
          <a:solidFill>
            <a:srgbClr val="36CDFF">
              <a:alpha val="7000"/>
            </a:srgbClr>
          </a:solidFill>
          <a:ln/>
        </p:spPr>
      </p:sp>
      <p:sp>
        <p:nvSpPr>
          <p:cNvPr id="17" name="Shape 15"/>
          <p:cNvSpPr/>
          <p:nvPr/>
        </p:nvSpPr>
        <p:spPr>
          <a:xfrm>
            <a:off x="9144000" y="4788396"/>
            <a:ext cx="8153400" cy="9525"/>
          </a:xfrm>
          <a:prstGeom prst="rect">
            <a:avLst/>
          </a:prstGeom>
          <a:solidFill>
            <a:srgbClr val="FFFFFF">
              <a:alpha val="13000"/>
            </a:srgbClr>
          </a:solidFill>
          <a:ln/>
        </p:spPr>
      </p:sp>
      <p:sp>
        <p:nvSpPr>
          <p:cNvPr id="18" name="Text 16"/>
          <p:cNvSpPr/>
          <p:nvPr/>
        </p:nvSpPr>
        <p:spPr>
          <a:xfrm>
            <a:off x="9353550" y="5007471"/>
            <a:ext cx="7978902"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36CDFF"/>
                </a:solidFill>
                <a:latin typeface="Arial" pitchFamily="34" charset="0"/>
                <a:ea typeface="Arial" pitchFamily="34" charset="-122"/>
                <a:cs typeface="Arial" pitchFamily="34" charset="-120"/>
              </a:rPr>
              <a:t>strong </a:t>
            </a:r>
            <a:pPr algn="l" indent="0" marL="0">
              <a:lnSpc>
                <a:spcPct val="116379"/>
              </a:lnSpc>
              <a:buNone/>
            </a:pPr>
            <a:r>
              <a:rPr lang="en-US" sz="1875" dirty="0">
                <a:solidFill>
                  <a:srgbClr val="C8C8C8"/>
                </a:solidFill>
                <a:highlight>
                  <a:srgbClr val="F1FBFF"/>
                </a:highlight>
                <a:latin typeface="Arial" pitchFamily="34" charset="0"/>
                <a:ea typeface="Arial" pitchFamily="34" charset="-122"/>
                <a:cs typeface="Arial" pitchFamily="34" charset="-120"/>
              </a:rPr>
              <a:t>— if you trust the first hash</a:t>
            </a:r>
            <a:endParaRPr lang="en-US" sz="1875" dirty="0"/>
          </a:p>
        </p:txBody>
      </p:sp>
      <p:sp>
        <p:nvSpPr>
          <p:cNvPr id="19" name="Shape 17"/>
          <p:cNvSpPr/>
          <p:nvPr/>
        </p:nvSpPr>
        <p:spPr>
          <a:xfrm>
            <a:off x="990600" y="5538490"/>
            <a:ext cx="8153400" cy="9525"/>
          </a:xfrm>
          <a:prstGeom prst="rect">
            <a:avLst/>
          </a:prstGeom>
          <a:solidFill>
            <a:srgbClr val="FFFFFF">
              <a:alpha val="13000"/>
            </a:srgbClr>
          </a:solidFill>
          <a:ln/>
        </p:spPr>
      </p:sp>
      <p:sp>
        <p:nvSpPr>
          <p:cNvPr id="20" name="Text 18"/>
          <p:cNvSpPr/>
          <p:nvPr/>
        </p:nvSpPr>
        <p:spPr>
          <a:xfrm>
            <a:off x="1200150" y="5757565"/>
            <a:ext cx="7978902"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Static scanning before load (picklescan, modelscan)</a:t>
            </a:r>
            <a:endParaRPr lang="en-US" sz="1875" dirty="0"/>
          </a:p>
        </p:txBody>
      </p:sp>
      <p:sp>
        <p:nvSpPr>
          <p:cNvPr id="21" name="Shape 19"/>
          <p:cNvSpPr/>
          <p:nvPr/>
        </p:nvSpPr>
        <p:spPr>
          <a:xfrm>
            <a:off x="9144000" y="5538490"/>
            <a:ext cx="8153400" cy="9525"/>
          </a:xfrm>
          <a:prstGeom prst="rect">
            <a:avLst/>
          </a:prstGeom>
          <a:solidFill>
            <a:srgbClr val="FFFFFF">
              <a:alpha val="13000"/>
            </a:srgbClr>
          </a:solidFill>
          <a:ln/>
        </p:spPr>
      </p:sp>
      <p:sp>
        <p:nvSpPr>
          <p:cNvPr id="22" name="Text 20"/>
          <p:cNvSpPr/>
          <p:nvPr/>
        </p:nvSpPr>
        <p:spPr>
          <a:xfrm>
            <a:off x="9353550" y="5757565"/>
            <a:ext cx="7978902"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moderate — nullifAI evaded exactly this</a:t>
            </a:r>
            <a:endParaRPr lang="en-US" sz="1875" dirty="0"/>
          </a:p>
        </p:txBody>
      </p:sp>
      <p:sp>
        <p:nvSpPr>
          <p:cNvPr id="23" name="Shape 21"/>
          <p:cNvSpPr/>
          <p:nvPr/>
        </p:nvSpPr>
        <p:spPr>
          <a:xfrm>
            <a:off x="990600" y="6288584"/>
            <a:ext cx="8153400" cy="750094"/>
          </a:xfrm>
          <a:prstGeom prst="rect">
            <a:avLst/>
          </a:prstGeom>
          <a:solidFill>
            <a:srgbClr val="36CDFF">
              <a:alpha val="7000"/>
            </a:srgbClr>
          </a:solidFill>
          <a:ln/>
        </p:spPr>
      </p:sp>
      <p:sp>
        <p:nvSpPr>
          <p:cNvPr id="24" name="Shape 22"/>
          <p:cNvSpPr/>
          <p:nvPr/>
        </p:nvSpPr>
        <p:spPr>
          <a:xfrm>
            <a:off x="990600" y="6288584"/>
            <a:ext cx="8153400" cy="9525"/>
          </a:xfrm>
          <a:prstGeom prst="rect">
            <a:avLst/>
          </a:prstGeom>
          <a:solidFill>
            <a:srgbClr val="FFFFFF">
              <a:alpha val="13000"/>
            </a:srgbClr>
          </a:solidFill>
          <a:ln/>
        </p:spPr>
      </p:sp>
      <p:sp>
        <p:nvSpPr>
          <p:cNvPr id="25" name="Text 23"/>
          <p:cNvSpPr/>
          <p:nvPr/>
        </p:nvSpPr>
        <p:spPr>
          <a:xfrm>
            <a:off x="1200150" y="6507659"/>
            <a:ext cx="7978902"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Lockfile CVE audit in CI</a:t>
            </a:r>
            <a:endParaRPr lang="en-US" sz="1875" dirty="0"/>
          </a:p>
        </p:txBody>
      </p:sp>
      <p:sp>
        <p:nvSpPr>
          <p:cNvPr id="26" name="Shape 24"/>
          <p:cNvSpPr/>
          <p:nvPr/>
        </p:nvSpPr>
        <p:spPr>
          <a:xfrm>
            <a:off x="9144000" y="6288584"/>
            <a:ext cx="8153400" cy="750094"/>
          </a:xfrm>
          <a:prstGeom prst="rect">
            <a:avLst/>
          </a:prstGeom>
          <a:solidFill>
            <a:srgbClr val="36CDFF">
              <a:alpha val="7000"/>
            </a:srgbClr>
          </a:solidFill>
          <a:ln/>
        </p:spPr>
      </p:sp>
      <p:sp>
        <p:nvSpPr>
          <p:cNvPr id="27" name="Shape 25"/>
          <p:cNvSpPr/>
          <p:nvPr/>
        </p:nvSpPr>
        <p:spPr>
          <a:xfrm>
            <a:off x="9144000" y="6288584"/>
            <a:ext cx="8153400" cy="9525"/>
          </a:xfrm>
          <a:prstGeom prst="rect">
            <a:avLst/>
          </a:prstGeom>
          <a:solidFill>
            <a:srgbClr val="FFFFFF">
              <a:alpha val="13000"/>
            </a:srgbClr>
          </a:solidFill>
          <a:ln/>
        </p:spPr>
      </p:sp>
      <p:sp>
        <p:nvSpPr>
          <p:cNvPr id="28" name="Text 26"/>
          <p:cNvSpPr/>
          <p:nvPr/>
        </p:nvSpPr>
        <p:spPr>
          <a:xfrm>
            <a:off x="9353550" y="6507659"/>
            <a:ext cx="7978902"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36CDFF"/>
                </a:solidFill>
                <a:latin typeface="Arial" pitchFamily="34" charset="0"/>
                <a:ea typeface="Arial" pitchFamily="34" charset="-122"/>
                <a:cs typeface="Arial" pitchFamily="34" charset="-120"/>
              </a:rPr>
              <a:t>strong </a:t>
            </a:r>
            <a:pPr algn="l" indent="0" marL="0">
              <a:lnSpc>
                <a:spcPct val="116379"/>
              </a:lnSpc>
              <a:buNone/>
            </a:pPr>
            <a:r>
              <a:rPr lang="en-US" sz="1875" dirty="0">
                <a:solidFill>
                  <a:srgbClr val="C8C8C8"/>
                </a:solidFill>
                <a:highlight>
                  <a:srgbClr val="F1FBFF"/>
                </a:highlight>
                <a:latin typeface="Arial" pitchFamily="34" charset="0"/>
                <a:ea typeface="Arial" pitchFamily="34" charset="-122"/>
                <a:cs typeface="Arial" pitchFamily="34" charset="-120"/>
              </a:rPr>
              <a:t>for the dependency half</a:t>
            </a:r>
            <a:endParaRPr lang="en-US" sz="1875" dirty="0"/>
          </a:p>
        </p:txBody>
      </p:sp>
      <p:sp>
        <p:nvSpPr>
          <p:cNvPr id="29" name="Shape 27"/>
          <p:cNvSpPr/>
          <p:nvPr/>
        </p:nvSpPr>
        <p:spPr>
          <a:xfrm>
            <a:off x="990600" y="7038677"/>
            <a:ext cx="8153400" cy="9525"/>
          </a:xfrm>
          <a:prstGeom prst="rect">
            <a:avLst/>
          </a:prstGeom>
          <a:solidFill>
            <a:srgbClr val="FFFFFF">
              <a:alpha val="13000"/>
            </a:srgbClr>
          </a:solidFill>
          <a:ln/>
        </p:spPr>
      </p:sp>
      <p:sp>
        <p:nvSpPr>
          <p:cNvPr id="30" name="Text 28"/>
          <p:cNvSpPr/>
          <p:nvPr/>
        </p:nvSpPr>
        <p:spPr>
          <a:xfrm>
            <a:off x="1200150" y="7257752"/>
            <a:ext cx="7978902"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“We only download from reputable hubs”</a:t>
            </a:r>
            <a:endParaRPr lang="en-US" sz="1875" dirty="0"/>
          </a:p>
        </p:txBody>
      </p:sp>
      <p:sp>
        <p:nvSpPr>
          <p:cNvPr id="31" name="Shape 29"/>
          <p:cNvSpPr/>
          <p:nvPr/>
        </p:nvSpPr>
        <p:spPr>
          <a:xfrm>
            <a:off x="9144000" y="7038677"/>
            <a:ext cx="8153400" cy="9525"/>
          </a:xfrm>
          <a:prstGeom prst="rect">
            <a:avLst/>
          </a:prstGeom>
          <a:solidFill>
            <a:srgbClr val="FFFFFF">
              <a:alpha val="13000"/>
            </a:srgbClr>
          </a:solidFill>
          <a:ln/>
        </p:spPr>
      </p:sp>
      <p:sp>
        <p:nvSpPr>
          <p:cNvPr id="32" name="Text 30"/>
          <p:cNvSpPr/>
          <p:nvPr/>
        </p:nvSpPr>
        <p:spPr>
          <a:xfrm>
            <a:off x="9353550" y="7257752"/>
            <a:ext cx="7978902"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FD7EF5"/>
                </a:solidFill>
                <a:latin typeface="Arial" pitchFamily="34" charset="0"/>
                <a:ea typeface="Arial" pitchFamily="34" charset="-122"/>
                <a:cs typeface="Arial" pitchFamily="34" charset="-120"/>
              </a:rPr>
              <a:t>none </a:t>
            </a:r>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 the hubs are the delivery channel</a:t>
            </a:r>
            <a:endParaRPr lang="en-US" sz="1875" dirty="0"/>
          </a:p>
        </p:txBody>
      </p:sp>
      <p:pic>
        <p:nvPicPr>
          <p:cNvPr id="33"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34" name="Text 31"/>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800350"/>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THE LESSON TO NAME</a:t>
            </a:r>
            <a:endParaRPr lang="en-US" sz="1650" dirty="0"/>
          </a:p>
        </p:txBody>
      </p:sp>
      <p:sp>
        <p:nvSpPr>
          <p:cNvPr id="3" name="Text 1"/>
          <p:cNvSpPr/>
          <p:nvPr/>
        </p:nvSpPr>
        <p:spPr>
          <a:xfrm>
            <a:off x="990600" y="3419475"/>
            <a:ext cx="16796004" cy="2266950"/>
          </a:xfrm>
          <a:prstGeom prst="rect">
            <a:avLst/>
          </a:prstGeom>
          <a:noFill/>
          <a:ln/>
        </p:spPr>
        <p:txBody>
          <a:bodyPr wrap="square" lIns="25400" tIns="25400" rIns="25400" bIns="25400" rtlCol="0" anchor="t">
            <a:normAutofit/>
          </a:bodyPr>
          <a:lstStyle/>
          <a:p>
            <a:pPr algn="l" indent="0" marL="0">
              <a:lnSpc>
                <a:spcPct val="78261"/>
              </a:lnSpc>
              <a:buNone/>
            </a:pPr>
            <a:r>
              <a:rPr lang="en-US" sz="9750" dirty="0">
                <a:solidFill>
                  <a:srgbClr val="FFFFFF"/>
                </a:solidFill>
                <a:latin typeface="Arial" pitchFamily="34" charset="0"/>
                <a:ea typeface="Arial" pitchFamily="34" charset="-122"/>
                <a:cs typeface="Arial" pitchFamily="34" charset="-120"/>
              </a:rPr>
              <a:t>YOUR MODEL IS A </a:t>
            </a:r>
            <a:pPr algn="l" indent="0" marL="0">
              <a:lnSpc>
                <a:spcPct val="78261"/>
              </a:lnSpc>
              <a:buNone/>
            </a:pPr>
            <a:r>
              <a:rPr lang="en-US" sz="9750" dirty="0">
                <a:solidFill>
                  <a:srgbClr val="FD7EF5"/>
                </a:solidFill>
                <a:latin typeface="Arial" pitchFamily="34" charset="0"/>
                <a:ea typeface="Arial" pitchFamily="34" charset="-122"/>
                <a:cs typeface="Arial" pitchFamily="34" charset="-120"/>
              </a:rPr>
              <a:t>DEPENDENCY.</a:t>
            </a:r>
            <a:endParaRPr lang="en-US" sz="9750" dirty="0"/>
          </a:p>
        </p:txBody>
      </p:sp>
      <p:sp>
        <p:nvSpPr>
          <p:cNvPr id="4" name="Text 2"/>
          <p:cNvSpPr/>
          <p:nvPr/>
        </p:nvSpPr>
        <p:spPr>
          <a:xfrm>
            <a:off x="990600" y="6067425"/>
            <a:ext cx="16187738" cy="866775"/>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Treat weights, tokenizers and configs exactly like third-party code: pin them, verify them, scan them, and prefer formats that cannot execute.</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32797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TAKE THIS BACK TO WORK</a:t>
            </a:r>
            <a:endParaRPr lang="en-US" sz="1500" dirty="0"/>
          </a:p>
        </p:txBody>
      </p:sp>
      <p:sp>
        <p:nvSpPr>
          <p:cNvPr id="3" name="Text 1"/>
          <p:cNvSpPr/>
          <p:nvPr/>
        </p:nvSpPr>
        <p:spPr>
          <a:xfrm>
            <a:off x="990600" y="2732782"/>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ON MONDAY</a:t>
            </a:r>
            <a:endParaRPr lang="en-US" sz="7200" dirty="0"/>
          </a:p>
        </p:txBody>
      </p:sp>
      <p:sp>
        <p:nvSpPr>
          <p:cNvPr id="4" name="Text 2"/>
          <p:cNvSpPr/>
          <p:nvPr/>
        </p:nvSpPr>
        <p:spPr>
          <a:xfrm>
            <a:off x="990600" y="3936727"/>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5" name="Text 3"/>
          <p:cNvSpPr/>
          <p:nvPr/>
        </p:nvSpPr>
        <p:spPr>
          <a:xfrm>
            <a:off x="1307306" y="3936727"/>
            <a:ext cx="9034224" cy="402878"/>
          </a:xfrm>
          <a:prstGeom prst="rect">
            <a:avLst/>
          </a:prstGeom>
          <a:noFill/>
          <a:ln/>
        </p:spPr>
        <p:txBody>
          <a:bodyPr wrap="square" lIns="25400" tIns="25400" rIns="25400" bIns="25400" rtlCol="0" anchor="t">
            <a:normAutofit/>
          </a:bodyPr>
          <a:lstStyle/>
          <a:p>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Inventory your model artifacts. </a:t>
            </a:r>
            <a:pPr algn="l" indent="0" marL="0">
              <a:lnSpc>
                <a:spcPct val="121935"/>
              </a:lnSpc>
              <a:buNone/>
            </a:pPr>
            <a:r>
              <a:rPr lang="en-US" sz="2025" b="1" dirty="0">
                <a:solidFill>
                  <a:srgbClr val="FFFFFF"/>
                </a:solidFill>
                <a:latin typeface="Arial" pitchFamily="34" charset="0"/>
                <a:ea typeface="Arial" pitchFamily="34" charset="-122"/>
                <a:cs typeface="Arial" pitchFamily="34" charset="-120"/>
              </a:rPr>
              <a:t>Which are pickle-based?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(.pt / .pth count.)</a:t>
            </a:r>
            <a:endParaRPr lang="en-US" sz="2025" dirty="0"/>
          </a:p>
        </p:txBody>
      </p:sp>
      <p:sp>
        <p:nvSpPr>
          <p:cNvPr id="6" name="Text 4"/>
          <p:cNvSpPr/>
          <p:nvPr/>
        </p:nvSpPr>
        <p:spPr>
          <a:xfrm>
            <a:off x="990600" y="4549155"/>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7" name="Text 5"/>
          <p:cNvSpPr/>
          <p:nvPr/>
        </p:nvSpPr>
        <p:spPr>
          <a:xfrm>
            <a:off x="1307306" y="4549155"/>
            <a:ext cx="7185027" cy="402878"/>
          </a:xfrm>
          <a:prstGeom prst="rect">
            <a:avLst/>
          </a:prstGeom>
          <a:noFill/>
          <a:ln/>
        </p:spPr>
        <p:txBody>
          <a:bodyPr wrap="square" lIns="25400" tIns="25400" rIns="25400" bIns="25400" rtlCol="0" anchor="t">
            <a:normAutofit/>
          </a:bodyPr>
          <a:lstStyle/>
          <a:p>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Migrate to </a:t>
            </a:r>
            <a:pPr algn="l" indent="0" marL="0">
              <a:lnSpc>
                <a:spcPct val="121935"/>
              </a:lnSpc>
              <a:buNone/>
            </a:pPr>
            <a:r>
              <a:rPr lang="en-US" sz="2025" b="1" dirty="0">
                <a:solidFill>
                  <a:srgbClr val="FFFFFF"/>
                </a:solidFill>
                <a:latin typeface="Arial" pitchFamily="34" charset="0"/>
                <a:ea typeface="Arial" pitchFamily="34" charset="-122"/>
                <a:cs typeface="Arial" pitchFamily="34" charset="-120"/>
              </a:rPr>
              <a:t>safetensors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wherever the framework supports it</a:t>
            </a:r>
            <a:endParaRPr lang="en-US" sz="2025" dirty="0"/>
          </a:p>
        </p:txBody>
      </p:sp>
      <p:sp>
        <p:nvSpPr>
          <p:cNvPr id="8" name="Text 6"/>
          <p:cNvSpPr/>
          <p:nvPr/>
        </p:nvSpPr>
        <p:spPr>
          <a:xfrm>
            <a:off x="990600" y="5161583"/>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9" name="Text 7"/>
          <p:cNvSpPr/>
          <p:nvPr/>
        </p:nvSpPr>
        <p:spPr>
          <a:xfrm>
            <a:off x="1307306" y="5161583"/>
            <a:ext cx="10137882" cy="407640"/>
          </a:xfrm>
          <a:prstGeom prst="rect">
            <a:avLst/>
          </a:prstGeom>
          <a:noFill/>
          <a:ln/>
        </p:spPr>
        <p:txBody>
          <a:bodyPr wrap="square" lIns="25400" tIns="25400" rIns="25400" bIns="25400" rtlCol="0" anchor="t">
            <a:normAutofit/>
          </a:bodyPr>
          <a:lstStyle/>
          <a:p>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Hash-pin weights; verify on load — </a:t>
            </a:r>
            <a:pPr algn="l" indent="0" marL="0">
              <a:lnSpc>
                <a:spcPct val="121935"/>
              </a:lnSpc>
              <a:buNone/>
            </a:pPr>
            <a:r>
              <a:rPr lang="en-US" sz="2025" dirty="0">
                <a:solidFill>
                  <a:srgbClr val="36CDFF"/>
                </a:solidFill>
                <a:latin typeface="Courier New" pitchFamily="34" charset="0"/>
                <a:ea typeface="Courier New" pitchFamily="34" charset="-122"/>
                <a:cs typeface="Courier New" pitchFamily="34" charset="-120"/>
              </a:rPr>
              <a:t>torch.load(..., weights_only=True)</a:t>
            </a:r>
            <a:endParaRPr lang="en-US" sz="2025" dirty="0"/>
          </a:p>
        </p:txBody>
      </p:sp>
      <p:sp>
        <p:nvSpPr>
          <p:cNvPr id="10" name="Text 8"/>
          <p:cNvSpPr/>
          <p:nvPr/>
        </p:nvSpPr>
        <p:spPr>
          <a:xfrm>
            <a:off x="990600" y="5778773"/>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1" name="Text 9"/>
          <p:cNvSpPr/>
          <p:nvPr/>
        </p:nvSpPr>
        <p:spPr>
          <a:xfrm>
            <a:off x="1307306" y="5778773"/>
            <a:ext cx="9228222" cy="398115"/>
          </a:xfrm>
          <a:prstGeom prst="rect">
            <a:avLst/>
          </a:prstGeom>
          <a:noFill/>
          <a:ln/>
        </p:spPr>
        <p:txBody>
          <a:bodyPr wrap="square" lIns="25400" tIns="25400" rIns="25400" bIns="25400" rtlCol="0" anchor="t">
            <a:normAutofit/>
          </a:bodyPr>
          <a:lstStyle/>
          <a:p>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Scan artifacts on ingest (picklescan / modelscan) — knowing it is evadable</a:t>
            </a:r>
            <a:endParaRPr lang="en-US" sz="2025" dirty="0"/>
          </a:p>
        </p:txBody>
      </p:sp>
      <p:sp>
        <p:nvSpPr>
          <p:cNvPr id="12" name="Text 10"/>
          <p:cNvSpPr/>
          <p:nvPr/>
        </p:nvSpPr>
        <p:spPr>
          <a:xfrm>
            <a:off x="990600" y="6386438"/>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3" name="Text 11"/>
          <p:cNvSpPr/>
          <p:nvPr/>
        </p:nvSpPr>
        <p:spPr>
          <a:xfrm>
            <a:off x="1307306" y="6386438"/>
            <a:ext cx="7252313" cy="407640"/>
          </a:xfrm>
          <a:prstGeom prst="rect">
            <a:avLst/>
          </a:prstGeom>
          <a:noFill/>
          <a:ln/>
        </p:spPr>
        <p:txBody>
          <a:bodyPr wrap="square" lIns="25400" tIns="25400" rIns="25400" bIns="25400" rtlCol="0" anchor="t">
            <a:normAutofit/>
          </a:bodyPr>
          <a:lstStyle/>
          <a:p>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Grep for </a:t>
            </a:r>
            <a:pPr algn="l" indent="0" marL="0">
              <a:lnSpc>
                <a:spcPct val="121935"/>
              </a:lnSpc>
              <a:buNone/>
            </a:pPr>
            <a:r>
              <a:rPr lang="en-US" sz="2025" dirty="0">
                <a:solidFill>
                  <a:srgbClr val="FD7EF5"/>
                </a:solidFill>
                <a:latin typeface="Courier New" pitchFamily="34" charset="0"/>
                <a:ea typeface="Courier New" pitchFamily="34" charset="-122"/>
                <a:cs typeface="Courier New" pitchFamily="34" charset="-120"/>
              </a:rPr>
              <a:t>trust_remote_code=True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and justify every hit</a:t>
            </a:r>
            <a:endParaRPr lang="en-US" sz="2025" dirty="0"/>
          </a:p>
        </p:txBody>
      </p:sp>
      <p:sp>
        <p:nvSpPr>
          <p:cNvPr id="14" name="Text 12"/>
          <p:cNvSpPr/>
          <p:nvPr/>
        </p:nvSpPr>
        <p:spPr>
          <a:xfrm>
            <a:off x="990600" y="7003628"/>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5" name="Text 13"/>
          <p:cNvSpPr/>
          <p:nvPr/>
        </p:nvSpPr>
        <p:spPr>
          <a:xfrm>
            <a:off x="1307306" y="7003628"/>
            <a:ext cx="5899405" cy="402878"/>
          </a:xfrm>
          <a:prstGeom prst="rect">
            <a:avLst/>
          </a:prstGeom>
          <a:noFill/>
          <a:ln/>
        </p:spPr>
        <p:txBody>
          <a:bodyPr wrap="square" lIns="25400" tIns="25400" rIns="25400" bIns="25400" rtlCol="0" anchor="t">
            <a:normAutofit/>
          </a:bodyPr>
          <a:lstStyle/>
          <a:p>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Audit your lockfile against a CVE database </a:t>
            </a:r>
            <a:pPr algn="l" indent="0" marL="0">
              <a:lnSpc>
                <a:spcPct val="121935"/>
              </a:lnSpc>
              <a:buNone/>
            </a:pPr>
            <a:r>
              <a:rPr lang="en-US" sz="2025" b="1" dirty="0">
                <a:solidFill>
                  <a:srgbClr val="FFFFFF"/>
                </a:solidFill>
                <a:latin typeface="Arial" pitchFamily="34" charset="0"/>
                <a:ea typeface="Arial" pitchFamily="34" charset="-122"/>
                <a:cs typeface="Arial" pitchFamily="34" charset="-120"/>
              </a:rPr>
              <a:t>in CI</a:t>
            </a:r>
            <a:endParaRPr lang="en-US" sz="2025" dirty="0"/>
          </a:p>
        </p:txBody>
      </p:sp>
      <p:pic>
        <p:nvPicPr>
          <p:cNvPr id="1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7" name="Text 14"/>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216051"/>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SOURCES</a:t>
            </a:r>
            <a:endParaRPr lang="en-US" sz="1500" dirty="0"/>
          </a:p>
        </p:txBody>
      </p:sp>
      <p:sp>
        <p:nvSpPr>
          <p:cNvPr id="3" name="Text 1"/>
          <p:cNvSpPr/>
          <p:nvPr/>
        </p:nvSpPr>
        <p:spPr>
          <a:xfrm>
            <a:off x="990600" y="2620863"/>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FURTHER READING</a:t>
            </a:r>
            <a:endParaRPr lang="en-US" sz="6900" dirty="0"/>
          </a:p>
        </p:txBody>
      </p:sp>
      <p:sp>
        <p:nvSpPr>
          <p:cNvPr id="4" name="Shape 2"/>
          <p:cNvSpPr/>
          <p:nvPr/>
        </p:nvSpPr>
        <p:spPr>
          <a:xfrm>
            <a:off x="990600" y="5019229"/>
            <a:ext cx="16306800" cy="9525"/>
          </a:xfrm>
          <a:prstGeom prst="rect">
            <a:avLst/>
          </a:prstGeom>
          <a:solidFill>
            <a:srgbClr val="36CDFF">
              <a:alpha val="40000"/>
            </a:srgbClr>
          </a:solidFill>
          <a:ln/>
        </p:spPr>
      </p:sp>
      <p:sp>
        <p:nvSpPr>
          <p:cNvPr id="5" name="Shape 3"/>
          <p:cNvSpPr/>
          <p:nvPr/>
        </p:nvSpPr>
        <p:spPr>
          <a:xfrm>
            <a:off x="990600" y="3790504"/>
            <a:ext cx="16306800" cy="9525"/>
          </a:xfrm>
          <a:prstGeom prst="rect">
            <a:avLst/>
          </a:prstGeom>
          <a:solidFill>
            <a:srgbClr val="36CDFF">
              <a:alpha val="40000"/>
            </a:srgbClr>
          </a:solidFill>
          <a:ln/>
        </p:spPr>
      </p:sp>
      <p:sp>
        <p:nvSpPr>
          <p:cNvPr id="6" name="Shape 4"/>
          <p:cNvSpPr/>
          <p:nvPr/>
        </p:nvSpPr>
        <p:spPr>
          <a:xfrm>
            <a:off x="990600" y="3790504"/>
            <a:ext cx="38100" cy="1238250"/>
          </a:xfrm>
          <a:prstGeom prst="rect">
            <a:avLst/>
          </a:prstGeom>
          <a:solidFill>
            <a:srgbClr val="36CDFF"/>
          </a:solidFill>
          <a:ln/>
        </p:spPr>
      </p:sp>
      <p:sp>
        <p:nvSpPr>
          <p:cNvPr id="7" name="Shape 5"/>
          <p:cNvSpPr/>
          <p:nvPr/>
        </p:nvSpPr>
        <p:spPr>
          <a:xfrm>
            <a:off x="17287875" y="3790504"/>
            <a:ext cx="9525" cy="1238250"/>
          </a:xfrm>
          <a:prstGeom prst="rect">
            <a:avLst/>
          </a:prstGeom>
          <a:solidFill>
            <a:srgbClr val="36CDFF">
              <a:alpha val="40000"/>
            </a:srgbClr>
          </a:solidFill>
          <a:ln/>
        </p:spPr>
      </p:sp>
      <p:sp>
        <p:nvSpPr>
          <p:cNvPr id="8" name="Text 6"/>
          <p:cNvSpPr/>
          <p:nvPr/>
        </p:nvSpPr>
        <p:spPr>
          <a:xfrm>
            <a:off x="1409700" y="4104829"/>
            <a:ext cx="17046893"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969696"/>
                </a:solidFill>
                <a:latin typeface="Courier New" pitchFamily="34" charset="0"/>
                <a:ea typeface="Courier New" pitchFamily="34" charset="-122"/>
                <a:cs typeface="Courier New" pitchFamily="34" charset="-120"/>
              </a:rPr>
              <a:t>SPINE</a:t>
            </a:r>
            <a:endParaRPr lang="en-US" sz="1200" dirty="0"/>
          </a:p>
        </p:txBody>
      </p:sp>
      <p:sp>
        <p:nvSpPr>
          <p:cNvPr id="9" name="Text 7"/>
          <p:cNvSpPr/>
          <p:nvPr/>
        </p:nvSpPr>
        <p:spPr>
          <a:xfrm>
            <a:off x="1409700" y="4385816"/>
            <a:ext cx="17046893" cy="366713"/>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Basecamp → </a:t>
            </a:r>
            <a:pPr algn="l" indent="0" marL="0">
              <a:buNone/>
            </a:pPr>
            <a:r>
              <a:rPr lang="en-US" sz="2250" b="1" i="1" dirty="0">
                <a:solidFill>
                  <a:srgbClr val="FFFFFF"/>
                </a:solidFill>
                <a:latin typeface="Arial" pitchFamily="34" charset="0"/>
                <a:ea typeface="Arial" pitchFamily="34" charset="-122"/>
                <a:cs typeface="Arial" pitchFamily="34" charset="-120"/>
              </a:rPr>
              <a:t>ML supply chain</a:t>
            </a:r>
            <a:endParaRPr lang="en-US" sz="2250" dirty="0"/>
          </a:p>
        </p:txBody>
      </p:sp>
      <p:sp>
        <p:nvSpPr>
          <p:cNvPr id="10" name="Text 8"/>
          <p:cNvSpPr/>
          <p:nvPr/>
        </p:nvSpPr>
        <p:spPr>
          <a:xfrm>
            <a:off x="990600" y="5390704"/>
            <a:ext cx="17937480"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FD7EF5"/>
                </a:solidFill>
                <a:latin typeface="Courier New" pitchFamily="34" charset="0"/>
                <a:ea typeface="Courier New" pitchFamily="34" charset="-122"/>
                <a:cs typeface="Courier New" pitchFamily="34" charset="-120"/>
              </a:rPr>
              <a:t>MUST-READS</a:t>
            </a:r>
            <a:endParaRPr lang="en-US" sz="1200" dirty="0"/>
          </a:p>
        </p:txBody>
      </p:sp>
      <p:sp>
        <p:nvSpPr>
          <p:cNvPr id="11" name="Text 9"/>
          <p:cNvSpPr/>
          <p:nvPr/>
        </p:nvSpPr>
        <p:spPr>
          <a:xfrm>
            <a:off x="990600" y="5747891"/>
            <a:ext cx="17937480" cy="434280"/>
          </a:xfrm>
          <a:prstGeom prst="rect">
            <a:avLst/>
          </a:prstGeom>
          <a:noFill/>
          <a:ln/>
        </p:spPr>
        <p:txBody>
          <a:bodyPr wrap="square" lIns="25400" tIns="25400" rIns="25400" bIns="25400" rtlCol="0" anchor="t">
            <a:normAutofit/>
          </a:bodyPr>
          <a:lstStyle/>
          <a:p>
            <a:pPr algn="l" indent="0" marL="0">
              <a:lnSpc>
                <a:spcPct val="138667"/>
              </a:lnSpc>
              <a:buNone/>
            </a:pPr>
            <a:r>
              <a:rPr lang="en-US" sz="1950" b="1" dirty="0">
                <a:solidFill>
                  <a:srgbClr val="C8C8C8"/>
                </a:solidFill>
                <a:latin typeface="Arial" pitchFamily="34" charset="0"/>
                <a:ea typeface="Arial" pitchFamily="34" charset="-122"/>
                <a:cs typeface="Arial" pitchFamily="34" charset="-120"/>
              </a:rPr>
              <a:t>ReversingLabs </a:t>
            </a:r>
            <a:pPr algn="l" indent="0" marL="0">
              <a:lnSpc>
                <a:spcPct val="138667"/>
              </a:lnSpc>
              <a:buNone/>
            </a:pPr>
            <a:r>
              <a:rPr lang="en-US" sz="1950" dirty="0">
                <a:solidFill>
                  <a:srgbClr val="C8C8C8"/>
                </a:solidFill>
                <a:latin typeface="Arial" pitchFamily="34" charset="0"/>
                <a:ea typeface="Arial" pitchFamily="34" charset="-122"/>
                <a:cs typeface="Arial" pitchFamily="34" charset="-120"/>
              </a:rPr>
              <a:t>— nullifAI: malicious ML models evading PickleScan (Feb 2025) · </a:t>
            </a:r>
            <a:pPr algn="l" indent="0" marL="0">
              <a:lnSpc>
                <a:spcPct val="138667"/>
              </a:lnSpc>
              <a:buNone/>
            </a:pPr>
            <a:r>
              <a:rPr lang="en-US" sz="1950" b="1" dirty="0">
                <a:solidFill>
                  <a:srgbClr val="C8C8C8"/>
                </a:solidFill>
                <a:latin typeface="Arial" pitchFamily="34" charset="0"/>
                <a:ea typeface="Arial" pitchFamily="34" charset="-122"/>
                <a:cs typeface="Arial" pitchFamily="34" charset="-120"/>
              </a:rPr>
              <a:t>JFrog </a:t>
            </a:r>
            <a:pPr algn="l" indent="0" marL="0">
              <a:lnSpc>
                <a:spcPct val="138667"/>
              </a:lnSpc>
              <a:buNone/>
            </a:pPr>
            <a:r>
              <a:rPr lang="en-US" sz="1950" dirty="0">
                <a:solidFill>
                  <a:srgbClr val="C8C8C8"/>
                </a:solidFill>
                <a:latin typeface="Arial" pitchFamily="34" charset="0"/>
                <a:ea typeface="Arial" pitchFamily="34" charset="-122"/>
                <a:cs typeface="Arial" pitchFamily="34" charset="-120"/>
              </a:rPr>
              <a:t>— 100+ code-executing models on Hugging Face</a:t>
            </a:r>
            <a:endParaRPr lang="en-US" sz="1950" dirty="0"/>
          </a:p>
        </p:txBody>
      </p:sp>
      <p:sp>
        <p:nvSpPr>
          <p:cNvPr id="12" name="Text 10"/>
          <p:cNvSpPr/>
          <p:nvPr/>
        </p:nvSpPr>
        <p:spPr>
          <a:xfrm>
            <a:off x="990600" y="6391721"/>
            <a:ext cx="17937480"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969696"/>
                </a:solidFill>
                <a:latin typeface="Courier New" pitchFamily="34" charset="0"/>
                <a:ea typeface="Courier New" pitchFamily="34" charset="-122"/>
                <a:cs typeface="Courier New" pitchFamily="34" charset="-120"/>
              </a:rPr>
              <a:t>RELATED</a:t>
            </a:r>
            <a:endParaRPr lang="en-US" sz="1200" dirty="0"/>
          </a:p>
        </p:txBody>
      </p:sp>
      <p:sp>
        <p:nvSpPr>
          <p:cNvPr id="13" name="Text 11"/>
          <p:cNvSpPr/>
          <p:nvPr/>
        </p:nvSpPr>
        <p:spPr>
          <a:xfrm>
            <a:off x="990600" y="6748909"/>
            <a:ext cx="16796004" cy="769590"/>
          </a:xfrm>
          <a:prstGeom prst="rect">
            <a:avLst/>
          </a:prstGeom>
          <a:noFill/>
          <a:ln/>
        </p:spPr>
        <p:txBody>
          <a:bodyPr wrap="square" lIns="25400" tIns="25400" rIns="25400" bIns="25400" rtlCol="0" anchor="t">
            <a:normAutofit/>
          </a:bodyPr>
          <a:lstStyle/>
          <a:p>
            <a:pPr algn="l" indent="0" marL="0">
              <a:lnSpc>
                <a:spcPct val="139636"/>
              </a:lnSpc>
              <a:buNone/>
            </a:pPr>
            <a:r>
              <a:rPr lang="en-US" sz="1800" dirty="0">
                <a:solidFill>
                  <a:srgbClr val="C8C8C8"/>
                </a:solidFill>
                <a:latin typeface="Arial" pitchFamily="34" charset="0"/>
                <a:ea typeface="Arial" pitchFamily="34" charset="-122"/>
                <a:cs typeface="Arial" pitchFamily="34" charset="-120"/>
              </a:rPr>
              <a:t>safetensors format spec · picklescan · modelscan · CVE-2020-14343 (PyYAML) · OWASP LLM03 Supply Chain · LLM04 Data and Model Poisoning · Python docs, pickle: “never unpickle data from an untrusted source”</a:t>
            </a:r>
            <a:endParaRPr lang="en-US" sz="1800"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797980" y="9498806"/>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M4 · ML SUPPLY CHAIN</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18011"/>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MODULE M4 COMPLETE</a:t>
            </a:r>
            <a:endParaRPr lang="en-US" sz="1650" dirty="0"/>
          </a:p>
        </p:txBody>
      </p:sp>
      <p:sp>
        <p:nvSpPr>
          <p:cNvPr id="3" name="Text 1"/>
          <p:cNvSpPr/>
          <p:nvPr/>
        </p:nvSpPr>
        <p:spPr>
          <a:xfrm>
            <a:off x="990600" y="3579986"/>
            <a:ext cx="17937480" cy="2324100"/>
          </a:xfrm>
          <a:prstGeom prst="rect">
            <a:avLst/>
          </a:prstGeom>
          <a:noFill/>
          <a:ln/>
        </p:spPr>
        <p:txBody>
          <a:bodyPr wrap="square" lIns="25400" tIns="25400" rIns="25400" bIns="25400" rtlCol="0" anchor="t">
            <a:normAutofit/>
          </a:bodyPr>
          <a:lstStyle/>
          <a:p>
            <a:pPr algn="l" indent="0" marL="0">
              <a:lnSpc>
                <a:spcPct val="69565"/>
              </a:lnSpc>
              <a:buNone/>
            </a:pPr>
            <a:r>
              <a:rPr lang="en-US" sz="22500" b="1" dirty="0">
                <a:solidFill>
                  <a:srgbClr val="FFFFFF"/>
                </a:solidFill>
                <a:latin typeface="Arial" pitchFamily="34" charset="0"/>
                <a:ea typeface="Arial" pitchFamily="34" charset="-122"/>
                <a:cs typeface="Arial" pitchFamily="34" charset="-120"/>
              </a:rPr>
              <a:t>M4</a:t>
            </a:r>
            <a:pPr algn="l" indent="0" marL="0">
              <a:lnSpc>
                <a:spcPct val="69565"/>
              </a:lnSpc>
              <a:buNone/>
            </a:pPr>
            <a:r>
              <a:rPr lang="en-US" sz="22500" b="1" dirty="0">
                <a:solidFill>
                  <a:srgbClr val="FD7EF5"/>
                </a:solidFill>
                <a:latin typeface="Arial" pitchFamily="34" charset="0"/>
                <a:ea typeface="Arial" pitchFamily="34" charset="-122"/>
                <a:cs typeface="Arial" pitchFamily="34" charset="-120"/>
              </a:rPr>
              <a:t>.</a:t>
            </a:r>
            <a:endParaRPr lang="en-US" sz="22500" dirty="0"/>
          </a:p>
        </p:txBody>
      </p:sp>
      <p:sp>
        <p:nvSpPr>
          <p:cNvPr id="4" name="Text 2"/>
          <p:cNvSpPr/>
          <p:nvPr/>
        </p:nvSpPr>
        <p:spPr>
          <a:xfrm>
            <a:off x="990600" y="6208886"/>
            <a:ext cx="15716250" cy="507653"/>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C8C8C8"/>
                </a:solidFill>
                <a:latin typeface="Arial" pitchFamily="34" charset="0"/>
                <a:ea typeface="Arial" pitchFamily="34" charset="-122"/>
                <a:cs typeface="Arial" pitchFamily="34" charset="-120"/>
              </a:rPr>
              <a:t>Artifact audited. Day 1 done. Tomorrow the model gets hands.</a:t>
            </a:r>
            <a:endParaRPr lang="en-US" sz="2550" dirty="0"/>
          </a:p>
        </p:txBody>
      </p:sp>
      <p:pic>
        <p:nvPicPr>
          <p:cNvPr id="5" name="Image 0" descr="preencoded.png">    </p:cNvPr>
          <p:cNvPicPr>
            <a:picLocks noChangeAspect="1"/>
          </p:cNvPicPr>
          <p:nvPr/>
        </p:nvPicPr>
        <p:blipFill>
          <a:blip r:embed="rId1"/>
          <a:stretch>
            <a:fillRect/>
          </a:stretch>
        </p:blipFill>
        <p:spPr>
          <a:xfrm>
            <a:off x="990600" y="9315450"/>
            <a:ext cx="1666875" cy="476250"/>
          </a:xfrm>
          <a:prstGeom prst="rect">
            <a:avLst/>
          </a:prstGeom>
        </p:spPr>
      </p:pic>
      <p:sp>
        <p:nvSpPr>
          <p:cNvPr id="6" name="Text 3"/>
          <p:cNvSpPr/>
          <p:nvPr/>
        </p:nvSpPr>
        <p:spPr>
          <a:xfrm>
            <a:off x="14797980" y="9451181"/>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USA 2026 · TRAININGS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2026-07-31T03:50:42Z</dcterms:created>
  <dcterms:modified xsi:type="dcterms:W3CDTF">2026-07-31T03:50:42Z</dcterms:modified>
</cp:coreProperties>
</file>